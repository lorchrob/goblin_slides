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0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408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1" r:id="rId62"/>
    <p:sldId id="366" r:id="rId63"/>
    <p:sldId id="367" r:id="rId64"/>
    <p:sldId id="399" r:id="rId65"/>
    <p:sldId id="352" r:id="rId66"/>
    <p:sldId id="336" r:id="rId67"/>
    <p:sldId id="353" r:id="rId68"/>
    <p:sldId id="337" r:id="rId69"/>
    <p:sldId id="355" r:id="rId70"/>
    <p:sldId id="300" r:id="rId71"/>
    <p:sldId id="317" r:id="rId72"/>
    <p:sldId id="370" r:id="rId73"/>
    <p:sldId id="371" r:id="rId74"/>
    <p:sldId id="372" r:id="rId75"/>
    <p:sldId id="373" r:id="rId76"/>
    <p:sldId id="374" r:id="rId77"/>
    <p:sldId id="375" r:id="rId78"/>
    <p:sldId id="37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6623"/>
  </p:normalViewPr>
  <p:slideViewPr>
    <p:cSldViewPr snapToGrid="0">
      <p:cViewPr>
        <p:scale>
          <a:sx n="113" d="100"/>
          <a:sy n="113" d="100"/>
        </p:scale>
        <p:origin x="14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2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  <a:p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and better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5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1.png"/><Relationship Id="rId5" Type="http://schemas.openxmlformats.org/officeDocument/2006/relationships/image" Target="../media/image301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10" Type="http://schemas.openxmlformats.org/officeDocument/2006/relationships/image" Target="../media/image60.png"/><Relationship Id="rId4" Type="http://schemas.openxmlformats.org/officeDocument/2006/relationships/image" Target="../media/image56.png"/><Relationship Id="rId9" Type="http://schemas.openxmlformats.org/officeDocument/2006/relationships/image" Target="../media/image5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9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0.png"/><Relationship Id="rId4" Type="http://schemas.openxmlformats.org/officeDocument/2006/relationships/image" Target="../media/image6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1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64.png"/><Relationship Id="rId10" Type="http://schemas.openxmlformats.org/officeDocument/2006/relationships/image" Target="../media/image54.png"/><Relationship Id="rId4" Type="http://schemas.openxmlformats.org/officeDocument/2006/relationships/image" Target="../media/image63.png"/><Relationship Id="rId9" Type="http://schemas.openxmlformats.org/officeDocument/2006/relationships/image" Target="../media/image5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6.png"/><Relationship Id="rId5" Type="http://schemas.openxmlformats.org/officeDocument/2006/relationships/image" Target="../media/image71.png"/><Relationship Id="rId10" Type="http://schemas.openxmlformats.org/officeDocument/2006/relationships/image" Target="../media/image750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12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734F1-633E-BD4A-6DCF-602B334F4205}"/>
              </a:ext>
            </a:extLst>
          </p:cNvPr>
          <p:cNvSpPr txBox="1"/>
          <p:nvPr/>
        </p:nvSpPr>
        <p:spPr>
          <a:xfrm>
            <a:off x="951263" y="1627589"/>
            <a:ext cx="102890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Avenir Next" panose="020B0503020202020204" pitchFamily="34" charset="0"/>
              </a:rPr>
              <a:t>Automated testing is vital for software correctness</a:t>
            </a:r>
          </a:p>
          <a:p>
            <a:pPr algn="ctr"/>
            <a:endParaRPr lang="en-US" sz="2400" i="1" dirty="0"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C97307B-29D4-E5A8-2B0A-23790C7A0BB7}"/>
              </a:ext>
            </a:extLst>
          </p:cNvPr>
          <p:cNvSpPr/>
          <p:nvPr/>
        </p:nvSpPr>
        <p:spPr>
          <a:xfrm>
            <a:off x="3424899" y="2155948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Software complexity exceeds manual reasoning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64D0B0-AD97-EEB3-30DA-2245D5CEF426}"/>
              </a:ext>
            </a:extLst>
          </p:cNvPr>
          <p:cNvSpPr/>
          <p:nvPr/>
        </p:nvSpPr>
        <p:spPr>
          <a:xfrm>
            <a:off x="3424898" y="3075057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Manual test cases are usually incomplete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DB1AB4-3FE1-042B-BD63-97FED2AEE30B}"/>
              </a:ext>
            </a:extLst>
          </p:cNvPr>
          <p:cNvSpPr/>
          <p:nvPr/>
        </p:nvSpPr>
        <p:spPr>
          <a:xfrm>
            <a:off x="3424897" y="4012233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 coverage does not imply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81E0B8-C215-A8C5-A4BF-7F246E411540}"/>
              </a:ext>
            </a:extLst>
          </p:cNvPr>
          <p:cNvSpPr/>
          <p:nvPr/>
        </p:nvSpPr>
        <p:spPr>
          <a:xfrm>
            <a:off x="3424897" y="4949409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Lapses in testing often lead to security issues</a:t>
            </a:r>
          </a:p>
        </p:txBody>
      </p:sp>
      <p:pic>
        <p:nvPicPr>
          <p:cNvPr id="2050" name="Picture 2" descr="Heartbleed - Wikipedia">
            <a:extLst>
              <a:ext uri="{FF2B5EF4-FFF2-40B4-BE49-F238E27FC236}">
                <a16:creationId xmlns:a16="http://schemas.microsoft.com/office/drawing/2014/main" id="{1276561D-6FAF-DEED-42DF-7C6192F1F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5815" y="5883064"/>
            <a:ext cx="702710" cy="84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tagefright (bug) - Wikipedia">
            <a:extLst>
              <a:ext uri="{FF2B5EF4-FFF2-40B4-BE49-F238E27FC236}">
                <a16:creationId xmlns:a16="http://schemas.microsoft.com/office/drawing/2014/main" id="{D110E7CB-ECD9-E4B1-CEEF-54A1516A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04" y="5909857"/>
            <a:ext cx="1212207" cy="789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Log4Shell (Log4J): Advanced Exploitation Guide | Intigriti">
            <a:extLst>
              <a:ext uri="{FF2B5EF4-FFF2-40B4-BE49-F238E27FC236}">
                <a16:creationId xmlns:a16="http://schemas.microsoft.com/office/drawing/2014/main" id="{FA418DFB-8219-03E1-9C16-E814E4E14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090" y="5891584"/>
            <a:ext cx="826213" cy="826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A67BE95-4EB8-C091-ADBD-E7E4B0DF9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482" y="5922499"/>
            <a:ext cx="1146574" cy="764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92DAE-2872-705B-A89D-325E58EC48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644" y="2203478"/>
            <a:ext cx="615308" cy="615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40CA21-205F-B557-5205-5A34A95CB0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644" y="3120435"/>
            <a:ext cx="615308" cy="61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81E3B4-04D7-0589-AC93-7798D7290A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5644" y="4057091"/>
            <a:ext cx="615308" cy="6153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94BAAC-A099-3BDD-FC3F-16795CB856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5644" y="5000371"/>
            <a:ext cx="615308" cy="6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</a:t>
                </a:r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Avenir Next" panose="020B0503020202020204" pitchFamily="34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22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1" idx="6"/>
            <a:endCxn id="8" idx="1"/>
          </p:cNvCxnSpPr>
          <p:nvPr/>
        </p:nvCxnSpPr>
        <p:spPr>
          <a:xfrm>
            <a:off x="2910145" y="3725749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blipFill>
                <a:blip r:embed="rId4"/>
                <a:stretch>
                  <a:fillRect l="-1942" t="-3226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6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78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1" grpId="0" animBg="1"/>
      <p:bldP spid="22" grpId="0"/>
      <p:bldP spid="6" grpId="0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/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/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6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44964" y="5036992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568666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9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749180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59867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26260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834577" y="448348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7" grpId="0" animBg="1"/>
      <p:bldP spid="11" grpId="0"/>
      <p:bldP spid="13" grpId="0"/>
      <p:bldP spid="19" grpId="0"/>
      <p:bldP spid="20" grpId="0"/>
      <p:bldP spid="23" grpId="0"/>
      <p:bldP spid="26" grpId="0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 l="-897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C7C9D91-72A4-1100-BA4B-5A6B4E7BEA0C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7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BC010781-8035-5C66-D698-5C375E88E17C}"/>
              </a:ext>
            </a:extLst>
          </p:cNvPr>
          <p:cNvCxnSpPr>
            <a:stCxn id="12" idx="2"/>
            <a:endCxn id="11" idx="2"/>
          </p:cNvCxnSpPr>
          <p:nvPr/>
        </p:nvCxnSpPr>
        <p:spPr>
          <a:xfrm rot="5400000">
            <a:off x="4205493" y="2632050"/>
            <a:ext cx="12700" cy="3693567"/>
          </a:xfrm>
          <a:prstGeom prst="curvedConnector3">
            <a:avLst>
              <a:gd name="adj1" fmla="val 3060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1" grpId="0" animBg="1"/>
      <p:bldP spid="12" grpId="0" animBg="1"/>
      <p:bldP spid="13" grpId="0" animBg="1"/>
      <p:bldP spid="14" grpId="0"/>
      <p:bldP spid="15" grpId="0"/>
      <p:bldP spid="17" grpId="0"/>
      <p:bldP spid="21" grpId="0"/>
      <p:bldP spid="22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tx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bg2">
                  <a:lumMod val="90000"/>
                </a:schemeClr>
              </a:solidFill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-6423" y="2379354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  <p:bldP spid="3" grpId="0" uiExpand="1" build="p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                      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1033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/>
      <p:bldP spid="15" grpId="0"/>
      <p:bldP spid="29" grpId="0" animBg="1"/>
      <p:bldP spid="31" grpId="0"/>
      <p:bldP spid="32" grpId="0"/>
      <p:bldP spid="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92649" y="6738230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D2B45-5FA6-C352-325C-4FAF664E1AEF}"/>
              </a:ext>
            </a:extLst>
          </p:cNvPr>
          <p:cNvSpPr txBox="1"/>
          <p:nvPr/>
        </p:nvSpPr>
        <p:spPr>
          <a:xfrm>
            <a:off x="838249" y="1915225"/>
            <a:ext cx="5436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User-facing language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5A5FB7-EF56-A240-231C-C65B4AC71522}"/>
              </a:ext>
            </a:extLst>
          </p:cNvPr>
          <p:cNvSpPr txBox="1"/>
          <p:nvPr/>
        </p:nvSpPr>
        <p:spPr>
          <a:xfrm>
            <a:off x="6229562" y="1925685"/>
            <a:ext cx="5144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Relationship with AI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129AB-2019-C03F-01A6-7049D7A9A91E}"/>
              </a:ext>
            </a:extLst>
          </p:cNvPr>
          <p:cNvSpPr/>
          <p:nvPr/>
        </p:nvSpPr>
        <p:spPr>
          <a:xfrm>
            <a:off x="1237531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as compile target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720B0-9228-D75B-6C85-A417A32A515F}"/>
              </a:ext>
            </a:extLst>
          </p:cNvPr>
          <p:cNvSpPr/>
          <p:nvPr/>
        </p:nvSpPr>
        <p:spPr>
          <a:xfrm>
            <a:off x="1237530" y="3410538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Built-in support for helpers (e.g., 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length(.)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944C92-1963-47E9-FBF7-FD884ED57D0E}"/>
              </a:ext>
            </a:extLst>
          </p:cNvPr>
          <p:cNvSpPr/>
          <p:nvPr/>
        </p:nvSpPr>
        <p:spPr>
          <a:xfrm>
            <a:off x="1237530" y="411092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Richer type and attribute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D8CDD9-1D01-4254-F03A-983FDA2A85CC}"/>
              </a:ext>
            </a:extLst>
          </p:cNvPr>
          <p:cNvSpPr/>
          <p:nvPr/>
        </p:nvSpPr>
        <p:spPr>
          <a:xfrm>
            <a:off x="1237530" y="482384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Robust support for serialization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1BABB-45AF-57AF-EE09-EAA93AED915A}"/>
              </a:ext>
            </a:extLst>
          </p:cNvPr>
          <p:cNvSpPr/>
          <p:nvPr/>
        </p:nvSpPr>
        <p:spPr>
          <a:xfrm>
            <a:off x="6482537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C0B6A6-96D1-BC12-3F62-A96A8119BED8}"/>
              </a:ext>
            </a:extLst>
          </p:cNvPr>
          <p:cNvSpPr/>
          <p:nvPr/>
        </p:nvSpPr>
        <p:spPr>
          <a:xfrm>
            <a:off x="6482536" y="3409997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0D5F32-06EE-EAAB-58E4-72E57E641D9F}"/>
              </a:ext>
            </a:extLst>
          </p:cNvPr>
          <p:cNvSpPr/>
          <p:nvPr/>
        </p:nvSpPr>
        <p:spPr>
          <a:xfrm>
            <a:off x="6482536" y="411038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1C91BC-7A71-1AB4-DCEB-A96DD633B12A}"/>
              </a:ext>
            </a:extLst>
          </p:cNvPr>
          <p:cNvSpPr/>
          <p:nvPr/>
        </p:nvSpPr>
        <p:spPr>
          <a:xfrm>
            <a:off x="6482536" y="482330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141E17F-00C2-6AB1-D58C-E7D540A47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43" y="2637945"/>
            <a:ext cx="686509" cy="68650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795A035-2EB3-02B1-5370-2461B0EA6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87" y="3406098"/>
            <a:ext cx="523220" cy="5232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E68A36-1E10-8524-94CC-11F3E3B2B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87" y="4126716"/>
            <a:ext cx="523220" cy="52322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7AA575-4AF0-927F-B28B-87950CD15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12" y="4789703"/>
            <a:ext cx="555770" cy="5557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46BBEF-BDDB-31A2-A6DC-5DCCC9B07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136" y="2709504"/>
            <a:ext cx="543389" cy="543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802A7B5-1004-7631-4862-FA080BCC5F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5220" y="3426531"/>
            <a:ext cx="523220" cy="5232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BB47B7C-4839-56A9-A1FD-3FE3E043F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1370" y="4166703"/>
            <a:ext cx="450921" cy="4509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F881FCA-FE59-C2C6-78DA-140FBDC30F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5220" y="4845358"/>
            <a:ext cx="523220" cy="52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10167</TotalTime>
  <Words>4108</Words>
  <Application>Microsoft Macintosh PowerPoint</Application>
  <PresentationFormat>Widescreen</PresentationFormat>
  <Paragraphs>758</Paragraphs>
  <Slides>78</Slides>
  <Notes>18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95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1008</cp:revision>
  <dcterms:created xsi:type="dcterms:W3CDTF">2026-03-16T17:02:12Z</dcterms:created>
  <dcterms:modified xsi:type="dcterms:W3CDTF">2026-04-08T16:42:42Z</dcterms:modified>
</cp:coreProperties>
</file>