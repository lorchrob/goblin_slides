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78"/>
  </p:notesMasterIdLst>
  <p:sldIdLst>
    <p:sldId id="256" r:id="rId2"/>
    <p:sldId id="379" r:id="rId3"/>
    <p:sldId id="382" r:id="rId4"/>
    <p:sldId id="318" r:id="rId5"/>
    <p:sldId id="383" r:id="rId6"/>
    <p:sldId id="324" r:id="rId7"/>
    <p:sldId id="384" r:id="rId8"/>
    <p:sldId id="402" r:id="rId9"/>
    <p:sldId id="385" r:id="rId10"/>
    <p:sldId id="386" r:id="rId11"/>
    <p:sldId id="395" r:id="rId12"/>
    <p:sldId id="387" r:id="rId13"/>
    <p:sldId id="398" r:id="rId14"/>
    <p:sldId id="397" r:id="rId15"/>
    <p:sldId id="332" r:id="rId16"/>
    <p:sldId id="331" r:id="rId17"/>
    <p:sldId id="389" r:id="rId18"/>
    <p:sldId id="390" r:id="rId19"/>
    <p:sldId id="388" r:id="rId20"/>
    <p:sldId id="391" r:id="rId21"/>
    <p:sldId id="322" r:id="rId22"/>
    <p:sldId id="323" r:id="rId23"/>
    <p:sldId id="325" r:id="rId24"/>
    <p:sldId id="326" r:id="rId25"/>
    <p:sldId id="327" r:id="rId26"/>
    <p:sldId id="368" r:id="rId27"/>
    <p:sldId id="369" r:id="rId28"/>
    <p:sldId id="377" r:id="rId29"/>
    <p:sldId id="328" r:id="rId30"/>
    <p:sldId id="329" r:id="rId31"/>
    <p:sldId id="321" r:id="rId32"/>
    <p:sldId id="338" r:id="rId33"/>
    <p:sldId id="339" r:id="rId34"/>
    <p:sldId id="340" r:id="rId35"/>
    <p:sldId id="341" r:id="rId36"/>
    <p:sldId id="342" r:id="rId37"/>
    <p:sldId id="344" r:id="rId38"/>
    <p:sldId id="345" r:id="rId39"/>
    <p:sldId id="333" r:id="rId40"/>
    <p:sldId id="346" r:id="rId41"/>
    <p:sldId id="347" r:id="rId42"/>
    <p:sldId id="348" r:id="rId43"/>
    <p:sldId id="349" r:id="rId44"/>
    <p:sldId id="350" r:id="rId45"/>
    <p:sldId id="334" r:id="rId46"/>
    <p:sldId id="351" r:id="rId47"/>
    <p:sldId id="356" r:id="rId48"/>
    <p:sldId id="357" r:id="rId49"/>
    <p:sldId id="358" r:id="rId50"/>
    <p:sldId id="359" r:id="rId51"/>
    <p:sldId id="360" r:id="rId52"/>
    <p:sldId id="361" r:id="rId53"/>
    <p:sldId id="362" r:id="rId54"/>
    <p:sldId id="363" r:id="rId55"/>
    <p:sldId id="364" r:id="rId56"/>
    <p:sldId id="365" r:id="rId57"/>
    <p:sldId id="393" r:id="rId58"/>
    <p:sldId id="394" r:id="rId59"/>
    <p:sldId id="401" r:id="rId60"/>
    <p:sldId id="366" r:id="rId61"/>
    <p:sldId id="367" r:id="rId62"/>
    <p:sldId id="399" r:id="rId63"/>
    <p:sldId id="352" r:id="rId64"/>
    <p:sldId id="336" r:id="rId65"/>
    <p:sldId id="353" r:id="rId66"/>
    <p:sldId id="337" r:id="rId67"/>
    <p:sldId id="355" r:id="rId68"/>
    <p:sldId id="300" r:id="rId69"/>
    <p:sldId id="317" r:id="rId70"/>
    <p:sldId id="370" r:id="rId71"/>
    <p:sldId id="371" r:id="rId72"/>
    <p:sldId id="372" r:id="rId73"/>
    <p:sldId id="373" r:id="rId74"/>
    <p:sldId id="374" r:id="rId75"/>
    <p:sldId id="375" r:id="rId76"/>
    <p:sldId id="376" r:id="rId7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60" autoAdjust="0"/>
    <p:restoredTop sz="76568"/>
  </p:normalViewPr>
  <p:slideViewPr>
    <p:cSldViewPr snapToGrid="0">
      <p:cViewPr>
        <p:scale>
          <a:sx n="101" d="100"/>
          <a:sy n="101" d="100"/>
        </p:scale>
        <p:origin x="138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96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822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3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0.png"/><Relationship Id="rId7" Type="http://schemas.openxmlformats.org/officeDocument/2006/relationships/image" Target="../media/image5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4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61.png"/><Relationship Id="rId7" Type="http://schemas.openxmlformats.org/officeDocument/2006/relationships/image" Target="../media/image57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6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3C4FD3E-A5C4-D874-7D10-1E37F833DA17}"/>
              </a:ext>
            </a:extLst>
          </p:cNvPr>
          <p:cNvSpPr/>
          <p:nvPr/>
        </p:nvSpPr>
        <p:spPr>
          <a:xfrm>
            <a:off x="1549400" y="5155639"/>
            <a:ext cx="9027730" cy="10219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Some software systems have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highly complex input formats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Automated testing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80323"/>
              </a:xfrm>
              <a:blipFill>
                <a:blip r:embed="rId2"/>
                <a:stretch>
                  <a:fillRect l="-1206" t="-2786" b="-3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74014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Automated testing problem: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740149"/>
              </a:xfrm>
              <a:blipFill>
                <a:blip r:embed="rId2"/>
                <a:stretch>
                  <a:fillRect l="-1206" t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8101707" y="2458122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109650" y="182562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6137" y="3019014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0390" y="3069655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360" y="3109585"/>
            <a:ext cx="935245" cy="935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883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03" y="2377721"/>
            <a:ext cx="6263576" cy="409463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352562" y="3901819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8415" y="3447087"/>
            <a:ext cx="661423" cy="661423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0EF8C7A-2B0F-D041-A8EA-7A8F661152F9}"/>
              </a:ext>
            </a:extLst>
          </p:cNvPr>
          <p:cNvSpPr txBox="1">
            <a:spLocks/>
          </p:cNvSpPr>
          <p:nvPr/>
        </p:nvSpPr>
        <p:spPr>
          <a:xfrm>
            <a:off x="7842647" y="1825625"/>
            <a:ext cx="7988300" cy="5520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E.g., XML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 E.g., XML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83E478-3D11-4C47-25DD-EA3DEF03851D}"/>
              </a:ext>
            </a:extLst>
          </p:cNvPr>
          <p:cNvSpPr txBox="1"/>
          <p:nvPr/>
        </p:nvSpPr>
        <p:spPr>
          <a:xfrm>
            <a:off x="6618779" y="2701214"/>
            <a:ext cx="56573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4721" y="3498710"/>
            <a:ext cx="558800" cy="558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94E6674-22B4-8FC9-31CF-D8666433311D}"/>
              </a:ext>
            </a:extLst>
          </p:cNvPr>
          <p:cNvSpPr txBox="1"/>
          <p:nvPr/>
        </p:nvSpPr>
        <p:spPr>
          <a:xfrm>
            <a:off x="8352562" y="3901819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12" name="Picture 11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0685046-B66F-97F8-DDCE-9140E7A305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203" y="2377721"/>
            <a:ext cx="6263576" cy="4094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2B3334C-4E23-B804-D1CC-48D49239D241}"/>
              </a:ext>
            </a:extLst>
          </p:cNvPr>
          <p:cNvSpPr/>
          <p:nvPr/>
        </p:nvSpPr>
        <p:spPr>
          <a:xfrm>
            <a:off x="1193800" y="1790700"/>
            <a:ext cx="9867900" cy="7781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82905" y="1944298"/>
                <a:ext cx="9625776" cy="624555"/>
              </a:xfrm>
            </p:spPr>
            <p:txBody>
              <a:bodyPr vert="horz" lIns="91440" tIns="45720" rIns="91440" bIns="45720" rtlCol="0" anchor="t"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82905" y="1944298"/>
                <a:ext cx="9625776" cy="624555"/>
              </a:xfrm>
              <a:blipFill>
                <a:blip r:embed="rId3"/>
                <a:stretch>
                  <a:fillRect l="-922" t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  <a:blipFill>
                <a:blip r:embed="rId3"/>
                <a:stretch>
                  <a:fillRect l="-1912"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104" y="4237305"/>
                <a:ext cx="31829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Structured input language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04" y="4237305"/>
                <a:ext cx="3182963" cy="369332"/>
              </a:xfrm>
              <a:prstGeom prst="rect">
                <a:avLst/>
              </a:prstGeom>
              <a:blipFill>
                <a:blip r:embed="rId4"/>
                <a:stretch>
                  <a:fillRect l="-1587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AA12139A-7D26-EF58-9D79-875E24309C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5701" y="2826887"/>
            <a:ext cx="1325563" cy="1325563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CC642EB-0B75-CA62-9C1B-795A3E82A28B}"/>
              </a:ext>
            </a:extLst>
          </p:cNvPr>
          <p:cNvCxnSpPr>
            <a:cxnSpLocks/>
            <a:stCxn id="40" idx="6"/>
            <a:endCxn id="38" idx="1"/>
          </p:cNvCxnSpPr>
          <p:nvPr/>
        </p:nvCxnSpPr>
        <p:spPr>
          <a:xfrm>
            <a:off x="2108762" y="3479172"/>
            <a:ext cx="1666939" cy="10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B41B2DF-78BD-357F-E7B5-6911BBD5BDBD}"/>
              </a:ext>
            </a:extLst>
          </p:cNvPr>
          <p:cNvSpPr/>
          <p:nvPr/>
        </p:nvSpPr>
        <p:spPr>
          <a:xfrm>
            <a:off x="1054454" y="2816276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9B5F9FA-CB7E-33EB-1D73-7CAB6781C20B}"/>
                  </a:ext>
                </a:extLst>
              </p:cNvPr>
              <p:cNvSpPr txBox="1"/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9B5F9FA-CB7E-33EB-1D73-7CAB6781C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Oval 41">
            <a:extLst>
              <a:ext uri="{FF2B5EF4-FFF2-40B4-BE49-F238E27FC236}">
                <a16:creationId xmlns:a16="http://schemas.microsoft.com/office/drawing/2014/main" id="{972D7A86-D1E6-493B-9205-B0EA439A86BE}"/>
              </a:ext>
            </a:extLst>
          </p:cNvPr>
          <p:cNvSpPr/>
          <p:nvPr/>
        </p:nvSpPr>
        <p:spPr>
          <a:xfrm>
            <a:off x="1329536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21AA3A-7BDC-38CA-1A53-19D11CD1A511}"/>
              </a:ext>
            </a:extLst>
          </p:cNvPr>
          <p:cNvSpPr txBox="1"/>
          <p:nvPr/>
        </p:nvSpPr>
        <p:spPr>
          <a:xfrm>
            <a:off x="4113923" y="4174822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</p:spTree>
    <p:extLst>
      <p:ext uri="{BB962C8B-B14F-4D97-AF65-F5344CB8AC3E}">
        <p14:creationId xmlns:p14="http://schemas.microsoft.com/office/powerpoint/2010/main" val="550993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40" grpId="0" animBg="1"/>
      <p:bldP spid="41" grpId="0"/>
      <p:bldP spid="42" grpId="0" animBg="1"/>
      <p:bldP spid="4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33117" cy="624555"/>
              </a:xfrm>
              <a:blipFill>
                <a:blip r:embed="rId3"/>
                <a:stretch>
                  <a:fillRect l="-1912"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5701" y="2826887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2320589" y="3479171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113923" y="4174822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054454" y="2816276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197676" y="4359580"/>
                <a:ext cx="309375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76" y="4359580"/>
                <a:ext cx="3093753" cy="646331"/>
              </a:xfrm>
              <a:prstGeom prst="rect">
                <a:avLst/>
              </a:prstGeom>
              <a:blipFill>
                <a:blip r:embed="rId5"/>
                <a:stretch>
                  <a:fillRect l="-1633"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764204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04" y="3075438"/>
                <a:ext cx="42458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805432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94193" y="2894768"/>
                <a:ext cx="6633117" cy="129804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1.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𝑆𝑎𝑚𝑝𝑙𝑒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𝑀𝑢𝑡𝑎𝑡𝑒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Cambria Math" panose="02040503050406030204" pitchFamily="18" charset="0"/>
                  </a:rPr>
                  <a:t>2.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𝑀𝑢𝑡𝑎𝑡𝑒</m:t>
                        </m:r>
                      </m:sub>
                    </m:sSub>
                    <m:sSup>
                      <m:sSup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𝑆𝑎𝑚𝑝𝑙𝑒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4724F762-0753-23EA-0DB5-805C9FC48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193" y="2894768"/>
                <a:ext cx="6633117" cy="1298045"/>
              </a:xfrm>
              <a:prstGeom prst="rect">
                <a:avLst/>
              </a:prstGeom>
              <a:blipFill>
                <a:blip r:embed="rId7"/>
                <a:stretch>
                  <a:fillRect l="-1908" t="-7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669072" y="2622184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6006" y="3075438"/>
                <a:ext cx="42458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1329536" y="3243457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15846D3-9030-1BB1-3591-D75369CC194C}"/>
              </a:ext>
            </a:extLst>
          </p:cNvPr>
          <p:cNvSpPr/>
          <p:nvPr/>
        </p:nvSpPr>
        <p:spPr>
          <a:xfrm>
            <a:off x="6759744" y="3476531"/>
            <a:ext cx="420029" cy="43030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6197149" y="3921182"/>
            <a:ext cx="2682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Constraint-aware!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A70BC85-2ADC-B432-0772-B94FD37922D2}"/>
              </a:ext>
            </a:extLst>
          </p:cNvPr>
          <p:cNvSpPr/>
          <p:nvPr/>
        </p:nvSpPr>
        <p:spPr>
          <a:xfrm>
            <a:off x="8440420" y="2950524"/>
            <a:ext cx="420029" cy="43030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761567" y="2433103"/>
            <a:ext cx="24188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14156" cy="624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/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/>
              <p:nvPr/>
            </p:nvSpPr>
            <p:spPr>
              <a:xfrm>
                <a:off x="1397000" y="3550725"/>
                <a:ext cx="3473450" cy="49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𝑆𝑎𝑚𝑝𝑙𝑒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3550725"/>
                <a:ext cx="3473450" cy="490199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7000" y="3612678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1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14156" cy="624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2431612"/>
                <a:ext cx="8411085" cy="461665"/>
              </a:xfrm>
              <a:prstGeom prst="rect">
                <a:avLst/>
              </a:prstGeom>
              <a:blipFill>
                <a:blip r:embed="rId3"/>
                <a:stretch>
                  <a:fillRect l="-1054" t="-10526" r="-151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/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7B8683A-BA12-7CC0-B765-AD9D42C90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2969477"/>
                <a:ext cx="347345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1E1D45-97D0-1EF1-88B0-602A3B491A3F}"/>
                  </a:ext>
                </a:extLst>
              </p:cNvPr>
              <p:cNvSpPr txBox="1"/>
              <p:nvPr/>
            </p:nvSpPr>
            <p:spPr>
              <a:xfrm>
                <a:off x="1003300" y="3557056"/>
                <a:ext cx="347345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𝑀𝑢𝑡𝑎𝑡𝑒</m:t>
                          </m:r>
                        </m:sub>
                      </m:sSub>
                      <m:sSup>
                        <m:sSup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51E1D45-97D0-1EF1-88B0-602A3B491A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0" y="3557056"/>
                <a:ext cx="347345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/>
              <p:nvPr/>
            </p:nvSpPr>
            <p:spPr>
              <a:xfrm>
                <a:off x="1397000" y="4144635"/>
                <a:ext cx="3473450" cy="490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sz="24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⇒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𝑆𝑎𝑚𝑝𝑙𝑒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AE44CF0-321F-2910-BD78-A9B623142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00" y="4144635"/>
                <a:ext cx="3473450" cy="490199"/>
              </a:xfrm>
              <a:prstGeom prst="rect">
                <a:avLst/>
              </a:prstGeom>
              <a:blipFill>
                <a:blip r:embed="rId6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6200" y="3600385"/>
            <a:ext cx="382237" cy="38223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861934" y="4994208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0938" y="4986304"/>
            <a:ext cx="450996" cy="450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B15BD91-3389-103D-3BD9-4A4ABB60CA9A}"/>
              </a:ext>
            </a:extLst>
          </p:cNvPr>
          <p:cNvSpPr txBox="1"/>
          <p:nvPr/>
        </p:nvSpPr>
        <p:spPr>
          <a:xfrm>
            <a:off x="5870206" y="2477210"/>
            <a:ext cx="48584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 `_ &lt;Length&gt; &lt;Value&gt;` in output: 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&lt;Length&gt; = </a:t>
            </a:r>
            <a:r>
              <a:rPr lang="en-US" sz="2000" dirty="0" err="1">
                <a:latin typeface="American Typewriter" panose="02090604020004020304" pitchFamily="18" charset="77"/>
              </a:rPr>
              <a:t>len</a:t>
            </a:r>
            <a:r>
              <a:rPr lang="en-US" sz="2000" dirty="0">
                <a:latin typeface="American Typewriter" panose="02090604020004020304" pitchFamily="18" charset="77"/>
              </a:rPr>
              <a:t>(&lt;Value&gt;)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4320" y="2184984"/>
            <a:ext cx="363161" cy="36316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C2C991-6A1D-EBF8-E9EB-CDE1FC6B4B18}"/>
              </a:ext>
            </a:extLst>
          </p:cNvPr>
          <p:cNvSpPr txBox="1"/>
          <p:nvPr/>
        </p:nvSpPr>
        <p:spPr>
          <a:xfrm>
            <a:off x="5870206" y="2477210"/>
            <a:ext cx="48584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American Typewriter" panose="02090604020004020304" pitchFamily="18" charset="77"/>
              </a:rPr>
              <a:t>forall</a:t>
            </a:r>
            <a:r>
              <a:rPr lang="en-US" sz="2000" dirty="0">
                <a:latin typeface="American Typewriter" panose="02090604020004020304" pitchFamily="18" charset="77"/>
              </a:rPr>
              <a:t>  `_ &lt;Length&gt; &lt;Value&gt;` in output: </a:t>
            </a:r>
          </a:p>
          <a:p>
            <a:r>
              <a:rPr lang="en-US" sz="2000" dirty="0">
                <a:latin typeface="American Typewriter" panose="02090604020004020304" pitchFamily="18" charset="77"/>
              </a:rPr>
              <a:t>    &lt;Length&gt; = </a:t>
            </a:r>
            <a:r>
              <a:rPr lang="en-US" sz="2000" dirty="0" err="1">
                <a:latin typeface="American Typewriter" panose="02090604020004020304" pitchFamily="18" charset="77"/>
              </a:rPr>
              <a:t>len</a:t>
            </a:r>
            <a:r>
              <a:rPr lang="en-US" sz="2000" dirty="0">
                <a:latin typeface="American Typewriter" panose="02090604020004020304" pitchFamily="18" charset="77"/>
              </a:rPr>
              <a:t>(&lt;Value&gt;)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46B30C0-BCF7-73BB-32C0-CB1022A573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4320" y="2184984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12057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500" y="2425700"/>
            <a:ext cx="22098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7351465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34223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608328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46200" y="4761530"/>
            <a:ext cx="9448800" cy="73757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947433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                            in widely-used software</a:t>
            </a:r>
          </a:p>
        </p:txBody>
      </p:sp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CCB0CFF-07BD-0840-9185-61A50394B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39588"/>
            <a:ext cx="7772400" cy="360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(in </a:t>
            </a:r>
            <a:r>
              <a:rPr lang="en-US" sz="2400" dirty="0">
                <a:solidFill>
                  <a:srgbClr val="00808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teal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6FD0D61-6BFB-84A5-A427-A958D5737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6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51896D37-324B-212D-C5BA-AA1871A85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3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891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 </a:t>
            </a: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A4EECF6-CE18-6089-4E85-8CA494077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4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20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dot notation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39E3DF7-3783-3832-10F1-A03AC264E69E}"/>
              </a:ext>
            </a:extLst>
          </p:cNvPr>
          <p:cNvSpPr txBox="1">
            <a:spLocks/>
          </p:cNvSpPr>
          <p:nvPr/>
        </p:nvSpPr>
        <p:spPr>
          <a:xfrm>
            <a:off x="838200" y="6245604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constraints + SMT-LIB + dot notation = expressive!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536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306845"/>
            <a:ext cx="7772400" cy="1888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457200" y="6063162"/>
            <a:ext cx="11290300" cy="49321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8846EB-B03D-5CA2-1AF8-573D4734C97D}"/>
              </a:ext>
            </a:extLst>
          </p:cNvPr>
          <p:cNvSpPr txBox="1"/>
          <p:nvPr/>
        </p:nvSpPr>
        <p:spPr>
          <a:xfrm>
            <a:off x="50800" y="6094710"/>
            <a:ext cx="12115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over arbitrary SMT theories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895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derivation tree 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an AST that may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open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(or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closed</a:t>
                </a: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)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Make decisions and backtrack when stuck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When closed, instantiate with concrete values</a:t>
                </a:r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2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3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59699" y="3167134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29" grpId="0" animBg="1"/>
      <p:bldP spid="31" grpId="0"/>
      <p:bldP spid="3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75280" y="3449743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5615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DCAD2-445D-6A5F-178E-08EE92577A2B}"/>
              </a:ext>
            </a:extLst>
          </p:cNvPr>
          <p:cNvSpPr txBox="1"/>
          <p:nvPr/>
        </p:nvSpPr>
        <p:spPr>
          <a:xfrm>
            <a:off x="1104900" y="5003653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3D00AF-B531-52AD-28BC-9A6AF99AD70B}"/>
              </a:ext>
            </a:extLst>
          </p:cNvPr>
          <p:cNvSpPr txBox="1"/>
          <p:nvPr/>
        </p:nvSpPr>
        <p:spPr>
          <a:xfrm>
            <a:off x="684307" y="5722092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335A6-6585-FBFA-DAFE-DB2EF22CADD3}"/>
              </a:ext>
            </a:extLst>
          </p:cNvPr>
          <p:cNvSpPr txBox="1"/>
          <p:nvPr/>
        </p:nvSpPr>
        <p:spPr>
          <a:xfrm>
            <a:off x="1750335" y="5722092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048E5C-A31E-4F26-461C-4A17207869AC}"/>
              </a:ext>
            </a:extLst>
          </p:cNvPr>
          <p:cNvSpPr txBox="1"/>
          <p:nvPr/>
        </p:nvSpPr>
        <p:spPr>
          <a:xfrm>
            <a:off x="1738407" y="4364407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FF7618-BEFB-E8CB-66EE-92D17487EB45}"/>
              </a:ext>
            </a:extLst>
          </p:cNvPr>
          <p:cNvCxnSpPr>
            <a:cxnSpLocks/>
            <a:endCxn id="3" idx="0"/>
          </p:cNvCxnSpPr>
          <p:nvPr/>
        </p:nvCxnSpPr>
        <p:spPr>
          <a:xfrm flipH="1">
            <a:off x="1432875" y="4729220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3DA94E7-04A8-FF62-1001-E7A1FA9CABB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965795" y="5372065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F2BE39B-1F14-F4FB-A20F-69725118A655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638300" y="5372065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/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1F42B5E-9DC7-2A00-A498-63CE9F7883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6139882"/>
                <a:ext cx="56682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900E0CD-2C03-BB3B-42C2-C74A69C04A17}"/>
              </a:ext>
            </a:extLst>
          </p:cNvPr>
          <p:cNvSpPr/>
          <p:nvPr/>
        </p:nvSpPr>
        <p:spPr>
          <a:xfrm>
            <a:off x="365460" y="4222449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49164" y="3192534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 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1200329"/>
              </a:xfrm>
              <a:prstGeom prst="rect">
                <a:avLst/>
              </a:prstGeom>
              <a:blipFill>
                <a:blip r:embed="rId5"/>
                <a:stretch>
                  <a:fillRect l="-1984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1200329"/>
              </a:xfrm>
              <a:prstGeom prst="rect">
                <a:avLst/>
              </a:prstGeom>
              <a:blipFill>
                <a:blip r:embed="rId6"/>
                <a:stretch>
                  <a:fillRect l="-1587" t="-2105" r="-794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the paper (full version), we formalize the Goblin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refutation soundness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1DF6A8C-DEA4-F391-22F7-B2240D38A25A}"/>
              </a:ext>
            </a:extLst>
          </p:cNvPr>
          <p:cNvSpPr/>
          <p:nvPr/>
        </p:nvSpPr>
        <p:spPr>
          <a:xfrm>
            <a:off x="1638913" y="5992768"/>
            <a:ext cx="9232287" cy="5334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515600" cy="4612926"/>
          </a:xfr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Compare directly with prior work: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SAECRED generator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BFAF22-88EC-C935-A3B4-9CB4250A7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7700" y="2324100"/>
            <a:ext cx="965200" cy="965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555FEB-424B-2505-B483-76466D5F3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1351" y="2324100"/>
            <a:ext cx="965200" cy="965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DAEA30-BB25-151C-AA2F-34C9284CD6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5002" y="2237477"/>
            <a:ext cx="1138445" cy="11384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8389366-B24A-1DF7-498A-243BE69187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898" y="2243344"/>
            <a:ext cx="1126710" cy="11267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106368-D9DD-5F55-4C35-463E9C7786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813" y="3829050"/>
            <a:ext cx="581374" cy="5813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09DE3D-45FF-4E48-B6AF-2D188A4650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639" y="4552397"/>
            <a:ext cx="563953" cy="5639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2FD7AB-45EF-7CEB-2F5C-4F51E574BAB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639" y="5241718"/>
            <a:ext cx="581375" cy="5813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D272AB-DFE2-B8B7-2049-D1510D2BB0C0}"/>
              </a:ext>
            </a:extLst>
          </p:cNvPr>
          <p:cNvSpPr txBox="1"/>
          <p:nvPr/>
        </p:nvSpPr>
        <p:spPr>
          <a:xfrm>
            <a:off x="1822545" y="3956978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Efficiency (inputs generated / second)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E3AB74-ED80-B6DB-71D2-D6A78F689B34}"/>
                  </a:ext>
                </a:extLst>
              </p:cNvPr>
              <p:cNvSpPr txBox="1"/>
              <p:nvPr/>
            </p:nvSpPr>
            <p:spPr>
              <a:xfrm>
                <a:off x="1822545" y="4644342"/>
                <a:ext cx="29341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Diversity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-path coverage)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E3AB74-ED80-B6DB-71D2-D6A78F689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545" y="4644342"/>
                <a:ext cx="2934137" cy="369332"/>
              </a:xfrm>
              <a:prstGeom prst="rect">
                <a:avLst/>
              </a:prstGeom>
              <a:blipFill>
                <a:blip r:embed="rId10"/>
                <a:stretch>
                  <a:fillRect l="-1724" t="-6667" r="-862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855645A-1639-E7D7-6EC5-32DA32C40AE9}"/>
              </a:ext>
            </a:extLst>
          </p:cNvPr>
          <p:cNvSpPr txBox="1"/>
          <p:nvPr/>
        </p:nvSpPr>
        <p:spPr>
          <a:xfrm>
            <a:off x="1822545" y="5332998"/>
            <a:ext cx="554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Expressivity (% grammars accepted after mutations)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EE5DF1-C4D7-F2F0-E5E7-C7F50FDEC591}"/>
              </a:ext>
            </a:extLst>
          </p:cNvPr>
          <p:cNvSpPr txBox="1"/>
          <p:nvPr/>
        </p:nvSpPr>
        <p:spPr>
          <a:xfrm>
            <a:off x="1638912" y="6051175"/>
            <a:ext cx="9345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prior work by &gt; </a:t>
            </a:r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~10—100%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 all metrics, save for efficiency of CSV inputs</a:t>
            </a:r>
          </a:p>
          <a:p>
            <a:endParaRPr lang="en-US" sz="20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D33349-80AE-CFC8-2EAD-D2287331F552}"/>
              </a:ext>
            </a:extLst>
          </p:cNvPr>
          <p:cNvSpPr txBox="1"/>
          <p:nvPr/>
        </p:nvSpPr>
        <p:spPr>
          <a:xfrm>
            <a:off x="951263" y="3342060"/>
            <a:ext cx="26388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 criteria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/>
      <p:bldP spid="13" grpId="0"/>
      <p:bldP spid="14" grpId="0"/>
      <p:bldP spid="16" grpId="0"/>
      <p:bldP spid="1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workflow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powerful type system (e.g., polymorphism)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CDCL-style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backjumping</a:t>
            </a: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search engines!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9022</TotalTime>
  <Words>3631</Words>
  <Application>Microsoft Macintosh PowerPoint</Application>
  <PresentationFormat>Widescreen</PresentationFormat>
  <Paragraphs>673</Paragraphs>
  <Slides>76</Slides>
  <Notes>17</Notes>
  <HiddenSlides>28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90" baseType="lpstr">
      <vt:lpstr>American Typewriter</vt:lpstr>
      <vt:lpstr>Aptos</vt:lpstr>
      <vt:lpstr>Aptos Display</vt:lpstr>
      <vt:lpstr>Arial</vt:lpstr>
      <vt:lpstr>Avenir Next</vt:lpstr>
      <vt:lpstr>Book Antiqua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867</cp:revision>
  <dcterms:created xsi:type="dcterms:W3CDTF">2026-03-16T17:02:12Z</dcterms:created>
  <dcterms:modified xsi:type="dcterms:W3CDTF">2026-04-07T17:29:28Z</dcterms:modified>
</cp:coreProperties>
</file>