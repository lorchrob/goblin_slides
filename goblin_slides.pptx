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64"/>
  </p:notesMasterIdLst>
  <p:sldIdLst>
    <p:sldId id="256" r:id="rId2"/>
    <p:sldId id="318" r:id="rId3"/>
    <p:sldId id="319" r:id="rId4"/>
    <p:sldId id="332" r:id="rId5"/>
    <p:sldId id="322" r:id="rId6"/>
    <p:sldId id="323" r:id="rId7"/>
    <p:sldId id="324" r:id="rId8"/>
    <p:sldId id="325" r:id="rId9"/>
    <p:sldId id="326" r:id="rId10"/>
    <p:sldId id="327" r:id="rId11"/>
    <p:sldId id="368" r:id="rId12"/>
    <p:sldId id="369" r:id="rId13"/>
    <p:sldId id="377" r:id="rId14"/>
    <p:sldId id="328" r:id="rId15"/>
    <p:sldId id="329" r:id="rId16"/>
    <p:sldId id="330" r:id="rId17"/>
    <p:sldId id="331" r:id="rId18"/>
    <p:sldId id="321" r:id="rId19"/>
    <p:sldId id="338" r:id="rId20"/>
    <p:sldId id="339" r:id="rId21"/>
    <p:sldId id="340" r:id="rId22"/>
    <p:sldId id="341" r:id="rId23"/>
    <p:sldId id="342" r:id="rId24"/>
    <p:sldId id="343" r:id="rId25"/>
    <p:sldId id="344" r:id="rId26"/>
    <p:sldId id="345" r:id="rId27"/>
    <p:sldId id="333" r:id="rId28"/>
    <p:sldId id="346" r:id="rId29"/>
    <p:sldId id="347" r:id="rId30"/>
    <p:sldId id="348" r:id="rId31"/>
    <p:sldId id="349" r:id="rId32"/>
    <p:sldId id="350" r:id="rId33"/>
    <p:sldId id="334" r:id="rId34"/>
    <p:sldId id="351" r:id="rId35"/>
    <p:sldId id="356" r:id="rId36"/>
    <p:sldId id="357" r:id="rId37"/>
    <p:sldId id="358" r:id="rId38"/>
    <p:sldId id="359" r:id="rId39"/>
    <p:sldId id="360" r:id="rId40"/>
    <p:sldId id="361" r:id="rId41"/>
    <p:sldId id="362" r:id="rId42"/>
    <p:sldId id="363" r:id="rId43"/>
    <p:sldId id="364" r:id="rId44"/>
    <p:sldId id="365" r:id="rId45"/>
    <p:sldId id="366" r:id="rId46"/>
    <p:sldId id="367" r:id="rId47"/>
    <p:sldId id="335" r:id="rId48"/>
    <p:sldId id="352" r:id="rId49"/>
    <p:sldId id="336" r:id="rId50"/>
    <p:sldId id="353" r:id="rId51"/>
    <p:sldId id="354" r:id="rId52"/>
    <p:sldId id="337" r:id="rId53"/>
    <p:sldId id="355" r:id="rId54"/>
    <p:sldId id="300" r:id="rId55"/>
    <p:sldId id="317" r:id="rId56"/>
    <p:sldId id="370" r:id="rId57"/>
    <p:sldId id="371" r:id="rId58"/>
    <p:sldId id="372" r:id="rId59"/>
    <p:sldId id="373" r:id="rId60"/>
    <p:sldId id="374" r:id="rId61"/>
    <p:sldId id="375" r:id="rId62"/>
    <p:sldId id="376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52" autoAdjust="0"/>
    <p:restoredTop sz="94774"/>
  </p:normalViewPr>
  <p:slideViewPr>
    <p:cSldViewPr snapToGrid="0">
      <p:cViewPr>
        <p:scale>
          <a:sx n="119" d="100"/>
          <a:sy n="119" d="100"/>
        </p:scale>
        <p:origin x="6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Parse this! Summoning Context-Sensitive Inputs with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Muhammad </a:t>
            </a:r>
            <a:r>
              <a:rPr lang="en-US" dirty="0" err="1">
                <a:latin typeface="Source Sans Pro"/>
                <a:ea typeface="Source Sans Pro"/>
              </a:rPr>
              <a:t>Daniyal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dirty="0" err="1">
                <a:latin typeface="Source Sans Pro"/>
                <a:ea typeface="Source Sans Pro"/>
              </a:rPr>
              <a:t>Pirwani</a:t>
            </a:r>
            <a:r>
              <a:rPr lang="en-US" dirty="0">
                <a:latin typeface="Source Sans Pro"/>
                <a:ea typeface="Source Sans Pro"/>
              </a:rPr>
              <a:t> Dar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, Cesare </a:t>
            </a:r>
            <a:r>
              <a:rPr lang="en-US" dirty="0" err="1">
                <a:latin typeface="Source Sans Pro"/>
                <a:ea typeface="Source Sans Pro"/>
              </a:rPr>
              <a:t>Tinelli</a:t>
            </a: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&amp; Omar Chowdhury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Source Sans Pro"/>
              <a:ea typeface="Source Sans Pro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DATE</a:t>
            </a:r>
            <a:endParaRPr lang="en-US" dirty="0">
              <a:latin typeface="Aptos" panose="02110004020202020204"/>
              <a:ea typeface="Source Sans Pro"/>
            </a:endParaRP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highly complex input formats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Compilers, file renderers, network protocol stacks</a:t>
            </a:r>
          </a:p>
          <a:p>
            <a:r>
              <a:rPr lang="en-US" dirty="0">
                <a:latin typeface="Source Sans Pro"/>
                <a:ea typeface="Source Sans Pro"/>
              </a:rPr>
              <a:t>Complex input formats are difficult for testing, especially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testing</a:t>
            </a:r>
          </a:p>
          <a:p>
            <a:r>
              <a:rPr lang="en-US" dirty="0">
                <a:latin typeface="Source Sans Pro"/>
                <a:ea typeface="Source Sans Pro"/>
              </a:rPr>
              <a:t>We will discuss techniques for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input generation </a:t>
            </a:r>
            <a:r>
              <a:rPr lang="en-US" dirty="0">
                <a:latin typeface="Source Sans Pro"/>
                <a:ea typeface="Source Sans Pro"/>
              </a:rPr>
              <a:t>of software with complex input formats</a:t>
            </a:r>
          </a:p>
          <a:p>
            <a:r>
              <a:rPr lang="en-US" dirty="0">
                <a:latin typeface="Source Sans Pro"/>
                <a:ea typeface="Source Sans Pro"/>
              </a:rPr>
              <a:t>Given an input specification, how to generate inputs?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01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First, a CFG-based input generation example: XML!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Structure-Aware Mutations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context-sensitive, structure-aware </a:t>
            </a:r>
            <a:r>
              <a:rPr lang="en-US" sz="2400" dirty="0">
                <a:latin typeface="Source Sans Pro"/>
                <a:ea typeface="Source Sans Pro"/>
              </a:rPr>
              <a:t>mutations?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RG_LIST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screen with blue and green text&#10;&#10;Description automatically generated">
            <a:extLst>
              <a:ext uri="{FF2B5EF4-FFF2-40B4-BE49-F238E27FC236}">
                <a16:creationId xmlns:a16="http://schemas.microsoft.com/office/drawing/2014/main" id="{340286BA-49C0-26D5-B6FD-9D085D0A0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469508"/>
            <a:ext cx="7772400" cy="3820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3BA619-C5A4-0792-CAA2-9FC467DC78EA}"/>
              </a:ext>
            </a:extLst>
          </p:cNvPr>
          <p:cNvSpPr txBox="1"/>
          <p:nvPr/>
        </p:nvSpPr>
        <p:spPr>
          <a:xfrm>
            <a:off x="-207" y="6231265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Source Sans Pro"/>
                <a:ea typeface="Source Sans Pro"/>
              </a:rPr>
              <a:t>Prior work does not tie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global constraints </a:t>
            </a:r>
            <a:r>
              <a:rPr lang="en-US" sz="2800" b="1" dirty="0">
                <a:latin typeface="Source Sans Pro"/>
                <a:ea typeface="Source Sans Pro"/>
              </a:rPr>
              <a:t>to mutations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74807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48128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Language 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Local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Global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5354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monotonicity </a:t>
            </a:r>
            <a:r>
              <a:rPr lang="en-US" sz="2400" dirty="0">
                <a:latin typeface="Source Sans Pro"/>
                <a:ea typeface="Source Sans Pro"/>
              </a:rPr>
              <a:t>of constraints (i.e., a reliable means of determining how “far away” you are from satisfying a constraint)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606114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is largely inspired by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r>
              <a:rPr lang="en-US" sz="2400" dirty="0">
                <a:latin typeface="Source Sans Pro"/>
                <a:ea typeface="Source Sans Pro"/>
              </a:rPr>
              <a:t>, but with a smaller core language and native support for arbitrary SMT theories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production rules </a:t>
            </a:r>
            <a:r>
              <a:rPr lang="en-US" sz="2400" dirty="0">
                <a:latin typeface="Source Sans Pro"/>
                <a:ea typeface="Source Sans Pro"/>
              </a:rPr>
              <a:t>as in CFGs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symbolic terminals </a:t>
            </a:r>
            <a:r>
              <a:rPr lang="en-US" sz="2400" dirty="0">
                <a:latin typeface="Source Sans Pro"/>
                <a:ea typeface="Source Sans Pro"/>
              </a:rPr>
              <a:t>(in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teal</a:t>
            </a:r>
            <a:r>
              <a:rPr lang="en-US" sz="2400" dirty="0">
                <a:latin typeface="Source Sans Pro"/>
                <a:ea typeface="Source Sans Pro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annotations </a:t>
            </a:r>
            <a:r>
              <a:rPr lang="en-US" sz="2400" dirty="0">
                <a:latin typeface="Source Sans Pro"/>
                <a:ea typeface="Source Sans Pro"/>
              </a:rPr>
              <a:t>rather than concrete terminals. Capture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</a:t>
            </a:r>
            <a:r>
              <a:rPr lang="en-US" sz="2400" dirty="0">
                <a:latin typeface="Source Sans Pro"/>
                <a:ea typeface="Source Sans Pro"/>
              </a:rPr>
              <a:t>, not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concrete syntax 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Semantic Constraints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 constraints</a:t>
            </a:r>
            <a:r>
              <a:rPr lang="en-US" sz="2400" dirty="0">
                <a:latin typeface="Source Sans Pro"/>
                <a:ea typeface="Source Sans Pro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SMT-LIB</a:t>
            </a:r>
            <a:r>
              <a:rPr lang="en-US" sz="2400" dirty="0">
                <a:latin typeface="Source Sans Pro"/>
                <a:ea typeface="Source Sans Pro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Dot notation is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partial</a:t>
            </a:r>
            <a:r>
              <a:rPr lang="en-US" sz="2400" dirty="0">
                <a:latin typeface="Source Sans Pro"/>
                <a:ea typeface="Source Sans Pro"/>
              </a:rPr>
              <a:t>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implicitly universally quantified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992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Many constraints are not amenable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constraint solving </a:t>
            </a:r>
            <a:r>
              <a:rPr lang="en-US" dirty="0">
                <a:latin typeface="Source Sans Pro"/>
                <a:ea typeface="Source Sans Pro"/>
              </a:rPr>
              <a:t>with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 engine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 (no cyclic dependencies)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Cryptographic hashes, checksums, or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any computable function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738645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What are the semantics of a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grammar?</a:t>
            </a:r>
          </a:p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 trees </a:t>
            </a:r>
            <a:r>
              <a:rPr lang="en-US" sz="2400" dirty="0">
                <a:latin typeface="Source Sans Pro"/>
                <a:ea typeface="Source Sans Pro"/>
              </a:rPr>
              <a:t>denoting ADT terms, not strings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Start with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case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derivation tree </a:t>
                </a:r>
                <a:r>
                  <a:rPr lang="en-US" sz="2400" dirty="0">
                    <a:latin typeface="Source Sans Pro"/>
                    <a:ea typeface="Source Sans Pro"/>
                  </a:rPr>
                  <a:t>is an AST that may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open</a:t>
                </a:r>
                <a:r>
                  <a:rPr lang="en-US" sz="2400" dirty="0">
                    <a:latin typeface="Source Sans Pro"/>
                    <a:ea typeface="Source Sans Pro"/>
                  </a:rPr>
                  <a:t> (or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closed</a:t>
                </a:r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via random walk until closed (as in XML)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Then instantiate with concrete values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734647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the paper (full version), we formalize the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soundness</a:t>
            </a:r>
            <a:r>
              <a:rPr lang="en-US" sz="2400" dirty="0">
                <a:latin typeface="Source Sans Pro"/>
                <a:ea typeface="Source Sans Pro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refutation soundness</a:t>
            </a:r>
            <a:r>
              <a:rPr lang="en-US" sz="2400" dirty="0">
                <a:latin typeface="Source Sans Pro"/>
                <a:ea typeface="Source Sans Pro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Case study 1, 2, 3: Compare directly with prior work,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ISLa</a:t>
                </a:r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XML,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ScriptSize</a:t>
                </a:r>
                <a:r>
                  <a:rPr lang="en-US" sz="2400" dirty="0">
                    <a:latin typeface="Source Sans Pro"/>
                    <a:ea typeface="Source Sans Pro"/>
                  </a:rPr>
                  <a:t> C, and CSV input generation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Matching tags, definition before use, and column count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Measure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24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2400" dirty="0">
                    <a:latin typeface="Source Sans Pro"/>
                    <a:ea typeface="Source Sans Pro"/>
                  </a:rPr>
                  <a:t> in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24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Outperform prior work by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~10—100% </a:t>
                </a:r>
                <a:r>
                  <a:rPr lang="en-US" sz="2400" dirty="0">
                    <a:latin typeface="Source Sans Pro"/>
                    <a:ea typeface="Source Sans Pro"/>
                  </a:rPr>
                  <a:t>in all metrics, save for efficiency of CSV inputs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Case study 4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WiFi</a:t>
            </a:r>
            <a:r>
              <a:rPr lang="en-US" sz="2400" dirty="0">
                <a:latin typeface="Source Sans Pro"/>
                <a:ea typeface="Source Sans Pro"/>
              </a:rPr>
              <a:t> SAE packet input generation (SAECRED’s </a:t>
            </a:r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engine)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Handle bit vector SMT constraints not expressible in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latin typeface="Source Sans Pro"/>
              <a:ea typeface="Source Sans Pro"/>
            </a:endParaRPr>
          </a:p>
          <a:p>
            <a:r>
              <a:rPr lang="en-US" sz="2400" dirty="0">
                <a:latin typeface="Source Sans Pro"/>
                <a:ea typeface="Source Sans Pro"/>
              </a:rPr>
              <a:t>36x improvement in efficiency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Able to produce outputs for more than twice the number of grammars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(~24,000 / ~97,000</a:t>
            </a:r>
            <a:r>
              <a:rPr lang="en-US" sz="2400" dirty="0">
                <a:latin typeface="Source Sans Pro"/>
                <a:ea typeface="Source Sans Pro"/>
              </a:rPr>
              <a:t> up to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~49,000 / ~97,000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88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User-facing language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Synthesized</a:t>
            </a:r>
            <a:r>
              <a:rPr lang="en-US" sz="2000" dirty="0">
                <a:latin typeface="Source Sans Pro"/>
                <a:ea typeface="Source Sans Pro"/>
              </a:rPr>
              <a:t> and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inherited attributes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User-defined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recursive functions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Built-ins like polymorphic </a:t>
            </a: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length(.) </a:t>
            </a:r>
            <a:r>
              <a:rPr lang="en-US" sz="2000" dirty="0">
                <a:latin typeface="Source Sans Pro"/>
                <a:ea typeface="Source Sans Pro"/>
              </a:rPr>
              <a:t>function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powerful type system (e.g.,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polymorphism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search engines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AI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abstraction/refinement </a:t>
            </a:r>
            <a:r>
              <a:rPr lang="en-US" sz="2000" dirty="0">
                <a:latin typeface="Source Sans Pro"/>
                <a:ea typeface="Source Sans Pro"/>
              </a:rPr>
              <a:t>algorithms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Divide and conquer</a:t>
            </a:r>
            <a:r>
              <a:rPr lang="en-US" sz="2000" dirty="0">
                <a:latin typeface="Source Sans Pro"/>
                <a:ea typeface="Source Sans Pro"/>
              </a:rPr>
              <a:t> and/or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parallel</a:t>
            </a:r>
            <a:r>
              <a:rPr lang="en-US" sz="2000" dirty="0">
                <a:latin typeface="Source Sans Pro"/>
                <a:ea typeface="Source Sans Pro"/>
              </a:rPr>
              <a:t> approaches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CLP </a:t>
            </a:r>
            <a:r>
              <a:rPr lang="en-US" sz="2000" dirty="0">
                <a:latin typeface="Source Sans Pro"/>
                <a:ea typeface="Source Sans Pro"/>
              </a:rPr>
              <a:t>and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SMT-level finite model finding </a:t>
            </a:r>
            <a:r>
              <a:rPr lang="en-US" sz="2000" dirty="0">
                <a:latin typeface="Source Sans Pro"/>
                <a:ea typeface="Source Sans Pro"/>
              </a:rPr>
              <a:t>engines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CDCL-style </a:t>
            </a:r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backjumping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613</TotalTime>
  <Words>2177</Words>
  <Application>Microsoft Macintosh PowerPoint</Application>
  <PresentationFormat>Widescreen</PresentationFormat>
  <Paragraphs>371</Paragraphs>
  <Slides>62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Aptos</vt:lpstr>
      <vt:lpstr>Aptos Display</vt:lpstr>
      <vt:lpstr>Arial</vt:lpstr>
      <vt:lpstr>Book Antiqua</vt:lpstr>
      <vt:lpstr>Calibri</vt:lpstr>
      <vt:lpstr>Cambria Math</vt:lpstr>
      <vt:lpstr>Menlo</vt:lpstr>
      <vt:lpstr>Monaco</vt:lpstr>
      <vt:lpstr>Source Sans Pro</vt:lpstr>
      <vt:lpstr>Wingdings</vt:lpstr>
      <vt:lpstr>Office Theme</vt:lpstr>
      <vt:lpstr>Parse this! Summoning Context-Sensitive Inputs with Goblin</vt:lpstr>
      <vt:lpstr>Problem Introduction</vt:lpstr>
      <vt:lpstr>Roadmap</vt:lpstr>
      <vt:lpstr>Roadmap</vt:lpstr>
      <vt:lpstr>Prior Work</vt:lpstr>
      <vt:lpstr>Wishlist</vt:lpstr>
      <vt:lpstr>Context-Free Input Generation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Structure-Aware Mutations</vt:lpstr>
      <vt:lpstr>Prior Work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786</cp:revision>
  <dcterms:created xsi:type="dcterms:W3CDTF">2026-03-16T17:02:12Z</dcterms:created>
  <dcterms:modified xsi:type="dcterms:W3CDTF">2026-04-01T21:19:45Z</dcterms:modified>
</cp:coreProperties>
</file>