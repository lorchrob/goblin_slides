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82"/>
  </p:notesMasterIdLst>
  <p:sldIdLst>
    <p:sldId id="256" r:id="rId2"/>
    <p:sldId id="379" r:id="rId3"/>
    <p:sldId id="382" r:id="rId4"/>
    <p:sldId id="403" r:id="rId5"/>
    <p:sldId id="318" r:id="rId6"/>
    <p:sldId id="383" r:id="rId7"/>
    <p:sldId id="324" r:id="rId8"/>
    <p:sldId id="384" r:id="rId9"/>
    <p:sldId id="402" r:id="rId10"/>
    <p:sldId id="408" r:id="rId11"/>
    <p:sldId id="386" r:id="rId12"/>
    <p:sldId id="395" r:id="rId13"/>
    <p:sldId id="387" r:id="rId14"/>
    <p:sldId id="398" r:id="rId15"/>
    <p:sldId id="397" r:id="rId16"/>
    <p:sldId id="332" r:id="rId17"/>
    <p:sldId id="331" r:id="rId18"/>
    <p:sldId id="389" r:id="rId19"/>
    <p:sldId id="390" r:id="rId20"/>
    <p:sldId id="388" r:id="rId21"/>
    <p:sldId id="391" r:id="rId22"/>
    <p:sldId id="322" r:id="rId23"/>
    <p:sldId id="323" r:id="rId24"/>
    <p:sldId id="325" r:id="rId25"/>
    <p:sldId id="326" r:id="rId26"/>
    <p:sldId id="327" r:id="rId27"/>
    <p:sldId id="368" r:id="rId28"/>
    <p:sldId id="369" r:id="rId29"/>
    <p:sldId id="377" r:id="rId30"/>
    <p:sldId id="328" r:id="rId31"/>
    <p:sldId id="329" r:id="rId32"/>
    <p:sldId id="321" r:id="rId33"/>
    <p:sldId id="338" r:id="rId34"/>
    <p:sldId id="339" r:id="rId35"/>
    <p:sldId id="404" r:id="rId36"/>
    <p:sldId id="405" r:id="rId37"/>
    <p:sldId id="406" r:id="rId38"/>
    <p:sldId id="344" r:id="rId39"/>
    <p:sldId id="407" r:id="rId40"/>
    <p:sldId id="345" r:id="rId41"/>
    <p:sldId id="333" r:id="rId42"/>
    <p:sldId id="346" r:id="rId43"/>
    <p:sldId id="347" r:id="rId44"/>
    <p:sldId id="348" r:id="rId45"/>
    <p:sldId id="349" r:id="rId46"/>
    <p:sldId id="350" r:id="rId47"/>
    <p:sldId id="334" r:id="rId48"/>
    <p:sldId id="351" r:id="rId49"/>
    <p:sldId id="356" r:id="rId50"/>
    <p:sldId id="357" r:id="rId51"/>
    <p:sldId id="358" r:id="rId52"/>
    <p:sldId id="359" r:id="rId53"/>
    <p:sldId id="360" r:id="rId54"/>
    <p:sldId id="361" r:id="rId55"/>
    <p:sldId id="362" r:id="rId56"/>
    <p:sldId id="363" r:id="rId57"/>
    <p:sldId id="364" r:id="rId58"/>
    <p:sldId id="365" r:id="rId59"/>
    <p:sldId id="393" r:id="rId60"/>
    <p:sldId id="394" r:id="rId61"/>
    <p:sldId id="409" r:id="rId62"/>
    <p:sldId id="401" r:id="rId63"/>
    <p:sldId id="410" r:id="rId64"/>
    <p:sldId id="366" r:id="rId65"/>
    <p:sldId id="367" r:id="rId66"/>
    <p:sldId id="399" r:id="rId67"/>
    <p:sldId id="352" r:id="rId68"/>
    <p:sldId id="336" r:id="rId69"/>
    <p:sldId id="353" r:id="rId70"/>
    <p:sldId id="337" r:id="rId71"/>
    <p:sldId id="355" r:id="rId72"/>
    <p:sldId id="300" r:id="rId73"/>
    <p:sldId id="317" r:id="rId74"/>
    <p:sldId id="370" r:id="rId75"/>
    <p:sldId id="371" r:id="rId76"/>
    <p:sldId id="372" r:id="rId77"/>
    <p:sldId id="373" r:id="rId78"/>
    <p:sldId id="374" r:id="rId79"/>
    <p:sldId id="375" r:id="rId80"/>
    <p:sldId id="376" r:id="rId8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0EFFF"/>
    <a:srgbClr val="008080"/>
    <a:srgbClr val="15BBC0"/>
    <a:srgbClr val="60E3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20F826-5AE4-1C40-1D2A-DC633039E620}" v="294" dt="2026-03-16T17:08:32.134"/>
    <p1510:client id="{5BAA2FE9-2AE3-1C6F-7B69-0FE2221A7331}" v="4365" dt="2026-03-17T00:27:49.150"/>
    <p1510:client id="{B02DEEF2-F061-53BA-C87A-FF5908ACECB1}" v="536" dt="2026-03-17T15:38:34.3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73" autoAdjust="0"/>
    <p:restoredTop sz="76623"/>
  </p:normalViewPr>
  <p:slideViewPr>
    <p:cSldViewPr snapToGrid="0">
      <p:cViewPr>
        <p:scale>
          <a:sx n="113" d="100"/>
          <a:sy n="113" d="100"/>
        </p:scale>
        <p:origin x="1416" y="3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presProps" Target="presProps.xml"/><Relationship Id="rId88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microsoft.com/office/2016/11/relationships/changesInfo" Target="changesInfos/changesInfo1.xml"/><Relationship Id="rId61" Type="http://schemas.openxmlformats.org/officeDocument/2006/relationships/slide" Target="slides/slide60.xml"/><Relationship Id="rId82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rch, Robert M" userId="S::rlorch@uiowa.edu::fab7d2ca-73fd-43ac-88ae-e4267d71ff13" providerId="AD" clId="Web-{B02DEEF2-F061-53BA-C87A-FF5908ACECB1}"/>
    <pc:docChg chg="addSld modSld sldOrd">
      <pc:chgData name="Lorch, Robert M" userId="S::rlorch@uiowa.edu::fab7d2ca-73fd-43ac-88ae-e4267d71ff13" providerId="AD" clId="Web-{B02DEEF2-F061-53BA-C87A-FF5908ACECB1}" dt="2026-03-17T15:38:34.404" v="537" actId="20577"/>
      <pc:docMkLst>
        <pc:docMk/>
      </pc:docMkLst>
      <pc:sldChg chg="modSp">
        <pc:chgData name="Lorch, Robert M" userId="S::rlorch@uiowa.edu::fab7d2ca-73fd-43ac-88ae-e4267d71ff13" providerId="AD" clId="Web-{B02DEEF2-F061-53BA-C87A-FF5908ACECB1}" dt="2026-03-17T15:38:34.404" v="537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B02DEEF2-F061-53BA-C87A-FF5908ACECB1}" dt="2026-03-17T15:38:34.404" v="537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addSp delSp modSp">
        <pc:chgData name="Lorch, Robert M" userId="S::rlorch@uiowa.edu::fab7d2ca-73fd-43ac-88ae-e4267d71ff13" providerId="AD" clId="Web-{B02DEEF2-F061-53BA-C87A-FF5908ACECB1}" dt="2026-03-17T14:35:09.170" v="175" actId="20577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B02DEEF2-F061-53BA-C87A-FF5908ACECB1}" dt="2026-03-17T14:35:09.170" v="175" actId="20577"/>
          <ac:spMkLst>
            <pc:docMk/>
            <pc:sldMk cId="2740590959" sldId="261"/>
            <ac:spMk id="3" creationId="{AF5CADC4-C336-F3FF-CB42-A10E1EA9086C}"/>
          </ac:spMkLst>
        </pc:spChg>
        <pc:picChg chg="add del">
          <ac:chgData name="Lorch, Robert M" userId="S::rlorch@uiowa.edu::fab7d2ca-73fd-43ac-88ae-e4267d71ff13" providerId="AD" clId="Web-{B02DEEF2-F061-53BA-C87A-FF5908ACECB1}" dt="2026-03-17T14:20:00.510" v="8"/>
          <ac:picMkLst>
            <pc:docMk/>
            <pc:sldMk cId="2740590959" sldId="261"/>
            <ac:picMk id="6" creationId="{7FE97D8E-A90F-03C7-7BA6-F2B35D21B7C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33:08.167" v="114"/>
          <ac:picMkLst>
            <pc:docMk/>
            <pc:sldMk cId="2740590959" sldId="261"/>
            <ac:picMk id="8" creationId="{C735EF69-6110-6416-D067-99A8BC37A0D4}"/>
          </ac:picMkLst>
        </pc:picChg>
        <pc:picChg chg="add del mod">
          <ac:chgData name="Lorch, Robert M" userId="S::rlorch@uiowa.edu::fab7d2ca-73fd-43ac-88ae-e4267d71ff13" providerId="AD" clId="Web-{B02DEEF2-F061-53BA-C87A-FF5908ACECB1}" dt="2026-03-17T14:21:19.089" v="23"/>
          <ac:picMkLst>
            <pc:docMk/>
            <pc:sldMk cId="2740590959" sldId="261"/>
            <ac:picMk id="9" creationId="{B599509D-7DB0-B9FA-4BF6-3578B4277F9C}"/>
          </ac:picMkLst>
        </pc:picChg>
      </pc:sldChg>
      <pc:sldChg chg="modSp">
        <pc:chgData name="Lorch, Robert M" userId="S::rlorch@uiowa.edu::fab7d2ca-73fd-43ac-88ae-e4267d71ff13" providerId="AD" clId="Web-{B02DEEF2-F061-53BA-C87A-FF5908ACECB1}" dt="2026-03-17T14:24:27.205" v="4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B02DEEF2-F061-53BA-C87A-FF5908ACECB1}" dt="2026-03-17T14:24:27.205" v="4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modSp">
        <pc:chgData name="Lorch, Robert M" userId="S::rlorch@uiowa.edu::fab7d2ca-73fd-43ac-88ae-e4267d71ff13" providerId="AD" clId="Web-{B02DEEF2-F061-53BA-C87A-FF5908ACECB1}" dt="2026-03-17T14:33:26.808" v="119"/>
        <pc:sldMkLst>
          <pc:docMk/>
          <pc:sldMk cId="2589333419" sldId="278"/>
        </pc:sldMkLst>
        <pc:picChg chg="mod modCrop">
          <ac:chgData name="Lorch, Robert M" userId="S::rlorch@uiowa.edu::fab7d2ca-73fd-43ac-88ae-e4267d71ff13" providerId="AD" clId="Web-{B02DEEF2-F061-53BA-C87A-FF5908ACECB1}" dt="2026-03-17T14:33:26.808" v="119"/>
          <ac:picMkLst>
            <pc:docMk/>
            <pc:sldMk cId="2589333419" sldId="278"/>
            <ac:picMk id="5" creationId="{E24F264D-0BAD-E1FE-CF19-8575F2BBE2DD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25.498" v="181" actId="1076"/>
        <pc:sldMkLst>
          <pc:docMk/>
          <pc:sldMk cId="1893583948" sldId="279"/>
        </pc:sldMkLst>
        <pc:spChg chg="mod">
          <ac:chgData name="Lorch, Robert M" userId="S::rlorch@uiowa.edu::fab7d2ca-73fd-43ac-88ae-e4267d71ff13" providerId="AD" clId="Web-{B02DEEF2-F061-53BA-C87A-FF5908ACECB1}" dt="2026-03-17T14:35:14.810" v="177" actId="20577"/>
          <ac:spMkLst>
            <pc:docMk/>
            <pc:sldMk cId="1893583948" sldId="279"/>
            <ac:spMk id="3" creationId="{2AF93952-35F0-AF2E-6FA0-F11415240F8A}"/>
          </ac:spMkLst>
        </pc:spChg>
        <pc:picChg chg="add del">
          <ac:chgData name="Lorch, Robert M" userId="S::rlorch@uiowa.edu::fab7d2ca-73fd-43ac-88ae-e4267d71ff13" providerId="AD" clId="Web-{B02DEEF2-F061-53BA-C87A-FF5908ACECB1}" dt="2026-03-17T14:35:16.232" v="179"/>
          <ac:picMkLst>
            <pc:docMk/>
            <pc:sldMk cId="1893583948" sldId="279"/>
            <ac:picMk id="6" creationId="{B0EBF5C2-8ECD-BDE7-D28F-9C85B6E545D9}"/>
          </ac:picMkLst>
        </pc:picChg>
        <pc:picChg chg="add mod">
          <ac:chgData name="Lorch, Robert M" userId="S::rlorch@uiowa.edu::fab7d2ca-73fd-43ac-88ae-e4267d71ff13" providerId="AD" clId="Web-{B02DEEF2-F061-53BA-C87A-FF5908ACECB1}" dt="2026-03-17T14:35:25.498" v="181" actId="1076"/>
          <ac:picMkLst>
            <pc:docMk/>
            <pc:sldMk cId="1893583948" sldId="279"/>
            <ac:picMk id="8" creationId="{01777698-7B5C-C18A-E8C8-5DCEEE8F396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03.466" v="172" actId="20577"/>
        <pc:sldMkLst>
          <pc:docMk/>
          <pc:sldMk cId="2182094920" sldId="280"/>
        </pc:sldMkLst>
        <pc:spChg chg="mod">
          <ac:chgData name="Lorch, Robert M" userId="S::rlorch@uiowa.edu::fab7d2ca-73fd-43ac-88ae-e4267d71ff13" providerId="AD" clId="Web-{B02DEEF2-F061-53BA-C87A-FF5908ACECB1}" dt="2026-03-17T14:35:03.466" v="172" actId="20577"/>
          <ac:spMkLst>
            <pc:docMk/>
            <pc:sldMk cId="2182094920" sldId="280"/>
            <ac:spMk id="3" creationId="{31AFCCB9-084E-F500-EA8B-C6F0A361EE74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4.204" v="76"/>
          <ac:spMkLst>
            <pc:docMk/>
            <pc:sldMk cId="2182094920" sldId="280"/>
            <ac:spMk id="6" creationId="{743EFDA1-7B88-7487-B351-DB1BEF951D96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0.438" v="75"/>
          <ac:spMkLst>
            <pc:docMk/>
            <pc:sldMk cId="2182094920" sldId="280"/>
            <ac:spMk id="7" creationId="{C4BB3A4E-47FA-4365-F147-45A83A332015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1.254" v="83"/>
          <ac:spMkLst>
            <pc:docMk/>
            <pc:sldMk cId="2182094920" sldId="280"/>
            <ac:spMk id="10" creationId="{DEA188B3-2C76-1245-5117-08DDC482597B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4.785" v="85" actId="1076"/>
          <ac:spMkLst>
            <pc:docMk/>
            <pc:sldMk cId="2182094920" sldId="280"/>
            <ac:spMk id="11" creationId="{16834DC1-C074-A677-509A-E515F324237E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3.615" v="92" actId="1076"/>
          <ac:spMkLst>
            <pc:docMk/>
            <pc:sldMk cId="2182094920" sldId="280"/>
            <ac:spMk id="12" creationId="{F9B50925-B04A-7DE8-B6C5-384D761DDABC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8.443" v="94" actId="1076"/>
          <ac:spMkLst>
            <pc:docMk/>
            <pc:sldMk cId="2182094920" sldId="280"/>
            <ac:spMk id="13" creationId="{4DE95B5E-2141-3EB1-D16B-6463926F0EF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28:00.032" v="74"/>
          <ac:picMkLst>
            <pc:docMk/>
            <pc:sldMk cId="2182094920" sldId="280"/>
            <ac:picMk id="5" creationId="{47C64D53-0BC6-2BEE-53C4-B7E80BCA675A}"/>
          </ac:picMkLst>
        </pc:picChg>
        <pc:picChg chg="del">
          <ac:chgData name="Lorch, Robert M" userId="S::rlorch@uiowa.edu::fab7d2ca-73fd-43ac-88ae-e4267d71ff13" providerId="AD" clId="Web-{B02DEEF2-F061-53BA-C87A-FF5908ACECB1}" dt="2026-03-17T14:21:20.761" v="24"/>
          <ac:picMkLst>
            <pc:docMk/>
            <pc:sldMk cId="2182094920" sldId="280"/>
            <ac:picMk id="8" creationId="{F7021294-FAAE-0CDF-7494-22F8AE68DEE9}"/>
          </ac:picMkLst>
        </pc:picChg>
        <pc:picChg chg="mod modCrop">
          <ac:chgData name="Lorch, Robert M" userId="S::rlorch@uiowa.edu::fab7d2ca-73fd-43ac-88ae-e4267d71ff13" providerId="AD" clId="Web-{B02DEEF2-F061-53BA-C87A-FF5908ACECB1}" dt="2026-03-17T14:32:49.354" v="110"/>
          <ac:picMkLst>
            <pc:docMk/>
            <pc:sldMk cId="2182094920" sldId="280"/>
            <ac:picMk id="9" creationId="{A49E92C4-6F3A-185A-2DDB-FD97B92D29D0}"/>
          </ac:picMkLst>
        </pc:picChg>
      </pc:sldChg>
      <pc:sldChg chg="delSp modSp add ord replId">
        <pc:chgData name="Lorch, Robert M" userId="S::rlorch@uiowa.edu::fab7d2ca-73fd-43ac-88ae-e4267d71ff13" providerId="AD" clId="Web-{B02DEEF2-F061-53BA-C87A-FF5908ACECB1}" dt="2026-03-17T14:35:05.107" v="173" actId="20577"/>
        <pc:sldMkLst>
          <pc:docMk/>
          <pc:sldMk cId="876203954" sldId="281"/>
        </pc:sldMkLst>
        <pc:spChg chg="mod">
          <ac:chgData name="Lorch, Robert M" userId="S::rlorch@uiowa.edu::fab7d2ca-73fd-43ac-88ae-e4267d71ff13" providerId="AD" clId="Web-{B02DEEF2-F061-53BA-C87A-FF5908ACECB1}" dt="2026-03-17T14:35:05.107" v="173" actId="20577"/>
          <ac:spMkLst>
            <pc:docMk/>
            <pc:sldMk cId="876203954" sldId="281"/>
            <ac:spMk id="3" creationId="{A52826FA-B668-1032-DAC6-3AF7A74F38F0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100"/>
          <ac:spMkLst>
            <pc:docMk/>
            <pc:sldMk cId="876203954" sldId="281"/>
            <ac:spMk id="10" creationId="{1469F5A9-E764-049C-D59B-647446E5116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9"/>
          <ac:spMkLst>
            <pc:docMk/>
            <pc:sldMk cId="876203954" sldId="281"/>
            <ac:spMk id="11" creationId="{DDB509CC-1BEE-F286-8DA9-9EB1AAC1AE5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8"/>
          <ac:spMkLst>
            <pc:docMk/>
            <pc:sldMk cId="876203954" sldId="281"/>
            <ac:spMk id="12" creationId="{58B2F6B3-2162-1F83-3EC9-01356D985D71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7"/>
          <ac:spMkLst>
            <pc:docMk/>
            <pc:sldMk cId="876203954" sldId="281"/>
            <ac:spMk id="13" creationId="{D12D654D-9436-5AAF-E208-46DD6BD246D7}"/>
          </ac:spMkLst>
        </pc:spChg>
        <pc:picChg chg="mod modCrop">
          <ac:chgData name="Lorch, Robert M" userId="S::rlorch@uiowa.edu::fab7d2ca-73fd-43ac-88ae-e4267d71ff13" providerId="AD" clId="Web-{B02DEEF2-F061-53BA-C87A-FF5908ACECB1}" dt="2026-03-17T14:32:59.745" v="112"/>
          <ac:picMkLst>
            <pc:docMk/>
            <pc:sldMk cId="876203954" sldId="281"/>
            <ac:picMk id="9" creationId="{D93CA980-B60C-BF94-9DD3-7F4A315CF533}"/>
          </ac:picMkLst>
        </pc:picChg>
      </pc:sldChg>
      <pc:sldChg chg="addSp modSp add replId">
        <pc:chgData name="Lorch, Robert M" userId="S::rlorch@uiowa.edu::fab7d2ca-73fd-43ac-88ae-e4267d71ff13" providerId="AD" clId="Web-{B02DEEF2-F061-53BA-C87A-FF5908ACECB1}" dt="2026-03-17T15:02:58.718" v="412" actId="1076"/>
        <pc:sldMkLst>
          <pc:docMk/>
          <pc:sldMk cId="3695412493" sldId="282"/>
        </pc:sldMkLst>
        <pc:spChg chg="mod">
          <ac:chgData name="Lorch, Robert M" userId="S::rlorch@uiowa.edu::fab7d2ca-73fd-43ac-88ae-e4267d71ff13" providerId="AD" clId="Web-{B02DEEF2-F061-53BA-C87A-FF5908ACECB1}" dt="2026-03-17T14:57:45.445" v="407" actId="20577"/>
          <ac:spMkLst>
            <pc:docMk/>
            <pc:sldMk cId="3695412493" sldId="282"/>
            <ac:spMk id="3" creationId="{C80BA38A-6F1B-F268-C2CE-A682BBAF9031}"/>
          </ac:spMkLst>
        </pc:spChg>
        <pc:picChg chg="add mod modCrop">
          <ac:chgData name="Lorch, Robert M" userId="S::rlorch@uiowa.edu::fab7d2ca-73fd-43ac-88ae-e4267d71ff13" providerId="AD" clId="Web-{B02DEEF2-F061-53BA-C87A-FF5908ACECB1}" dt="2026-03-17T15:02:58.718" v="412" actId="1076"/>
          <ac:picMkLst>
            <pc:docMk/>
            <pc:sldMk cId="3695412493" sldId="282"/>
            <ac:picMk id="5" creationId="{EBC644CB-0768-F3D6-988F-8DEC1E1C7EE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22.554" v="398" actId="1076"/>
          <ac:picMkLst>
            <pc:docMk/>
            <pc:sldMk cId="3695412493" sldId="282"/>
            <ac:picMk id="6" creationId="{602A8E75-24D2-603B-0A12-6981EB7699B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30.398" v="401" actId="1076"/>
          <ac:picMkLst>
            <pc:docMk/>
            <pc:sldMk cId="3695412493" sldId="282"/>
            <ac:picMk id="7" creationId="{9F046185-4F73-74F7-AC53-9C81E5572457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58.197" v="409" actId="1076"/>
          <ac:picMkLst>
            <pc:docMk/>
            <pc:sldMk cId="3695412493" sldId="282"/>
            <ac:picMk id="8" creationId="{1994A92C-CBEC-02AC-F137-771FA8E46C8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20:28.255" v="484" actId="20577"/>
        <pc:sldMkLst>
          <pc:docMk/>
          <pc:sldMk cId="1578314425" sldId="283"/>
        </pc:sldMkLst>
        <pc:spChg chg="mod">
          <ac:chgData name="Lorch, Robert M" userId="S::rlorch@uiowa.edu::fab7d2ca-73fd-43ac-88ae-e4267d71ff13" providerId="AD" clId="Web-{B02DEEF2-F061-53BA-C87A-FF5908ACECB1}" dt="2026-03-17T14:56:50.554" v="392" actId="20577"/>
          <ac:spMkLst>
            <pc:docMk/>
            <pc:sldMk cId="1578314425" sldId="283"/>
            <ac:spMk id="2" creationId="{27BC1D01-275B-5B1A-5B4C-BF551167A338}"/>
          </ac:spMkLst>
        </pc:spChg>
        <pc:spChg chg="mod">
          <ac:chgData name="Lorch, Robert M" userId="S::rlorch@uiowa.edu::fab7d2ca-73fd-43ac-88ae-e4267d71ff13" providerId="AD" clId="Web-{B02DEEF2-F061-53BA-C87A-FF5908ACECB1}" dt="2026-03-17T15:20:28.255" v="484" actId="20577"/>
          <ac:spMkLst>
            <pc:docMk/>
            <pc:sldMk cId="1578314425" sldId="283"/>
            <ac:spMk id="3" creationId="{AEEE72D8-3650-8C68-6BCA-AD446BEAB69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56:36.648" v="391"/>
          <ac:picMkLst>
            <pc:docMk/>
            <pc:sldMk cId="1578314425" sldId="283"/>
            <ac:picMk id="5" creationId="{C31C4A7B-277D-C3A4-C1E6-52E08865CEC8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33:26.387" v="492" actId="1076"/>
        <pc:sldMkLst>
          <pc:docMk/>
          <pc:sldMk cId="3083722524" sldId="284"/>
        </pc:sldMkLst>
        <pc:spChg chg="mod">
          <ac:chgData name="Lorch, Robert M" userId="S::rlorch@uiowa.edu::fab7d2ca-73fd-43ac-88ae-e4267d71ff13" providerId="AD" clId="Web-{B02DEEF2-F061-53BA-C87A-FF5908ACECB1}" dt="2026-03-17T14:56:18.976" v="390" actId="20577"/>
          <ac:spMkLst>
            <pc:docMk/>
            <pc:sldMk cId="3083722524" sldId="284"/>
            <ac:spMk id="2" creationId="{A21CA72D-3DB6-EEEC-F530-38F354DB2108}"/>
          </ac:spMkLst>
        </pc:spChg>
        <pc:spChg chg="mod">
          <ac:chgData name="Lorch, Robert M" userId="S::rlorch@uiowa.edu::fab7d2ca-73fd-43ac-88ae-e4267d71ff13" providerId="AD" clId="Web-{B02DEEF2-F061-53BA-C87A-FF5908ACECB1}" dt="2026-03-17T15:04:04.970" v="432" actId="20577"/>
          <ac:spMkLst>
            <pc:docMk/>
            <pc:sldMk cId="3083722524" sldId="284"/>
            <ac:spMk id="3" creationId="{8B030B31-7B36-0E59-A9F1-9E72792BE172}"/>
          </ac:spMkLst>
        </pc:spChg>
        <pc:picChg chg="del">
          <ac:chgData name="Lorch, Robert M" userId="S::rlorch@uiowa.edu::fab7d2ca-73fd-43ac-88ae-e4267d71ff13" providerId="AD" clId="Web-{B02DEEF2-F061-53BA-C87A-FF5908ACECB1}" dt="2026-03-17T14:49:54.047" v="324"/>
          <ac:picMkLst>
            <pc:docMk/>
            <pc:sldMk cId="3083722524" sldId="284"/>
            <ac:picMk id="5" creationId="{63386BA8-9E47-6E14-BA9B-02848EEC451A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3"/>
          <ac:picMkLst>
            <pc:docMk/>
            <pc:sldMk cId="3083722524" sldId="284"/>
            <ac:picMk id="6" creationId="{41F8A0C8-80A6-DB69-BE0C-1CA1BF6EBD5F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2"/>
          <ac:picMkLst>
            <pc:docMk/>
            <pc:sldMk cId="3083722524" sldId="284"/>
            <ac:picMk id="7" creationId="{EFAC6531-9C39-3B16-98DF-A295C90AF6CC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1"/>
          <ac:picMkLst>
            <pc:docMk/>
            <pc:sldMk cId="3083722524" sldId="284"/>
            <ac:picMk id="8" creationId="{14E26DAE-3C77-61E2-F02D-E45F8D2E325C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4:52:27.894" v="334"/>
          <ac:picMkLst>
            <pc:docMk/>
            <pc:sldMk cId="3083722524" sldId="284"/>
            <ac:picMk id="10" creationId="{55FCA19D-DFF3-D808-EC34-9B2BB0E1E6B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5:04:07.736" v="433" actId="1076"/>
          <ac:picMkLst>
            <pc:docMk/>
            <pc:sldMk cId="3083722524" sldId="284"/>
            <ac:picMk id="11" creationId="{C90B600F-7E09-33F1-3529-977C40CDC773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5:33:10.386" v="486"/>
          <ac:picMkLst>
            <pc:docMk/>
            <pc:sldMk cId="3083722524" sldId="284"/>
            <ac:picMk id="12" creationId="{EA1DCA36-6E80-5978-627B-C730443FD38C}"/>
          </ac:picMkLst>
        </pc:picChg>
        <pc:picChg chg="add mod">
          <ac:chgData name="Lorch, Robert M" userId="S::rlorch@uiowa.edu::fab7d2ca-73fd-43ac-88ae-e4267d71ff13" providerId="AD" clId="Web-{B02DEEF2-F061-53BA-C87A-FF5908ACECB1}" dt="2026-03-17T15:33:26.387" v="492" actId="1076"/>
          <ac:picMkLst>
            <pc:docMk/>
            <pc:sldMk cId="3083722524" sldId="284"/>
            <ac:picMk id="13" creationId="{6D084651-EE8D-F9C4-AA9F-5B59EA00E186}"/>
          </ac:picMkLst>
        </pc:picChg>
      </pc:sldChg>
    </pc:docChg>
  </pc:docChgLst>
  <pc:docChgLst>
    <pc:chgData name="Lorch, Robert M" userId="S::rlorch@uiowa.edu::fab7d2ca-73fd-43ac-88ae-e4267d71ff13" providerId="AD" clId="Web-{5BAA2FE9-2AE3-1C6F-7B69-0FE2221A7331}"/>
    <pc:docChg chg="mod addSld delSld modSld sldOrd addMainMaster delMainMaster">
      <pc:chgData name="Lorch, Robert M" userId="S::rlorch@uiowa.edu::fab7d2ca-73fd-43ac-88ae-e4267d71ff13" providerId="AD" clId="Web-{5BAA2FE9-2AE3-1C6F-7B69-0FE2221A7331}" dt="2026-03-17T00:27:49.150" v="4419" actId="20577"/>
      <pc:docMkLst>
        <pc:docMk/>
      </pc:docMkLst>
      <pc:sldChg chg="modSp mod modClrScheme chgLayout">
        <pc:chgData name="Lorch, Robert M" userId="S::rlorch@uiowa.edu::fab7d2ca-73fd-43ac-88ae-e4267d71ff13" providerId="AD" clId="Web-{5BAA2FE9-2AE3-1C6F-7B69-0FE2221A7331}" dt="2026-03-16T21:53:48.846" v="122" actId="20577"/>
        <pc:sldMkLst>
          <pc:docMk/>
          <pc:sldMk cId="109857222" sldId="256"/>
        </pc:sldMkLst>
        <pc:spChg chg="mod ord">
          <ac:chgData name="Lorch, Robert M" userId="S::rlorch@uiowa.edu::fab7d2ca-73fd-43ac-88ae-e4267d71ff13" providerId="AD" clId="Web-{5BAA2FE9-2AE3-1C6F-7B69-0FE2221A7331}" dt="2026-03-16T21:52:42.734" v="93" actId="20577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Lorch, Robert M" userId="S::rlorch@uiowa.edu::fab7d2ca-73fd-43ac-88ae-e4267d71ff13" providerId="AD" clId="Web-{5BAA2FE9-2AE3-1C6F-7B69-0FE2221A7331}" dt="2026-03-16T21:53:48.846" v="122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 mod modClrScheme chgLayout">
        <pc:chgData name="Lorch, Robert M" userId="S::rlorch@uiowa.edu::fab7d2ca-73fd-43ac-88ae-e4267d71ff13" providerId="AD" clId="Web-{5BAA2FE9-2AE3-1C6F-7B69-0FE2221A7331}" dt="2026-03-16T23:56:27.968" v="3394" actId="20577"/>
        <pc:sldMkLst>
          <pc:docMk/>
          <pc:sldMk cId="1572822883" sldId="257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1572822883" sldId="257"/>
            <ac:spMk id="2" creationId="{B973628D-B4CD-4C8A-B76A-1315567874F0}"/>
          </ac:spMkLst>
        </pc:spChg>
        <pc:spChg chg="mod ord">
          <ac:chgData name="Lorch, Robert M" userId="S::rlorch@uiowa.edu::fab7d2ca-73fd-43ac-88ae-e4267d71ff13" providerId="AD" clId="Web-{5BAA2FE9-2AE3-1C6F-7B69-0FE2221A7331}" dt="2026-03-16T23:56:27.968" v="3394" actId="20577"/>
          <ac:spMkLst>
            <pc:docMk/>
            <pc:sldMk cId="1572822883" sldId="257"/>
            <ac:spMk id="3" creationId="{962115ED-9912-DA77-67F5-5CDAA597005B}"/>
          </ac:spMkLst>
        </pc:spChg>
      </pc:sldChg>
      <pc:sldChg chg="add del replId">
        <pc:chgData name="Lorch, Robert M" userId="S::rlorch@uiowa.edu::fab7d2ca-73fd-43ac-88ae-e4267d71ff13" providerId="AD" clId="Web-{5BAA2FE9-2AE3-1C6F-7B69-0FE2221A7331}" dt="2026-03-16T21:43:31.362" v="38"/>
        <pc:sldMkLst>
          <pc:docMk/>
          <pc:sldMk cId="474723863" sldId="258"/>
        </pc:sldMkLst>
      </pc:sldChg>
      <pc:sldChg chg="modSp new del mod modClrScheme chgLayout">
        <pc:chgData name="Lorch, Robert M" userId="S::rlorch@uiowa.edu::fab7d2ca-73fd-43ac-88ae-e4267d71ff13" providerId="AD" clId="Web-{5BAA2FE9-2AE3-1C6F-7B69-0FE2221A7331}" dt="2026-03-16T21:54:04.018" v="132"/>
        <pc:sldMkLst>
          <pc:docMk/>
          <pc:sldMk cId="4139694835" sldId="258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2" creationId="{21A54794-2CEE-C009-941E-FD0159BACCFF}"/>
          </ac:spMkLst>
        </pc:spChg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3" creationId="{EED0854E-4B26-C12F-5984-841F06E5148D}"/>
          </ac:spMkLst>
        </pc:spChg>
      </pc:sldChg>
      <pc:sldChg chg="new del">
        <pc:chgData name="Lorch, Robert M" userId="S::rlorch@uiowa.edu::fab7d2ca-73fd-43ac-88ae-e4267d71ff13" providerId="AD" clId="Web-{5BAA2FE9-2AE3-1C6F-7B69-0FE2221A7331}" dt="2026-03-16T21:47:49.204" v="57"/>
        <pc:sldMkLst>
          <pc:docMk/>
          <pc:sldMk cId="2514177281" sldId="259"/>
        </pc:sldMkLst>
      </pc:sldChg>
      <pc:sldChg chg="addSp modSp add ord replId">
        <pc:chgData name="Lorch, Robert M" userId="S::rlorch@uiowa.edu::fab7d2ca-73fd-43ac-88ae-e4267d71ff13" providerId="AD" clId="Web-{5BAA2FE9-2AE3-1C6F-7B69-0FE2221A7331}" dt="2026-03-16T21:52:30.593" v="92"/>
        <pc:sldMkLst>
          <pc:docMk/>
          <pc:sldMk cId="3893009471" sldId="259"/>
        </pc:sldMkLst>
        <pc:spChg chg="mod">
          <ac:chgData name="Lorch, Robert M" userId="S::rlorch@uiowa.edu::fab7d2ca-73fd-43ac-88ae-e4267d71ff13" providerId="AD" clId="Web-{5BAA2FE9-2AE3-1C6F-7B69-0FE2221A7331}" dt="2026-03-16T21:52:26.702" v="91" actId="20577"/>
          <ac:spMkLst>
            <pc:docMk/>
            <pc:sldMk cId="3893009471" sldId="259"/>
            <ac:spMk id="2" creationId="{14A76D21-2912-7FB4-938B-6F91AE4A34C8}"/>
          </ac:spMkLst>
        </pc:spChg>
        <pc:spChg chg="mod">
          <ac:chgData name="Lorch, Robert M" userId="S::rlorch@uiowa.edu::fab7d2ca-73fd-43ac-88ae-e4267d71ff13" providerId="AD" clId="Web-{5BAA2FE9-2AE3-1C6F-7B69-0FE2221A7331}" dt="2026-03-16T21:51:56.858" v="86" actId="20577"/>
          <ac:spMkLst>
            <pc:docMk/>
            <pc:sldMk cId="3893009471" sldId="259"/>
            <ac:spMk id="3" creationId="{79199D7C-F5B0-7CD6-91DA-759916D20D7F}"/>
          </ac:spMkLst>
        </pc:spChg>
        <pc:spChg chg="add mod">
          <ac:chgData name="Lorch, Robert M" userId="S::rlorch@uiowa.edu::fab7d2ca-73fd-43ac-88ae-e4267d71ff13" providerId="AD" clId="Web-{5BAA2FE9-2AE3-1C6F-7B69-0FE2221A7331}" dt="2026-03-16T21:52:30.593" v="92"/>
          <ac:spMkLst>
            <pc:docMk/>
            <pc:sldMk cId="3893009471" sldId="259"/>
            <ac:spMk id="4" creationId="{22711865-C81F-F8BC-09CB-FA46AAD3DEAF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24.713" v="1414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5BAA2FE9-2AE3-1C6F-7B69-0FE2221A7331}" dt="2026-03-16T21:54:01.174" v="131" actId="20577"/>
          <ac:spMkLst>
            <pc:docMk/>
            <pc:sldMk cId="3827240189" sldId="260"/>
            <ac:spMk id="2" creationId="{53504503-9F41-4A11-446B-56A49286A5B6}"/>
          </ac:spMkLst>
        </pc:spChg>
        <pc:spChg chg="mod">
          <ac:chgData name="Lorch, Robert M" userId="S::rlorch@uiowa.edu::fab7d2ca-73fd-43ac-88ae-e4267d71ff13" providerId="AD" clId="Web-{5BAA2FE9-2AE3-1C6F-7B69-0FE2221A7331}" dt="2026-03-16T22:29:24.713" v="1414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7T00:15:43.619" v="3974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5BAA2FE9-2AE3-1C6F-7B69-0FE2221A7331}" dt="2026-03-17T00:15:43.619" v="3974"/>
          <ac:spMkLst>
            <pc:docMk/>
            <pc:sldMk cId="2740590959" sldId="261"/>
            <ac:spMk id="2" creationId="{E192FB49-4862-A0D7-FAD6-F2105BC22822}"/>
          </ac:spMkLst>
        </pc:spChg>
        <pc:spChg chg="mod">
          <ac:chgData name="Lorch, Robert M" userId="S::rlorch@uiowa.edu::fab7d2ca-73fd-43ac-88ae-e4267d71ff13" providerId="AD" clId="Web-{5BAA2FE9-2AE3-1C6F-7B69-0FE2221A7331}" dt="2026-03-16T23:31:42.477" v="2887" actId="20577"/>
          <ac:spMkLst>
            <pc:docMk/>
            <pc:sldMk cId="2740590959" sldId="261"/>
            <ac:spMk id="3" creationId="{AF5CADC4-C336-F3FF-CB42-A10E1EA9086C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28:20.801" v="2691" actId="20577"/>
        <pc:sldMkLst>
          <pc:docMk/>
          <pc:sldMk cId="403707338" sldId="262"/>
        </pc:sldMkLst>
        <pc:spChg chg="mod">
          <ac:chgData name="Lorch, Robert M" userId="S::rlorch@uiowa.edu::fab7d2ca-73fd-43ac-88ae-e4267d71ff13" providerId="AD" clId="Web-{5BAA2FE9-2AE3-1C6F-7B69-0FE2221A7331}" dt="2026-03-16T23:28:20.801" v="2691" actId="20577"/>
          <ac:spMkLst>
            <pc:docMk/>
            <pc:sldMk cId="403707338" sldId="262"/>
            <ac:spMk id="2" creationId="{3146B134-327B-0941-EFA2-626FD1C1FF1E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3:26:47.500" v="2671" actId="20577"/>
        <pc:sldMkLst>
          <pc:docMk/>
          <pc:sldMk cId="1846142589" sldId="263"/>
        </pc:sldMkLst>
        <pc:spChg chg="mod">
          <ac:chgData name="Lorch, Robert M" userId="S::rlorch@uiowa.edu::fab7d2ca-73fd-43ac-88ae-e4267d71ff13" providerId="AD" clId="Web-{5BAA2FE9-2AE3-1C6F-7B69-0FE2221A7331}" dt="2026-03-16T22:17:06.992" v="1087" actId="20577"/>
          <ac:spMkLst>
            <pc:docMk/>
            <pc:sldMk cId="1846142589" sldId="263"/>
            <ac:spMk id="2" creationId="{36739B0F-70D7-34B6-60AC-1068790DDFAA}"/>
          </ac:spMkLst>
        </pc:spChg>
        <pc:spChg chg="mod">
          <ac:chgData name="Lorch, Robert M" userId="S::rlorch@uiowa.edu::fab7d2ca-73fd-43ac-88ae-e4267d71ff13" providerId="AD" clId="Web-{5BAA2FE9-2AE3-1C6F-7B69-0FE2221A7331}" dt="2026-03-16T23:26:47.500" v="2671" actId="20577"/>
          <ac:spMkLst>
            <pc:docMk/>
            <pc:sldMk cId="1846142589" sldId="263"/>
            <ac:spMk id="3" creationId="{E3678F8D-41CB-3795-3829-9EC13AAB82A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15:54.744" v="3991"/>
        <pc:sldMkLst>
          <pc:docMk/>
          <pc:sldMk cId="941070285" sldId="264"/>
        </pc:sldMkLst>
        <pc:spChg chg="mod">
          <ac:chgData name="Lorch, Robert M" userId="S::rlorch@uiowa.edu::fab7d2ca-73fd-43ac-88ae-e4267d71ff13" providerId="AD" clId="Web-{5BAA2FE9-2AE3-1C6F-7B69-0FE2221A7331}" dt="2026-03-17T00:15:54.744" v="3991"/>
          <ac:spMkLst>
            <pc:docMk/>
            <pc:sldMk cId="941070285" sldId="264"/>
            <ac:spMk id="2" creationId="{8F692418-F66A-8937-E85D-04EB60050446}"/>
          </ac:spMkLst>
        </pc:spChg>
        <pc:spChg chg="mod">
          <ac:chgData name="Lorch, Robert M" userId="S::rlorch@uiowa.edu::fab7d2ca-73fd-43ac-88ae-e4267d71ff13" providerId="AD" clId="Web-{5BAA2FE9-2AE3-1C6F-7B69-0FE2221A7331}" dt="2026-03-16T23:32:08.649" v="2890" actId="20577"/>
          <ac:spMkLst>
            <pc:docMk/>
            <pc:sldMk cId="941070285" sldId="264"/>
            <ac:spMk id="3" creationId="{512FFBEF-3548-B961-3FD8-7CC3479BE07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18:12.211" v="1145" actId="20577"/>
        <pc:sldMkLst>
          <pc:docMk/>
          <pc:sldMk cId="2922320612" sldId="265"/>
        </pc:sldMkLst>
        <pc:spChg chg="mod">
          <ac:chgData name="Lorch, Robert M" userId="S::rlorch@uiowa.edu::fab7d2ca-73fd-43ac-88ae-e4267d71ff13" providerId="AD" clId="Web-{5BAA2FE9-2AE3-1C6F-7B69-0FE2221A7331}" dt="2026-03-16T22:17:40.961" v="1103" actId="20577"/>
          <ac:spMkLst>
            <pc:docMk/>
            <pc:sldMk cId="2922320612" sldId="265"/>
            <ac:spMk id="2" creationId="{10F26390-A99B-8227-83E3-FF53C34F821C}"/>
          </ac:spMkLst>
        </pc:spChg>
        <pc:spChg chg="mod">
          <ac:chgData name="Lorch, Robert M" userId="S::rlorch@uiowa.edu::fab7d2ca-73fd-43ac-88ae-e4267d71ff13" providerId="AD" clId="Web-{5BAA2FE9-2AE3-1C6F-7B69-0FE2221A7331}" dt="2026-03-16T22:18:12.211" v="1145" actId="20577"/>
          <ac:spMkLst>
            <pc:docMk/>
            <pc:sldMk cId="2922320612" sldId="265"/>
            <ac:spMk id="3" creationId="{CE79F317-AD5E-66F2-F397-E45910B43883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31.041" v="1416" actId="20577"/>
        <pc:sldMkLst>
          <pc:docMk/>
          <pc:sldMk cId="1270319923" sldId="266"/>
        </pc:sldMkLst>
        <pc:spChg chg="mod">
          <ac:chgData name="Lorch, Robert M" userId="S::rlorch@uiowa.edu::fab7d2ca-73fd-43ac-88ae-e4267d71ff13" providerId="AD" clId="Web-{5BAA2FE9-2AE3-1C6F-7B69-0FE2221A7331}" dt="2026-03-16T22:29:31.041" v="1416" actId="20577"/>
          <ac:spMkLst>
            <pc:docMk/>
            <pc:sldMk cId="1270319923" sldId="266"/>
            <ac:spMk id="3" creationId="{175B88B1-2267-9A92-9381-94A9E59DCC13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29:39.697" v="1422" actId="20577"/>
        <pc:sldMkLst>
          <pc:docMk/>
          <pc:sldMk cId="3132142358" sldId="267"/>
        </pc:sldMkLst>
        <pc:spChg chg="mod">
          <ac:chgData name="Lorch, Robert M" userId="S::rlorch@uiowa.edu::fab7d2ca-73fd-43ac-88ae-e4267d71ff13" providerId="AD" clId="Web-{5BAA2FE9-2AE3-1C6F-7B69-0FE2221A7331}" dt="2026-03-16T22:29:39.697" v="1422" actId="20577"/>
          <ac:spMkLst>
            <pc:docMk/>
            <pc:sldMk cId="3132142358" sldId="267"/>
            <ac:spMk id="3" creationId="{304188DF-1799-9856-8C7E-3B78A2D6F14D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4:34.781" v="1407" actId="20577"/>
        <pc:sldMkLst>
          <pc:docMk/>
          <pc:sldMk cId="2436005611" sldId="268"/>
        </pc:sldMkLst>
        <pc:spChg chg="mod">
          <ac:chgData name="Lorch, Robert M" userId="S::rlorch@uiowa.edu::fab7d2ca-73fd-43ac-88ae-e4267d71ff13" providerId="AD" clId="Web-{5BAA2FE9-2AE3-1C6F-7B69-0FE2221A7331}" dt="2026-03-16T22:20:26.029" v="1202" actId="20577"/>
          <ac:spMkLst>
            <pc:docMk/>
            <pc:sldMk cId="2436005611" sldId="268"/>
            <ac:spMk id="2" creationId="{D54537C6-935D-A904-71A1-664F47E1648F}"/>
          </ac:spMkLst>
        </pc:spChg>
        <pc:spChg chg="mod">
          <ac:chgData name="Lorch, Robert M" userId="S::rlorch@uiowa.edu::fab7d2ca-73fd-43ac-88ae-e4267d71ff13" providerId="AD" clId="Web-{5BAA2FE9-2AE3-1C6F-7B69-0FE2221A7331}" dt="2026-03-16T22:24:34.781" v="1407" actId="20577"/>
          <ac:spMkLst>
            <pc:docMk/>
            <pc:sldMk cId="2436005611" sldId="268"/>
            <ac:spMk id="3" creationId="{21D266E0-3AE2-538B-2897-FC68DF25BF39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45:34.473" v="2000" actId="20577"/>
        <pc:sldMkLst>
          <pc:docMk/>
          <pc:sldMk cId="2258023790" sldId="269"/>
        </pc:sldMkLst>
        <pc:spChg chg="mod">
          <ac:chgData name="Lorch, Robert M" userId="S::rlorch@uiowa.edu::fab7d2ca-73fd-43ac-88ae-e4267d71ff13" providerId="AD" clId="Web-{5BAA2FE9-2AE3-1C6F-7B69-0FE2221A7331}" dt="2026-03-16T22:20:34.530" v="1213" actId="20577"/>
          <ac:spMkLst>
            <pc:docMk/>
            <pc:sldMk cId="2258023790" sldId="269"/>
            <ac:spMk id="2" creationId="{E443A17B-322A-09FE-4B4C-0AFA6D7224E0}"/>
          </ac:spMkLst>
        </pc:spChg>
        <pc:spChg chg="mod">
          <ac:chgData name="Lorch, Robert M" userId="S::rlorch@uiowa.edu::fab7d2ca-73fd-43ac-88ae-e4267d71ff13" providerId="AD" clId="Web-{5BAA2FE9-2AE3-1C6F-7B69-0FE2221A7331}" dt="2026-03-16T22:45:34.473" v="2000" actId="20577"/>
          <ac:spMkLst>
            <pc:docMk/>
            <pc:sldMk cId="2258023790" sldId="269"/>
            <ac:spMk id="3" creationId="{BAD9A992-E5F6-1706-8A28-87A2E4222AB4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02.157" v="1429" actId="20577"/>
        <pc:sldMkLst>
          <pc:docMk/>
          <pc:sldMk cId="2134368667" sldId="270"/>
        </pc:sldMkLst>
        <pc:spChg chg="mod">
          <ac:chgData name="Lorch, Robert M" userId="S::rlorch@uiowa.edu::fab7d2ca-73fd-43ac-88ae-e4267d71ff13" providerId="AD" clId="Web-{5BAA2FE9-2AE3-1C6F-7B69-0FE2221A7331}" dt="2026-03-16T22:30:02.157" v="1429" actId="20577"/>
          <ac:spMkLst>
            <pc:docMk/>
            <pc:sldMk cId="2134368667" sldId="270"/>
            <ac:spMk id="3" creationId="{7E65C1B9-E4DF-459B-F285-ACE5151B9C2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17.133" v="1436" actId="20577"/>
        <pc:sldMkLst>
          <pc:docMk/>
          <pc:sldMk cId="3988185736" sldId="271"/>
        </pc:sldMkLst>
        <pc:spChg chg="mod">
          <ac:chgData name="Lorch, Robert M" userId="S::rlorch@uiowa.edu::fab7d2ca-73fd-43ac-88ae-e4267d71ff13" providerId="AD" clId="Web-{5BAA2FE9-2AE3-1C6F-7B69-0FE2221A7331}" dt="2026-03-16T22:30:17.133" v="1436" actId="20577"/>
          <ac:spMkLst>
            <pc:docMk/>
            <pc:sldMk cId="3988185736" sldId="271"/>
            <ac:spMk id="3" creationId="{72A39524-62D8-EAA7-21B2-F034F4C30BA5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33.198" v="1442" actId="20577"/>
        <pc:sldMkLst>
          <pc:docMk/>
          <pc:sldMk cId="4156527928" sldId="272"/>
        </pc:sldMkLst>
        <pc:spChg chg="mod">
          <ac:chgData name="Lorch, Robert M" userId="S::rlorch@uiowa.edu::fab7d2ca-73fd-43ac-88ae-e4267d71ff13" providerId="AD" clId="Web-{5BAA2FE9-2AE3-1C6F-7B69-0FE2221A7331}" dt="2026-03-16T22:30:33.198" v="1442" actId="20577"/>
          <ac:spMkLst>
            <pc:docMk/>
            <pc:sldMk cId="4156527928" sldId="272"/>
            <ac:spMk id="3" creationId="{8B48AD0F-4517-B249-7CE9-91AC653710AA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3:30.172" v="1595" actId="20577"/>
        <pc:sldMkLst>
          <pc:docMk/>
          <pc:sldMk cId="2042930995" sldId="273"/>
        </pc:sldMkLst>
        <pc:spChg chg="mod">
          <ac:chgData name="Lorch, Robert M" userId="S::rlorch@uiowa.edu::fab7d2ca-73fd-43ac-88ae-e4267d71ff13" providerId="AD" clId="Web-{5BAA2FE9-2AE3-1C6F-7B69-0FE2221A7331}" dt="2026-03-16T22:30:45.168" v="1447" actId="20577"/>
          <ac:spMkLst>
            <pc:docMk/>
            <pc:sldMk cId="2042930995" sldId="273"/>
            <ac:spMk id="2" creationId="{B3B9F69A-6D95-337C-7195-5237D2D26DA8}"/>
          </ac:spMkLst>
        </pc:spChg>
        <pc:spChg chg="mod">
          <ac:chgData name="Lorch, Robert M" userId="S::rlorch@uiowa.edu::fab7d2ca-73fd-43ac-88ae-e4267d71ff13" providerId="AD" clId="Web-{5BAA2FE9-2AE3-1C6F-7B69-0FE2221A7331}" dt="2026-03-16T22:33:30.172" v="1595" actId="20577"/>
          <ac:spMkLst>
            <pc:docMk/>
            <pc:sldMk cId="2042930995" sldId="273"/>
            <ac:spMk id="3" creationId="{C0C6950D-385F-A98D-531F-5975D69E3B2C}"/>
          </ac:spMkLst>
        </pc:spChg>
      </pc:sldChg>
      <pc:sldChg chg="addSp delSp modSp add replId">
        <pc:chgData name="Lorch, Robert M" userId="S::rlorch@uiowa.edu::fab7d2ca-73fd-43ac-88ae-e4267d71ff13" providerId="AD" clId="Web-{5BAA2FE9-2AE3-1C6F-7B69-0FE2221A7331}" dt="2026-03-17T00:20:26.637" v="4034" actId="20577"/>
        <pc:sldMkLst>
          <pc:docMk/>
          <pc:sldMk cId="2649711781" sldId="274"/>
        </pc:sldMkLst>
        <pc:spChg chg="mod">
          <ac:chgData name="Lorch, Robert M" userId="S::rlorch@uiowa.edu::fab7d2ca-73fd-43ac-88ae-e4267d71ff13" providerId="AD" clId="Web-{5BAA2FE9-2AE3-1C6F-7B69-0FE2221A7331}" dt="2026-03-16T22:46:14.802" v="2015" actId="20577"/>
          <ac:spMkLst>
            <pc:docMk/>
            <pc:sldMk cId="2649711781" sldId="274"/>
            <ac:spMk id="2" creationId="{B13E951D-1B73-58A4-4D65-EEC266C2EA4C}"/>
          </ac:spMkLst>
        </pc:spChg>
        <pc:spChg chg="mod">
          <ac:chgData name="Lorch, Robert M" userId="S::rlorch@uiowa.edu::fab7d2ca-73fd-43ac-88ae-e4267d71ff13" providerId="AD" clId="Web-{5BAA2FE9-2AE3-1C6F-7B69-0FE2221A7331}" dt="2026-03-17T00:20:26.637" v="4034" actId="20577"/>
          <ac:spMkLst>
            <pc:docMk/>
            <pc:sldMk cId="2649711781" sldId="274"/>
            <ac:spMk id="3" creationId="{ADA3750E-F487-A549-7A81-AEE104966113}"/>
          </ac:spMkLst>
        </pc:spChg>
        <pc:picChg chg="add del mod">
          <ac:chgData name="Lorch, Robert M" userId="S::rlorch@uiowa.edu::fab7d2ca-73fd-43ac-88ae-e4267d71ff13" providerId="AD" clId="Web-{5BAA2FE9-2AE3-1C6F-7B69-0FE2221A7331}" dt="2026-03-17T00:17:41.448" v="3995"/>
          <ac:picMkLst>
            <pc:docMk/>
            <pc:sldMk cId="2649711781" sldId="274"/>
            <ac:picMk id="5" creationId="{199B6E32-0DC6-E8A3-9F6E-5A17B6A7A221}"/>
          </ac:picMkLst>
        </pc:picChg>
        <pc:picChg chg="add mod modCrop">
          <ac:chgData name="Lorch, Robert M" userId="S::rlorch@uiowa.edu::fab7d2ca-73fd-43ac-88ae-e4267d71ff13" providerId="AD" clId="Web-{5BAA2FE9-2AE3-1C6F-7B69-0FE2221A7331}" dt="2026-03-17T00:19:09.761" v="4011" actId="1076"/>
          <ac:picMkLst>
            <pc:docMk/>
            <pc:sldMk cId="2649711781" sldId="274"/>
            <ac:picMk id="6" creationId="{FAE4E3F3-7E89-2B70-F6A4-B554A5174BF4}"/>
          </ac:picMkLst>
        </pc:picChg>
        <pc:picChg chg="add mod">
          <ac:chgData name="Lorch, Robert M" userId="S::rlorch@uiowa.edu::fab7d2ca-73fd-43ac-88ae-e4267d71ff13" providerId="AD" clId="Web-{5BAA2FE9-2AE3-1C6F-7B69-0FE2221A7331}" dt="2026-03-17T00:19:39.340" v="4025" actId="1076"/>
          <ac:picMkLst>
            <pc:docMk/>
            <pc:sldMk cId="2649711781" sldId="274"/>
            <ac:picMk id="7" creationId="{46C7BAC6-E453-4B42-B23B-F16AF3C00A5B}"/>
          </ac:picMkLst>
        </pc:picChg>
      </pc:sldChg>
      <pc:sldChg chg="modSp add ord replId">
        <pc:chgData name="Lorch, Robert M" userId="S::rlorch@uiowa.edu::fab7d2ca-73fd-43ac-88ae-e4267d71ff13" providerId="AD" clId="Web-{5BAA2FE9-2AE3-1C6F-7B69-0FE2221A7331}" dt="2026-03-16T23:34:52.528" v="3106" actId="20577"/>
        <pc:sldMkLst>
          <pc:docMk/>
          <pc:sldMk cId="4162872853" sldId="275"/>
        </pc:sldMkLst>
        <pc:spChg chg="mod">
          <ac:chgData name="Lorch, Robert M" userId="S::rlorch@uiowa.edu::fab7d2ca-73fd-43ac-88ae-e4267d71ff13" providerId="AD" clId="Web-{5BAA2FE9-2AE3-1C6F-7B69-0FE2221A7331}" dt="2026-03-16T23:29:21.631" v="2717"/>
          <ac:spMkLst>
            <pc:docMk/>
            <pc:sldMk cId="4162872853" sldId="275"/>
            <ac:spMk id="2" creationId="{8E06837E-A714-7106-AF8E-5FEAA148D6AC}"/>
          </ac:spMkLst>
        </pc:spChg>
        <pc:spChg chg="mod">
          <ac:chgData name="Lorch, Robert M" userId="S::rlorch@uiowa.edu::fab7d2ca-73fd-43ac-88ae-e4267d71ff13" providerId="AD" clId="Web-{5BAA2FE9-2AE3-1C6F-7B69-0FE2221A7331}" dt="2026-03-16T23:34:52.528" v="3106" actId="20577"/>
          <ac:spMkLst>
            <pc:docMk/>
            <pc:sldMk cId="4162872853" sldId="275"/>
            <ac:spMk id="3" creationId="{1AB62D15-35BC-BCF6-BE0F-8854AFE972F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35:48.548" v="3193" actId="20577"/>
        <pc:sldMkLst>
          <pc:docMk/>
          <pc:sldMk cId="775107580" sldId="276"/>
        </pc:sldMkLst>
        <pc:spChg chg="mod">
          <ac:chgData name="Lorch, Robert M" userId="S::rlorch@uiowa.edu::fab7d2ca-73fd-43ac-88ae-e4267d71ff13" providerId="AD" clId="Web-{5BAA2FE9-2AE3-1C6F-7B69-0FE2221A7331}" dt="2026-03-16T23:29:42.787" v="2771" actId="20577"/>
          <ac:spMkLst>
            <pc:docMk/>
            <pc:sldMk cId="775107580" sldId="276"/>
            <ac:spMk id="2" creationId="{65C09264-82F7-B022-27F1-66F6F0CE0435}"/>
          </ac:spMkLst>
        </pc:spChg>
        <pc:spChg chg="mod">
          <ac:chgData name="Lorch, Robert M" userId="S::rlorch@uiowa.edu::fab7d2ca-73fd-43ac-88ae-e4267d71ff13" providerId="AD" clId="Web-{5BAA2FE9-2AE3-1C6F-7B69-0FE2221A7331}" dt="2026-03-16T23:35:48.548" v="3193" actId="20577"/>
          <ac:spMkLst>
            <pc:docMk/>
            <pc:sldMk cId="775107580" sldId="276"/>
            <ac:spMk id="3" creationId="{CDEF22A8-9E30-F8AE-5C33-7B06409382C2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27:49.150" v="441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5BAA2FE9-2AE3-1C6F-7B69-0FE2221A7331}" dt="2026-03-17T00:27:49.150" v="441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addSp modSp add replId">
        <pc:chgData name="Lorch, Robert M" userId="S::rlorch@uiowa.edu::fab7d2ca-73fd-43ac-88ae-e4267d71ff13" providerId="AD" clId="Web-{5BAA2FE9-2AE3-1C6F-7B69-0FE2221A7331}" dt="2026-03-17T00:23:21.248" v="4067" actId="1076"/>
        <pc:sldMkLst>
          <pc:docMk/>
          <pc:sldMk cId="2589333419" sldId="278"/>
        </pc:sldMkLst>
        <pc:spChg chg="mod">
          <ac:chgData name="Lorch, Robert M" userId="S::rlorch@uiowa.edu::fab7d2ca-73fd-43ac-88ae-e4267d71ff13" providerId="AD" clId="Web-{5BAA2FE9-2AE3-1C6F-7B69-0FE2221A7331}" dt="2026-03-17T00:23:21.248" v="4067" actId="1076"/>
          <ac:spMkLst>
            <pc:docMk/>
            <pc:sldMk cId="2589333419" sldId="278"/>
            <ac:spMk id="3" creationId="{FA8AA9FF-9E9C-D585-7639-BD2ADE435A3B}"/>
          </ac:spMkLst>
        </pc:spChg>
        <pc:picChg chg="add mod">
          <ac:chgData name="Lorch, Robert M" userId="S::rlorch@uiowa.edu::fab7d2ca-73fd-43ac-88ae-e4267d71ff13" providerId="AD" clId="Web-{5BAA2FE9-2AE3-1C6F-7B69-0FE2221A7331}" dt="2026-03-17T00:22:56.842" v="4052" actId="1076"/>
          <ac:picMkLst>
            <pc:docMk/>
            <pc:sldMk cId="2589333419" sldId="278"/>
            <ac:picMk id="5" creationId="{E24F264D-0BAD-E1FE-CF19-8575F2BBE2DD}"/>
          </ac:picMkLst>
        </pc:picChg>
      </pc:sldChg>
      <pc:sldMasterChg chg="del delSldLayout">
        <pc:chgData name="Lorch, Robert M" userId="S::rlorch@uiowa.edu::fab7d2ca-73fd-43ac-88ae-e4267d71ff13" providerId="AD" clId="Web-{5BAA2FE9-2AE3-1C6F-7B69-0FE2221A7331}" dt="2026-03-16T21:48:25.644" v="62"/>
        <pc:sldMasterMkLst>
          <pc:docMk/>
          <pc:sldMasterMk cId="2460954070" sldId="2147483660"/>
        </pc:sldMasterMkLst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084619209" sldId="2147483672"/>
        </pc:sldMasterMkLst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367300181" sldId="2147483673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448326141" sldId="2147483674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228152714" sldId="2147483675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223577600" sldId="2147483676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519939757" sldId="2147483677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580781506" sldId="2147483678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994299043" sldId="2147483679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28482330" sldId="2147483680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4167794681" sldId="2147483681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69230434" sldId="2147483682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187278210" sldId="2147483683"/>
          </pc:sldLayoutMkLst>
        </pc:sldLayoutChg>
      </pc:sldMasterChg>
      <pc:sldMasterChg chg="add add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333122478" sldId="2147483684"/>
        </pc:sldMasterMkLst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70120977" sldId="2147483685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2708266053" sldId="2147483686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01219097" sldId="2147483687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369839402" sldId="2147483688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550839062" sldId="2147483689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3488069156" sldId="2147483690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791349665" sldId="2147483691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972709162" sldId="2147483692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951958673" sldId="2147483693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073315943" sldId="2147483694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42305509" sldId="2147483695"/>
          </pc:sldLayoutMkLst>
        </pc:sldLayoutChg>
      </pc:sldMasterChg>
    </pc:docChg>
  </pc:docChgLst>
  <pc:docChgLst>
    <pc:chgData name="Lorch, Robert M" userId="S::rlorch@uiowa.edu::fab7d2ca-73fd-43ac-88ae-e4267d71ff13" providerId="AD" clId="Web-{0220F826-5AE4-1C40-1D2A-DC633039E620}"/>
    <pc:docChg chg="addSld modSld">
      <pc:chgData name="Lorch, Robert M" userId="S::rlorch@uiowa.edu::fab7d2ca-73fd-43ac-88ae-e4267d71ff13" providerId="AD" clId="Web-{0220F826-5AE4-1C40-1D2A-DC633039E620}" dt="2026-03-16T17:08:32.134" v="311" actId="20577"/>
      <pc:docMkLst>
        <pc:docMk/>
      </pc:docMkLst>
      <pc:sldChg chg="modSp new">
        <pc:chgData name="Lorch, Robert M" userId="S::rlorch@uiowa.edu::fab7d2ca-73fd-43ac-88ae-e4267d71ff13" providerId="AD" clId="Web-{0220F826-5AE4-1C40-1D2A-DC633039E620}" dt="2026-03-16T17:08:32.134" v="311" actId="20577"/>
        <pc:sldMkLst>
          <pc:docMk/>
          <pc:sldMk cId="1572822883" sldId="257"/>
        </pc:sldMkLst>
        <pc:spChg chg="mod">
          <ac:chgData name="Lorch, Robert M" userId="S::rlorch@uiowa.edu::fab7d2ca-73fd-43ac-88ae-e4267d71ff13" providerId="AD" clId="Web-{0220F826-5AE4-1C40-1D2A-DC633039E620}" dt="2026-03-16T17:02:30.087" v="5" actId="20577"/>
          <ac:spMkLst>
            <pc:docMk/>
            <pc:sldMk cId="1572822883" sldId="257"/>
            <ac:spMk id="2" creationId="{B973628D-B4CD-4C8A-B76A-1315567874F0}"/>
          </ac:spMkLst>
        </pc:spChg>
        <pc:spChg chg="mod">
          <ac:chgData name="Lorch, Robert M" userId="S::rlorch@uiowa.edu::fab7d2ca-73fd-43ac-88ae-e4267d71ff13" providerId="AD" clId="Web-{0220F826-5AE4-1C40-1D2A-DC633039E620}" dt="2026-03-16T17:08:32.134" v="311" actId="20577"/>
          <ac:spMkLst>
            <pc:docMk/>
            <pc:sldMk cId="1572822883" sldId="257"/>
            <ac:spMk id="3" creationId="{962115ED-9912-DA77-67F5-5CDAA597005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88D58-EBEB-3940-91FB-2E70D58DD4F8}" type="datetimeFigureOut">
              <a:rPr lang="en-US" smtClean="0"/>
              <a:t>4/7/26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E7D3BD-964E-9548-96C7-33ED27501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49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1015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3211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9081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902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6749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38387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9969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46936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099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1538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134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other difference between Goblin and </a:t>
            </a:r>
            <a:r>
              <a:rPr lang="en-US" dirty="0" err="1"/>
              <a:t>ISLa</a:t>
            </a:r>
            <a:r>
              <a:rPr lang="en-US" dirty="0"/>
              <a:t> is that Goblin’s SMT backend is incremental. There are inherent tradeoffs in search strategy – incremental backend allows you to repair candidate solutions rather than immediately instantiating into a model which could needlessly run you into UNSAT. But </a:t>
            </a:r>
            <a:r>
              <a:rPr lang="en-US" dirty="0" err="1"/>
              <a:t>ISLa’s</a:t>
            </a:r>
            <a:r>
              <a:rPr lang="en-US" dirty="0"/>
              <a:t> advantage is they get a more diverse way of poking around the search space rather than committing harder to a specific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0491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1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630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15677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24967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6508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33208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dirty="0">
                    <a:latin typeface="Source Sans Pro"/>
                    <a:ea typeface="Source Sans Pro"/>
                  </a:rPr>
                  <a:t>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efficiency</a:t>
                </a:r>
                <a:r>
                  <a:rPr lang="en-US" sz="1200" dirty="0">
                    <a:latin typeface="Source Sans Pro"/>
                    <a:ea typeface="Source Sans Pro"/>
                  </a:rPr>
                  <a:t> in inputs generated per minute and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diversity</a:t>
                </a:r>
                <a:r>
                  <a:rPr lang="en-US" sz="1200" dirty="0">
                    <a:latin typeface="Source Sans Pro"/>
                    <a:ea typeface="Source Sans Pro"/>
                  </a:rPr>
                  <a:t> in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k-path coverage</a:t>
                </a:r>
                <a:r>
                  <a:rPr lang="en-US" sz="1200" dirty="0">
                    <a:latin typeface="Source Sans Pro"/>
                    <a:ea typeface="Source Sans Pro"/>
                  </a:rPr>
                  <a:t> for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12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=3</m:t>
                    </m:r>
                  </m:oMath>
                </a14:m>
                <a:r>
                  <a:rPr lang="en-US" sz="1200" dirty="0">
                    <a:latin typeface="Source Sans Pro"/>
                    <a:ea typeface="Source Sans Pro"/>
                  </a:rPr>
                  <a:t> (percentage of paths of length 3 traversed through the grammar)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1200" dirty="0">
                    <a:latin typeface="Source Sans Pro"/>
                    <a:ea typeface="Source Sans Pro"/>
                  </a:rPr>
                  <a:t>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efficiency</a:t>
                </a:r>
                <a:r>
                  <a:rPr lang="en-US" sz="1200" dirty="0">
                    <a:latin typeface="Source Sans Pro"/>
                    <a:ea typeface="Source Sans Pro"/>
                  </a:rPr>
                  <a:t> in inputs generated per minute and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diversity</a:t>
                </a:r>
                <a:r>
                  <a:rPr lang="en-US" sz="1200" dirty="0">
                    <a:latin typeface="Source Sans Pro"/>
                    <a:ea typeface="Source Sans Pro"/>
                  </a:rPr>
                  <a:t> in </a:t>
                </a:r>
                <a:r>
                  <a:rPr lang="en-US" sz="12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k-path coverage</a:t>
                </a:r>
                <a:r>
                  <a:rPr lang="en-US" sz="1200" dirty="0">
                    <a:latin typeface="Source Sans Pro"/>
                    <a:ea typeface="Source Sans Pro"/>
                  </a:rPr>
                  <a:t> for </a:t>
                </a:r>
                <a:r>
                  <a:rPr lang="en-US" sz="1200" i="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Cambria Math" panose="02040503050406030204" pitchFamily="18" charset="0"/>
                    <a:ea typeface="Source Sans Pro"/>
                  </a:rPr>
                  <a:t>𝑘=3</a:t>
                </a:r>
                <a:r>
                  <a:rPr lang="en-US" sz="1200" dirty="0">
                    <a:latin typeface="Source Sans Pro"/>
                    <a:ea typeface="Source Sans Pro"/>
                  </a:rPr>
                  <a:t> (percentage of paths of length 3 traversed through the grammar)</a:t>
                </a:r>
              </a:p>
              <a:p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3966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4 – CLP, SMT datatype finite model finding, AI abstraction/refinement</a:t>
            </a:r>
          </a:p>
          <a:p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User-facing language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More and better search engines!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generator?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Goblin spec?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input directly?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16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Neuro-symbolic approaches?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7D3BD-964E-9548-96C7-33ED27501C4D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2561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20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266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219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839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839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069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49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09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958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5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305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4/7/26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122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jpe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7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3.png"/><Relationship Id="rId4" Type="http://schemas.openxmlformats.org/officeDocument/2006/relationships/image" Target="../media/image28.png"/><Relationship Id="rId9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21.png"/><Relationship Id="rId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35.png"/><Relationship Id="rId7" Type="http://schemas.openxmlformats.org/officeDocument/2006/relationships/image" Target="../media/image3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1.png"/><Relationship Id="rId4" Type="http://schemas.openxmlformats.org/officeDocument/2006/relationships/image" Target="../media/image29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1.png"/><Relationship Id="rId5" Type="http://schemas.openxmlformats.org/officeDocument/2006/relationships/image" Target="../media/image301.png"/><Relationship Id="rId4" Type="http://schemas.openxmlformats.org/officeDocument/2006/relationships/image" Target="../media/image3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20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5.png"/><Relationship Id="rId7" Type="http://schemas.openxmlformats.org/officeDocument/2006/relationships/image" Target="../media/image57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0.png"/><Relationship Id="rId5" Type="http://schemas.openxmlformats.org/officeDocument/2006/relationships/image" Target="../media/image540.png"/><Relationship Id="rId10" Type="http://schemas.openxmlformats.org/officeDocument/2006/relationships/image" Target="../media/image60.png"/><Relationship Id="rId4" Type="http://schemas.openxmlformats.org/officeDocument/2006/relationships/image" Target="../media/image56.png"/><Relationship Id="rId9" Type="http://schemas.openxmlformats.org/officeDocument/2006/relationships/image" Target="../media/image59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90.png"/><Relationship Id="rId7" Type="http://schemas.openxmlformats.org/officeDocument/2006/relationships/image" Target="../media/image62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540.png"/><Relationship Id="rId4" Type="http://schemas.openxmlformats.org/officeDocument/2006/relationships/image" Target="../media/image6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0.png"/><Relationship Id="rId7" Type="http://schemas.openxmlformats.org/officeDocument/2006/relationships/image" Target="../media/image58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55.png"/><Relationship Id="rId4" Type="http://schemas.openxmlformats.org/officeDocument/2006/relationships/image" Target="../media/image540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60.png"/><Relationship Id="rId7" Type="http://schemas.openxmlformats.org/officeDocument/2006/relationships/image" Target="../media/image5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11" Type="http://schemas.openxmlformats.org/officeDocument/2006/relationships/image" Target="../media/image54.png"/><Relationship Id="rId5" Type="http://schemas.openxmlformats.org/officeDocument/2006/relationships/image" Target="../media/image64.png"/><Relationship Id="rId10" Type="http://schemas.openxmlformats.org/officeDocument/2006/relationships/image" Target="../media/image59.png"/><Relationship Id="rId4" Type="http://schemas.openxmlformats.org/officeDocument/2006/relationships/image" Target="../media/image63.png"/><Relationship Id="rId9" Type="http://schemas.openxmlformats.org/officeDocument/2006/relationships/image" Target="../media/image58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60.png"/><Relationship Id="rId7" Type="http://schemas.openxmlformats.org/officeDocument/2006/relationships/image" Target="../media/image5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11" Type="http://schemas.openxmlformats.org/officeDocument/2006/relationships/image" Target="../media/image54.png"/><Relationship Id="rId5" Type="http://schemas.openxmlformats.org/officeDocument/2006/relationships/image" Target="../media/image64.png"/><Relationship Id="rId10" Type="http://schemas.openxmlformats.org/officeDocument/2006/relationships/image" Target="../media/image59.png"/><Relationship Id="rId4" Type="http://schemas.openxmlformats.org/officeDocument/2006/relationships/image" Target="../media/image63.png"/><Relationship Id="rId9" Type="http://schemas.openxmlformats.org/officeDocument/2006/relationships/image" Target="../media/image58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0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8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png"/><Relationship Id="rId3" Type="http://schemas.openxmlformats.org/officeDocument/2006/relationships/image" Target="../media/image72.png"/><Relationship Id="rId7" Type="http://schemas.openxmlformats.org/officeDocument/2006/relationships/image" Target="../media/image76.png"/><Relationship Id="rId12" Type="http://schemas.openxmlformats.org/officeDocument/2006/relationships/image" Target="../media/image8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11" Type="http://schemas.openxmlformats.org/officeDocument/2006/relationships/image" Target="../media/image79.png"/><Relationship Id="rId5" Type="http://schemas.openxmlformats.org/officeDocument/2006/relationships/image" Target="../media/image74.png"/><Relationship Id="rId10" Type="http://schemas.openxmlformats.org/officeDocument/2006/relationships/image" Target="../media/image750.png"/><Relationship Id="rId4" Type="http://schemas.openxmlformats.org/officeDocument/2006/relationships/image" Target="../media/image73.png"/><Relationship Id="rId9" Type="http://schemas.openxmlformats.org/officeDocument/2006/relationships/image" Target="../media/image78.png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openxmlformats.org/officeDocument/2006/relationships/image" Target="../media/image12.png"/><Relationship Id="rId7" Type="http://schemas.openxmlformats.org/officeDocument/2006/relationships/image" Target="../media/image8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10" Type="http://schemas.openxmlformats.org/officeDocument/2006/relationships/image" Target="../media/image87.png"/><Relationship Id="rId4" Type="http://schemas.openxmlformats.org/officeDocument/2006/relationships/image" Target="../media/image81.png"/><Relationship Id="rId9" Type="http://schemas.openxmlformats.org/officeDocument/2006/relationships/image" Target="../media/image86.png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2.png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4890" y="860877"/>
            <a:ext cx="8416954" cy="238760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Parse this! Summoning Context-Sensitive Inputs with Goblin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3754944"/>
            <a:ext cx="12178018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Rob Lorch</a:t>
            </a:r>
            <a:r>
              <a:rPr lang="en-US" b="1" baseline="300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Muhammad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Daniyal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Pirwani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Dar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Cesare </a:t>
            </a:r>
            <a:r>
              <a:rPr lang="en-US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Tinelli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&amp; Omar Chowdhury</a:t>
            </a: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*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University of Iowa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aseline="30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†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Stony Brook University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April 17, 2026</a:t>
            </a:r>
          </a:p>
        </p:txBody>
      </p:sp>
      <p:pic>
        <p:nvPicPr>
          <p:cNvPr id="1026" name="Picture 2" descr="Stony Brook University - AEE East | Energy Conference &amp; Expo">
            <a:extLst>
              <a:ext uri="{FF2B5EF4-FFF2-40B4-BE49-F238E27FC236}">
                <a16:creationId xmlns:a16="http://schemas.microsoft.com/office/drawing/2014/main" id="{67E61FAC-85FF-7D6E-3FD5-6755D886C5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2154" y="4174055"/>
            <a:ext cx="2474956" cy="2474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yellow and black logo&#10;&#10;Description automatically generated">
            <a:extLst>
              <a:ext uri="{FF2B5EF4-FFF2-40B4-BE49-F238E27FC236}">
                <a16:creationId xmlns:a16="http://schemas.microsoft.com/office/drawing/2014/main" id="{D147DA91-98FA-6EF7-80B3-0C149FA110C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57"/>
          <a:stretch/>
        </p:blipFill>
        <p:spPr>
          <a:xfrm>
            <a:off x="1604891" y="4615061"/>
            <a:ext cx="2357510" cy="1817719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Notes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15 minute slot (including Q+A!)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Want to give a taste/ad for the approach and focus on what distinguishes us from prior work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I should hit on (1) ADT view, (2) incremental solving, (3) local constraints, (4) minimality/compile target, (5) correctness, (maybe 6) language emptiness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Remove/heavily cut other stuff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377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Source Sans Pro" panose="020B0503030403020204" pitchFamily="34" charset="0"/>
                <a:ea typeface="Source Sans Pro" panose="020B0503030403020204" pitchFamily="34" charset="0"/>
              </a:rPr>
              <a:t>Story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Courier New" panose="02070309020205020404" pitchFamily="49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6"/>
          </a:xfrm>
        </p:spPr>
        <p:txBody>
          <a:bodyPr vert="horz" lIns="91440" tIns="45720" rIns="91440" bIns="45720" rtlCol="0" anchor="t">
            <a:normAutofit fontScale="55000" lnSpcReduction="20000"/>
          </a:bodyPr>
          <a:lstStyle/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X in L problem, L can be context-free 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XML example, shortcomings of context-free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How to address shortcoming 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How to add constraint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Global approach, </a:t>
            </a:r>
            <a:r>
              <a:rPr lang="en-US" dirty="0" err="1">
                <a:latin typeface="Avenir Next" panose="020B0503020202020204" pitchFamily="34" charset="0"/>
                <a:ea typeface="Source Sans Pro"/>
              </a:rPr>
              <a:t>ISLa</a:t>
            </a:r>
            <a:r>
              <a:rPr lang="en-US" dirty="0">
                <a:latin typeface="Avenir Next" panose="020B0503020202020204" pitchFamily="34" charset="0"/>
                <a:ea typeface="Source Sans Pro"/>
              </a:rPr>
              <a:t>, benefits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Local approach, costs and benefits</a:t>
            </a:r>
          </a:p>
          <a:p>
            <a:r>
              <a:rPr lang="en-US" dirty="0">
                <a:latin typeface="Avenir Next" panose="020B0503020202020204" pitchFamily="34" charset="0"/>
                <a:ea typeface="Source Sans Pro"/>
              </a:rPr>
              <a:t>Why is the original problem interesting?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Fuzzing lots of structured input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Blind mutation not good enough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Grammar-based fuzzing addresses this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Grammar -&gt; string -&gt; mutate vs structure-aware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Global constraints match well with only the former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With the latter, how to mutate global constraints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That’s why we do local constraint mutation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Then that’s not the only difference, this is an overview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Fandango different philosophy, mutation-guided (not enough time), sometimes doesn’t converge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We don’t focus on usability; user-facing language is future work (minimality is a virtue for us)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Now we talk about some features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We have used in our group for some success in practice</a:t>
            </a:r>
          </a:p>
          <a:p>
            <a:pPr lvl="1"/>
            <a:r>
              <a:rPr lang="en-US" dirty="0">
                <a:latin typeface="Avenir Next" panose="020B0503020202020204" pitchFamily="34" charset="0"/>
                <a:ea typeface="Source Sans Pro"/>
              </a:rPr>
              <a:t>Less text</a:t>
            </a:r>
          </a:p>
          <a:p>
            <a:pPr lvl="1"/>
            <a:endParaRPr lang="en-US" dirty="0">
              <a:latin typeface="Avenir Next" panose="020B0503020202020204" pitchFamily="34" charset="0"/>
              <a:ea typeface="Source Sans Pro"/>
            </a:endParaRPr>
          </a:p>
          <a:p>
            <a:pPr lvl="1"/>
            <a:endParaRPr lang="en-US" dirty="0">
              <a:latin typeface="Avenir Next" panose="020B0503020202020204" pitchFamily="34" charset="0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0685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FA084-8710-CC77-0DF3-3BD1E552C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5000"/>
                    <a:lumOff val="25000"/>
                  </a:schemeClr>
                </a:solidFill>
                <a:latin typeface="Avenir Next" panose="020B0503020202020204" pitchFamily="34" charset="0"/>
              </a:rPr>
              <a:t>Automated Testing and Security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974ADA-09BE-1C13-E065-C052B4CE8899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4734F1-633E-BD4A-6DCF-602B334F4205}"/>
              </a:ext>
            </a:extLst>
          </p:cNvPr>
          <p:cNvSpPr txBox="1"/>
          <p:nvPr/>
        </p:nvSpPr>
        <p:spPr>
          <a:xfrm>
            <a:off x="951263" y="1627589"/>
            <a:ext cx="102890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i="1" dirty="0">
                <a:latin typeface="Avenir Next" panose="020B0503020202020204" pitchFamily="34" charset="0"/>
              </a:rPr>
              <a:t>Automated testing is vital for software correctness</a:t>
            </a:r>
          </a:p>
          <a:p>
            <a:pPr algn="ctr"/>
            <a:endParaRPr lang="en-US" sz="2400" i="1" dirty="0">
              <a:latin typeface="Avenir Next" panose="020B0503020202020204" pitchFamily="34" charset="0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C97307B-29D4-E5A8-2B0A-23790C7A0BB7}"/>
              </a:ext>
            </a:extLst>
          </p:cNvPr>
          <p:cNvSpPr/>
          <p:nvPr/>
        </p:nvSpPr>
        <p:spPr>
          <a:xfrm>
            <a:off x="3424899" y="2155948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Software complexity exceeds manual reasoning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064D0B0-AD97-EEB3-30DA-2245D5CEF426}"/>
              </a:ext>
            </a:extLst>
          </p:cNvPr>
          <p:cNvSpPr/>
          <p:nvPr/>
        </p:nvSpPr>
        <p:spPr>
          <a:xfrm>
            <a:off x="3424898" y="3075057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Manual test cases are usually incomplete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6DB1AB4-3FE1-042B-BD63-97FED2AEE30B}"/>
              </a:ext>
            </a:extLst>
          </p:cNvPr>
          <p:cNvSpPr/>
          <p:nvPr/>
        </p:nvSpPr>
        <p:spPr>
          <a:xfrm>
            <a:off x="3424897" y="4012233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Full coverage does not imply correctness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381E0B8-C215-A8C5-A4BF-7F246E411540}"/>
              </a:ext>
            </a:extLst>
          </p:cNvPr>
          <p:cNvSpPr/>
          <p:nvPr/>
        </p:nvSpPr>
        <p:spPr>
          <a:xfrm>
            <a:off x="3424897" y="4949409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Lapses in testing often lead to security issues</a:t>
            </a:r>
          </a:p>
        </p:txBody>
      </p:sp>
      <p:pic>
        <p:nvPicPr>
          <p:cNvPr id="2050" name="Picture 2" descr="Heartbleed - Wikipedia">
            <a:extLst>
              <a:ext uri="{FF2B5EF4-FFF2-40B4-BE49-F238E27FC236}">
                <a16:creationId xmlns:a16="http://schemas.microsoft.com/office/drawing/2014/main" id="{1276561D-6FAF-DEED-42DF-7C6192F1FF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5815" y="5883064"/>
            <a:ext cx="702710" cy="843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Stagefright (bug) - Wikipedia">
            <a:extLst>
              <a:ext uri="{FF2B5EF4-FFF2-40B4-BE49-F238E27FC236}">
                <a16:creationId xmlns:a16="http://schemas.microsoft.com/office/drawing/2014/main" id="{D110E7CB-ECD9-E4B1-CEEF-54A1516A37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8704" y="5909857"/>
            <a:ext cx="1212207" cy="789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Log4Shell (Log4J): Advanced Exploitation Guide | Intigriti">
            <a:extLst>
              <a:ext uri="{FF2B5EF4-FFF2-40B4-BE49-F238E27FC236}">
                <a16:creationId xmlns:a16="http://schemas.microsoft.com/office/drawing/2014/main" id="{FA418DFB-8219-03E1-9C16-E814E4E14E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1090" y="5891584"/>
            <a:ext cx="826213" cy="826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2A67BE95-4EB8-C091-ADBD-E7E4B0DF96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7482" y="5922499"/>
            <a:ext cx="1146574" cy="764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1792DAE-2872-705B-A89D-325E58EC48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65644" y="2203478"/>
            <a:ext cx="615308" cy="61530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340CA21-205F-B557-5205-5A34A95CB00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65644" y="3120435"/>
            <a:ext cx="615308" cy="61530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81E3B4-04D7-0589-AC93-7798D7290AF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65644" y="4057091"/>
            <a:ext cx="615308" cy="61530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294BAAC-A099-3BDD-FC3F-16795CB856B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65644" y="5000371"/>
            <a:ext cx="615308" cy="615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55076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3C4FD3E-A5C4-D874-7D10-1E37F833DA17}"/>
                  </a:ext>
                </a:extLst>
              </p:cNvPr>
              <p:cNvSpPr/>
              <p:nvPr/>
            </p:nvSpPr>
            <p:spPr>
              <a:xfrm>
                <a:off x="1549400" y="5155639"/>
                <a:ext cx="9027730" cy="102197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Input generation problem: Given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</m:oMath>
                </a14:m>
                <a:r>
                  <a:rPr lang="en-US" sz="2800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how to find</a:t>
                </a:r>
                <a:r>
                  <a:rPr lang="en-US" sz="2800" b="1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sz="2800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800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</m:oMath>
                </a14:m>
                <a:r>
                  <a:rPr lang="en-US" sz="2800" b="1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?</a:t>
                </a:r>
              </a:p>
            </p:txBody>
          </p:sp>
        </mc:Choice>
        <mc:Fallback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03C4FD3E-A5C4-D874-7D10-1E37F833DA1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9400" y="5155639"/>
                <a:ext cx="9027730" cy="102197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Problem Introduction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315714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Some software systems have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highly complex input formats</a:t>
            </a:r>
          </a:p>
          <a:p>
            <a:pPr marL="0" indent="0" algn="ctr">
              <a:buNone/>
            </a:pPr>
            <a:endParaRPr lang="en-US" dirty="0">
              <a:latin typeface="Source Sans Pro"/>
              <a:ea typeface="Source Sans Pro"/>
            </a:endParaRPr>
          </a:p>
          <a:p>
            <a:pPr marL="0" indent="0" algn="ctr">
              <a:buNone/>
            </a:pPr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  <a:p>
            <a:pPr algn="ctr"/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33EEA2D-F9BD-BF81-C301-4B02D0118A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0536" y="2848161"/>
            <a:ext cx="1284941" cy="12849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7D9C2E0-A707-0EEA-9BC8-082FFB744C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7549" y="2848161"/>
            <a:ext cx="1284941" cy="128494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73997B6-3381-0532-1030-CB0FE4AC9E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9042" y="2848161"/>
            <a:ext cx="1284941" cy="12849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747F9CA-1D8F-6395-5BC4-592AB2423026}"/>
              </a:ext>
            </a:extLst>
          </p:cNvPr>
          <p:cNvSpPr txBox="1"/>
          <p:nvPr/>
        </p:nvSpPr>
        <p:spPr>
          <a:xfrm>
            <a:off x="1722422" y="4305854"/>
            <a:ext cx="12211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Compilers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020749-6177-6FB8-6A9C-5E56F5BE6871}"/>
              </a:ext>
            </a:extLst>
          </p:cNvPr>
          <p:cNvSpPr txBox="1"/>
          <p:nvPr/>
        </p:nvSpPr>
        <p:spPr>
          <a:xfrm>
            <a:off x="5119042" y="4305854"/>
            <a:ext cx="158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File renderers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7248BB-8215-C990-FC49-2872D4DEA71C}"/>
              </a:ext>
            </a:extLst>
          </p:cNvPr>
          <p:cNvSpPr txBox="1"/>
          <p:nvPr/>
        </p:nvSpPr>
        <p:spPr>
          <a:xfrm>
            <a:off x="7885367" y="4305854"/>
            <a:ext cx="2691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Network protocol stacks</a:t>
            </a:r>
          </a:p>
        </p:txBody>
      </p:sp>
    </p:spTree>
    <p:extLst>
      <p:ext uri="{BB962C8B-B14F-4D97-AF65-F5344CB8AC3E}">
        <p14:creationId xmlns:p14="http://schemas.microsoft.com/office/powerpoint/2010/main" val="1767920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/>
      <p:bldP spid="10" grpId="0"/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Problem Introduction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505104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Input generation problem: Given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how to find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?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505104"/>
              </a:xfrm>
              <a:blipFill>
                <a:blip r:embed="rId2"/>
                <a:stretch>
                  <a:fillRect t="-21951" b="-268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60DB44-1BC3-0F53-4986-676B89E3EEE9}"/>
              </a:ext>
            </a:extLst>
          </p:cNvPr>
          <p:cNvSpPr txBox="1"/>
          <p:nvPr/>
        </p:nvSpPr>
        <p:spPr>
          <a:xfrm>
            <a:off x="9151036" y="2298610"/>
            <a:ext cx="18726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Context-free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E5A173C-5929-8B3B-9654-5611D5ABD283}"/>
              </a:ext>
            </a:extLst>
          </p:cNvPr>
          <p:cNvSpPr/>
          <p:nvPr/>
        </p:nvSpPr>
        <p:spPr>
          <a:xfrm>
            <a:off x="9859853" y="1836954"/>
            <a:ext cx="454997" cy="454997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5827328-322F-3548-D958-E7BDCBC543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1897" y="3112745"/>
            <a:ext cx="1116387" cy="111638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468BEB7-6722-E469-0DFE-B1BD781601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1212" y="3163387"/>
            <a:ext cx="1015104" cy="101510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456E43E-E56F-6655-09B1-BB6C1BF500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78037" y="4239406"/>
            <a:ext cx="935245" cy="93524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57A5238-6196-E3F3-AD26-6A3095B77936}"/>
              </a:ext>
            </a:extLst>
          </p:cNvPr>
          <p:cNvSpPr/>
          <p:nvPr/>
        </p:nvSpPr>
        <p:spPr>
          <a:xfrm>
            <a:off x="4416478" y="3515709"/>
            <a:ext cx="6515226" cy="132556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work shows context-free input generation often works in practice!</a:t>
            </a:r>
          </a:p>
        </p:txBody>
      </p:sp>
    </p:spTree>
    <p:extLst>
      <p:ext uri="{BB962C8B-B14F-4D97-AF65-F5344CB8AC3E}">
        <p14:creationId xmlns:p14="http://schemas.microsoft.com/office/powerpoint/2010/main" val="2131219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 animBg="1"/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45170"/>
            <a:ext cx="12192000" cy="55209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Where do CFG-based approaches struggle?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F69EFD-4436-3500-65BE-601485D43C31}"/>
              </a:ext>
            </a:extLst>
          </p:cNvPr>
          <p:cNvSpPr txBox="1"/>
          <p:nvPr/>
        </p:nvSpPr>
        <p:spPr>
          <a:xfrm>
            <a:off x="8100313" y="3922841"/>
            <a:ext cx="24635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merican Typewriter" panose="02090604020004020304" pitchFamily="18" charset="77"/>
              </a:rPr>
              <a:t>&lt;a&gt; hello &lt;/b&gt;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DF50D7-EB5F-3F79-D75F-CB0416C179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6166" y="3468109"/>
            <a:ext cx="661423" cy="66142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2812A314-EDC7-0233-6FA3-220DFFEDE2EA}"/>
              </a:ext>
            </a:extLst>
          </p:cNvPr>
          <p:cNvGrpSpPr/>
          <p:nvPr/>
        </p:nvGrpSpPr>
        <p:grpSpPr>
          <a:xfrm>
            <a:off x="558822" y="2197266"/>
            <a:ext cx="6263576" cy="4094635"/>
            <a:chOff x="1681748" y="2377721"/>
            <a:chExt cx="6263576" cy="4094635"/>
          </a:xfrm>
        </p:grpSpPr>
        <p:pic>
          <p:nvPicPr>
            <p:cNvPr id="7" name="Picture 6" descr="A white screen with black text&#10;&#10;Description automatically generated">
              <a:extLst>
                <a:ext uri="{FF2B5EF4-FFF2-40B4-BE49-F238E27FC236}">
                  <a16:creationId xmlns:a16="http://schemas.microsoft.com/office/drawing/2014/main" id="{8E94A421-C755-47DC-7043-F75A9DDCF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81748" y="2377721"/>
              <a:ext cx="6263576" cy="4094635"/>
            </a:xfrm>
            <a:prstGeom prst="rect">
              <a:avLst/>
            </a:prstGeom>
          </p:spPr>
        </p:pic>
        <p:sp>
          <p:nvSpPr>
            <p:cNvPr id="10" name="Content Placeholder 2">
              <a:extLst>
                <a:ext uri="{FF2B5EF4-FFF2-40B4-BE49-F238E27FC236}">
                  <a16:creationId xmlns:a16="http://schemas.microsoft.com/office/drawing/2014/main" id="{C0EF8C7A-2B0F-D041-A8EA-7A8F661152F9}"/>
                </a:ext>
              </a:extLst>
            </p:cNvPr>
            <p:cNvSpPr txBox="1">
              <a:spLocks/>
            </p:cNvSpPr>
            <p:nvPr/>
          </p:nvSpPr>
          <p:spPr>
            <a:xfrm>
              <a:off x="6481844" y="5833104"/>
              <a:ext cx="1463480" cy="55209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3600" dirty="0">
                  <a:solidFill>
                    <a:srgbClr val="C00000"/>
                  </a:solidFill>
                  <a:latin typeface="Britannic Bold" panose="020B0903060703020204" pitchFamily="34" charset="77"/>
                  <a:ea typeface="Roboto" panose="02000000000000000000" pitchFamily="2" charset="0"/>
                  <a:cs typeface="Roboto" panose="02000000000000000000" pitchFamily="2" charset="0"/>
                </a:rPr>
                <a:t>XML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59996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DEAE2D54-E6B2-A25B-70C4-C0618A2C3953}"/>
              </a:ext>
            </a:extLst>
          </p:cNvPr>
          <p:cNvGrpSpPr/>
          <p:nvPr/>
        </p:nvGrpSpPr>
        <p:grpSpPr>
          <a:xfrm>
            <a:off x="558822" y="2197266"/>
            <a:ext cx="6263576" cy="4094635"/>
            <a:chOff x="1681748" y="2377721"/>
            <a:chExt cx="6263576" cy="4094635"/>
          </a:xfrm>
        </p:grpSpPr>
        <p:pic>
          <p:nvPicPr>
            <p:cNvPr id="21" name="Picture 20" descr="A white screen with black text&#10;&#10;Description automatically generated">
              <a:extLst>
                <a:ext uri="{FF2B5EF4-FFF2-40B4-BE49-F238E27FC236}">
                  <a16:creationId xmlns:a16="http://schemas.microsoft.com/office/drawing/2014/main" id="{ADD973F0-4743-0781-A8E0-98D72E19DBA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81748" y="2377721"/>
              <a:ext cx="6263576" cy="4094635"/>
            </a:xfrm>
            <a:prstGeom prst="rect">
              <a:avLst/>
            </a:prstGeom>
          </p:spPr>
        </p:pic>
        <p:sp>
          <p:nvSpPr>
            <p:cNvPr id="22" name="Content Placeholder 2">
              <a:extLst>
                <a:ext uri="{FF2B5EF4-FFF2-40B4-BE49-F238E27FC236}">
                  <a16:creationId xmlns:a16="http://schemas.microsoft.com/office/drawing/2014/main" id="{D0365468-C33B-084A-720C-FF33BE1D5D2E}"/>
                </a:ext>
              </a:extLst>
            </p:cNvPr>
            <p:cNvSpPr txBox="1">
              <a:spLocks/>
            </p:cNvSpPr>
            <p:nvPr/>
          </p:nvSpPr>
          <p:spPr>
            <a:xfrm>
              <a:off x="6481844" y="5833104"/>
              <a:ext cx="1463480" cy="55209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3600" dirty="0">
                  <a:solidFill>
                    <a:srgbClr val="C00000"/>
                  </a:solidFill>
                  <a:latin typeface="Britannic Bold" panose="020B0903060703020204" pitchFamily="34" charset="77"/>
                  <a:ea typeface="Roboto" panose="02000000000000000000" pitchFamily="2" charset="0"/>
                  <a:cs typeface="Roboto" panose="02000000000000000000" pitchFamily="2" charset="0"/>
                </a:rPr>
                <a:t>XML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198017-F6C1-155B-43ED-96A6DE07A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41455" y="3530240"/>
            <a:ext cx="558800" cy="558800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4D84DDC-3470-44A2-0430-22A0CC5A2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45170"/>
            <a:ext cx="12192000" cy="55209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Where do CFG-based approaches struggle?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FAAF84-A056-0989-33F3-7110D0B1F8C4}"/>
              </a:ext>
            </a:extLst>
          </p:cNvPr>
          <p:cNvSpPr txBox="1"/>
          <p:nvPr/>
        </p:nvSpPr>
        <p:spPr>
          <a:xfrm>
            <a:off x="8100313" y="3922841"/>
            <a:ext cx="246350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American Typewriter" panose="02090604020004020304" pitchFamily="18" charset="77"/>
              </a:rPr>
              <a:t>&lt;a&gt; hello &lt;/b&gt;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0E74E04-FDC8-55C3-909E-327AD02B6E78}"/>
              </a:ext>
            </a:extLst>
          </p:cNvPr>
          <p:cNvSpPr/>
          <p:nvPr/>
        </p:nvSpPr>
        <p:spPr>
          <a:xfrm>
            <a:off x="6745109" y="2635876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solidFill>
                  <a:schemeClr val="tx1"/>
                </a:solidFill>
                <a:latin typeface="American Typewriter" panose="02090604020004020304" pitchFamily="18" charset="77"/>
              </a:rPr>
              <a:t>forall</a:t>
            </a:r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`&lt;open-tag&gt; _ &lt;close-tag&gt;` in output:</a:t>
            </a:r>
          </a:p>
          <a:p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   &lt;open-tag&gt;.&lt;id&gt; = &lt;close-tag&gt;.&lt;id&gt;</a:t>
            </a:r>
          </a:p>
        </p:txBody>
      </p:sp>
    </p:spTree>
    <p:extLst>
      <p:ext uri="{BB962C8B-B14F-4D97-AF65-F5344CB8AC3E}">
        <p14:creationId xmlns:p14="http://schemas.microsoft.com/office/powerpoint/2010/main" val="41256719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2B3334C-4E23-B804-D1CC-48D49239D241}"/>
                  </a:ext>
                </a:extLst>
              </p:cNvPr>
              <p:cNvSpPr/>
              <p:nvPr/>
            </p:nvSpPr>
            <p:spPr>
              <a:xfrm>
                <a:off x="1161843" y="3739786"/>
                <a:ext cx="9867900" cy="614937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solidFill>
                      <a:schemeClr val="tx1"/>
                    </a:solidFill>
                    <a:latin typeface="Avenir Next" panose="020B0503020202020204" pitchFamily="34" charset="0"/>
                    <a:ea typeface="Roboto" panose="02000000000000000000" pitchFamily="2" charset="0"/>
                    <a:cs typeface="Roboto" panose="02000000000000000000" pitchFamily="2" charset="0"/>
                  </a:rPr>
                  <a:t>Goblin’s problem definition: Given context-sensitive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venir Next" panose="020B0503020202020204" pitchFamily="34" charset="0"/>
                    <a:ea typeface="Roboto" panose="02000000000000000000" pitchFamily="2" charset="0"/>
                    <a:cs typeface="Roboto" panose="02000000000000000000" pitchFamily="2" charset="0"/>
                  </a:rPr>
                  <a:t>, find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Avenir Next" panose="020B0503020202020204" pitchFamily="34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42B3334C-4E23-B804-D1CC-48D49239D2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1843" y="3739786"/>
                <a:ext cx="9867900" cy="614937"/>
              </a:xfrm>
              <a:prstGeom prst="rect">
                <a:avLst/>
              </a:prstGeom>
              <a:blipFill>
                <a:blip r:embed="rId3"/>
                <a:stretch>
                  <a:fillRect b="-1224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41035235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C7C693B-F7A7-9630-7BB3-CAF2438296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084" y="3073464"/>
            <a:ext cx="1325563" cy="1325563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D9C6E87-83D2-2D5F-F0B5-853622189B0B}"/>
              </a:ext>
            </a:extLst>
          </p:cNvPr>
          <p:cNvCxnSpPr>
            <a:cxnSpLocks/>
            <a:stCxn id="21" idx="6"/>
            <a:endCxn id="8" idx="1"/>
          </p:cNvCxnSpPr>
          <p:nvPr/>
        </p:nvCxnSpPr>
        <p:spPr>
          <a:xfrm>
            <a:off x="2910145" y="3725749"/>
            <a:ext cx="1666939" cy="104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A09DE6-1D4D-8E73-BBB4-74DF3045734E}"/>
              </a:ext>
            </a:extLst>
          </p:cNvPr>
          <p:cNvSpPr txBox="1"/>
          <p:nvPr/>
        </p:nvSpPr>
        <p:spPr>
          <a:xfrm>
            <a:off x="4915306" y="4421399"/>
            <a:ext cx="609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SUT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B490565-C187-6AD8-D11B-F45008F9F605}"/>
              </a:ext>
            </a:extLst>
          </p:cNvPr>
          <p:cNvSpPr/>
          <p:nvPr/>
        </p:nvSpPr>
        <p:spPr>
          <a:xfrm>
            <a:off x="1855837" y="3062853"/>
            <a:ext cx="1054308" cy="132579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/>
              <p:nvPr/>
            </p:nvSpPr>
            <p:spPr>
              <a:xfrm>
                <a:off x="1261819" y="4597583"/>
                <a:ext cx="260126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Structured language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</m:oMath>
                </a14:m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1819" y="4597583"/>
                <a:ext cx="2601264" cy="369332"/>
              </a:xfrm>
              <a:prstGeom prst="rect">
                <a:avLst/>
              </a:prstGeom>
              <a:blipFill>
                <a:blip r:embed="rId4"/>
                <a:stretch>
                  <a:fillRect l="-1942" t="-3226" b="-193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/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84AE8920-B0E1-014F-1B1B-181020CF2008}"/>
              </a:ext>
            </a:extLst>
          </p:cNvPr>
          <p:cNvSpPr/>
          <p:nvPr/>
        </p:nvSpPr>
        <p:spPr>
          <a:xfrm>
            <a:off x="2130919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0F736C5D-1F54-E1DD-E0F3-DB65A053A69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1825625"/>
                <a:ext cx="12192000" cy="624555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Why do we want to find </a:t>
                </a:r>
                <a14:m>
                  <m:oMath xmlns:m="http://schemas.openxmlformats.org/officeDocument/2006/math">
                    <m:r>
                      <a:rPr lang="en-US" b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anyway?</a:t>
                </a:r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0F736C5D-1F54-E1DD-E0F3-DB65A053A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25625"/>
                <a:ext cx="12192000" cy="624555"/>
              </a:xfrm>
              <a:prstGeom prst="rect">
                <a:avLst/>
              </a:prstGeom>
              <a:blipFill>
                <a:blip r:embed="rId6"/>
                <a:stretch>
                  <a:fillRect t="-18000"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1787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21" grpId="0" animBg="1"/>
      <p:bldP spid="22" grpId="0"/>
      <p:bldP spid="6" grpId="0"/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0" name="Rounded Rectangle 29">
                <a:extLst>
                  <a:ext uri="{FF2B5EF4-FFF2-40B4-BE49-F238E27FC236}">
                    <a16:creationId xmlns:a16="http://schemas.microsoft.com/office/drawing/2014/main" id="{34ED21C9-BC1B-78EC-DDC3-83100131FCA9}"/>
                  </a:ext>
                </a:extLst>
              </p:cNvPr>
              <p:cNvSpPr/>
              <p:nvPr/>
            </p:nvSpPr>
            <p:spPr>
              <a:xfrm>
                <a:off x="7403417" y="4216486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sSup>
                        <m:sSupPr>
                          <m:ctrlPr>
                            <a:rPr lang="en-US" sz="32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p>
                          <m:r>
                            <a:rPr lang="en-US" sz="3200" i="1" dirty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0" name="Rounded Rectangle 29">
                <a:extLst>
                  <a:ext uri="{FF2B5EF4-FFF2-40B4-BE49-F238E27FC236}">
                    <a16:creationId xmlns:a16="http://schemas.microsoft.com/office/drawing/2014/main" id="{34ED21C9-BC1B-78EC-DDC3-83100131FCA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3417" y="4216486"/>
                <a:ext cx="2804812" cy="806816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Rounded Rectangle 26">
                <a:extLst>
                  <a:ext uri="{FF2B5EF4-FFF2-40B4-BE49-F238E27FC236}">
                    <a16:creationId xmlns:a16="http://schemas.microsoft.com/office/drawing/2014/main" id="{E2A1F9D1-CB08-7BC6-78AE-EC96FCF51271}"/>
                  </a:ext>
                </a:extLst>
              </p:cNvPr>
              <p:cNvSpPr/>
              <p:nvPr/>
            </p:nvSpPr>
            <p:spPr>
              <a:xfrm>
                <a:off x="7391475" y="3043420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⟹</m:t>
                      </m:r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  <m:r>
                        <a:rPr lang="en-US" sz="3200" i="1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sz="3200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27" name="Rounded Rectangle 26">
                <a:extLst>
                  <a:ext uri="{FF2B5EF4-FFF2-40B4-BE49-F238E27FC236}">
                    <a16:creationId xmlns:a16="http://schemas.microsoft.com/office/drawing/2014/main" id="{E2A1F9D1-CB08-7BC6-78AE-EC96FCF512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475" y="3043420"/>
                <a:ext cx="2804812" cy="806816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C7C693B-F7A7-9630-7BB3-CAF2438296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7084" y="3073464"/>
            <a:ext cx="1325563" cy="1325563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D9C6E87-83D2-2D5F-F0B5-853622189B0B}"/>
              </a:ext>
            </a:extLst>
          </p:cNvPr>
          <p:cNvCxnSpPr>
            <a:cxnSpLocks/>
            <a:stCxn id="29" idx="6"/>
            <a:endCxn id="8" idx="1"/>
          </p:cNvCxnSpPr>
          <p:nvPr/>
        </p:nvCxnSpPr>
        <p:spPr>
          <a:xfrm>
            <a:off x="3121972" y="3725748"/>
            <a:ext cx="1455112" cy="10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A09DE6-1D4D-8E73-BBB4-74DF3045734E}"/>
              </a:ext>
            </a:extLst>
          </p:cNvPr>
          <p:cNvSpPr txBox="1"/>
          <p:nvPr/>
        </p:nvSpPr>
        <p:spPr>
          <a:xfrm>
            <a:off x="4915306" y="4421399"/>
            <a:ext cx="609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SUT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B490565-C187-6AD8-D11B-F45008F9F605}"/>
              </a:ext>
            </a:extLst>
          </p:cNvPr>
          <p:cNvSpPr/>
          <p:nvPr/>
        </p:nvSpPr>
        <p:spPr>
          <a:xfrm>
            <a:off x="1855837" y="3062853"/>
            <a:ext cx="1054308" cy="132579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/>
              <p:nvPr/>
            </p:nvSpPr>
            <p:spPr>
              <a:xfrm>
                <a:off x="999059" y="4606157"/>
                <a:ext cx="3720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Interesting mutation space </a:t>
                </a:r>
                <a14:m>
                  <m:oMath xmlns:m="http://schemas.openxmlformats.org/officeDocument/2006/math"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′</m:t>
                    </m:r>
                  </m:oMath>
                </a14:m>
                <a:endPara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1AD3716-5114-BA2C-26A4-9803378168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059" y="4606157"/>
                <a:ext cx="3720305" cy="369332"/>
              </a:xfrm>
              <a:prstGeom prst="rect">
                <a:avLst/>
              </a:prstGeom>
              <a:blipFill>
                <a:blip r:embed="rId6"/>
                <a:stretch>
                  <a:fillRect l="-1361" t="-6667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4195B8C-3D58-6CA6-8DC9-8A53E2C78383}"/>
                  </a:ext>
                </a:extLst>
              </p:cNvPr>
              <p:cNvSpPr txBox="1"/>
              <p:nvPr/>
            </p:nvSpPr>
            <p:spPr>
              <a:xfrm>
                <a:off x="1565587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  <m: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4195B8C-3D58-6CA6-8DC9-8A53E2C78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5587" y="3322015"/>
                <a:ext cx="42458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Oval 24">
            <a:extLst>
              <a:ext uri="{FF2B5EF4-FFF2-40B4-BE49-F238E27FC236}">
                <a16:creationId xmlns:a16="http://schemas.microsoft.com/office/drawing/2014/main" id="{A4E1ADE6-B837-A6A6-FEEB-E51FBDC51154}"/>
              </a:ext>
            </a:extLst>
          </p:cNvPr>
          <p:cNvSpPr/>
          <p:nvPr/>
        </p:nvSpPr>
        <p:spPr>
          <a:xfrm>
            <a:off x="1606815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CD48054-789C-4089-64DB-54E4FF2B8A0F}"/>
              </a:ext>
            </a:extLst>
          </p:cNvPr>
          <p:cNvSpPr/>
          <p:nvPr/>
        </p:nvSpPr>
        <p:spPr>
          <a:xfrm>
            <a:off x="1470455" y="2868761"/>
            <a:ext cx="1651517" cy="1713974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/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D6F926-753C-C388-DC19-CDD954320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7389" y="3322015"/>
                <a:ext cx="42458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Oval 6">
            <a:extLst>
              <a:ext uri="{FF2B5EF4-FFF2-40B4-BE49-F238E27FC236}">
                <a16:creationId xmlns:a16="http://schemas.microsoft.com/office/drawing/2014/main" id="{84AE8920-B0E1-014F-1B1B-181020CF2008}"/>
              </a:ext>
            </a:extLst>
          </p:cNvPr>
          <p:cNvSpPr/>
          <p:nvPr/>
        </p:nvSpPr>
        <p:spPr>
          <a:xfrm>
            <a:off x="2130919" y="3490034"/>
            <a:ext cx="67469" cy="6746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9F6DF8-21DE-12FC-8A8C-BB1E228205DF}"/>
              </a:ext>
            </a:extLst>
          </p:cNvPr>
          <p:cNvSpPr txBox="1"/>
          <p:nvPr/>
        </p:nvSpPr>
        <p:spPr>
          <a:xfrm>
            <a:off x="7544964" y="5036992"/>
            <a:ext cx="26003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Britannic Bold" panose="020B0903060703020204" pitchFamily="34" charset="77"/>
                <a:ea typeface="Roboto" panose="02000000000000000000" pitchFamily="2" charset="0"/>
                <a:cs typeface="Roboto" panose="02000000000000000000" pitchFamily="2" charset="0"/>
              </a:rPr>
              <a:t>Constraint-aware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79A901-9D17-FABE-4D28-9EC3111D34B7}"/>
              </a:ext>
            </a:extLst>
          </p:cNvPr>
          <p:cNvSpPr txBox="1"/>
          <p:nvPr/>
        </p:nvSpPr>
        <p:spPr>
          <a:xfrm>
            <a:off x="7568666" y="2601212"/>
            <a:ext cx="24609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dirty="0">
                <a:latin typeface="Britannic Bold" panose="020B0903060703020204" pitchFamily="34" charset="77"/>
                <a:ea typeface="Roboto" panose="02000000000000000000" pitchFamily="2" charset="0"/>
                <a:cs typeface="Roboto" panose="02000000000000000000" pitchFamily="2" charset="0"/>
              </a:rPr>
              <a:t>Constraint-blind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0F736C5D-1F54-E1DD-E0F3-DB65A053A69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1825625"/>
                <a:ext cx="12192000" cy="624555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Why do we want to find </a:t>
                </a:r>
                <a14:m>
                  <m:oMath xmlns:m="http://schemas.openxmlformats.org/officeDocument/2006/math">
                    <m:r>
                      <a:rPr lang="en-US" b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𝐱</m:t>
                    </m:r>
                    <m:r>
                      <a:rPr lang="en-US" b="1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𝓛</m:t>
                    </m:r>
                    <m:r>
                      <a:rPr lang="en-US" b="1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>
                    <a:solidFill>
                      <a:srgbClr val="C00000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anyway?</a:t>
                </a:r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16" name="Content Placeholder 2">
                <a:extLst>
                  <a:ext uri="{FF2B5EF4-FFF2-40B4-BE49-F238E27FC236}">
                    <a16:creationId xmlns:a16="http://schemas.microsoft.com/office/drawing/2014/main" id="{0F736C5D-1F54-E1DD-E0F3-DB65A053A6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25625"/>
                <a:ext cx="12192000" cy="624555"/>
              </a:xfrm>
              <a:prstGeom prst="rect">
                <a:avLst/>
              </a:prstGeom>
              <a:blipFill>
                <a:blip r:embed="rId9"/>
                <a:stretch>
                  <a:fillRect t="-18000"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EC245915-F3F7-9DB7-8B3B-27DE4A8D0059}"/>
              </a:ext>
            </a:extLst>
          </p:cNvPr>
          <p:cNvSpPr txBox="1"/>
          <p:nvPr/>
        </p:nvSpPr>
        <p:spPr>
          <a:xfrm>
            <a:off x="7825114" y="3080814"/>
            <a:ext cx="8723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DB51C2-7C4B-CE1A-23FE-38EF7DDBD85C}"/>
              </a:ext>
            </a:extLst>
          </p:cNvPr>
          <p:cNvSpPr txBox="1"/>
          <p:nvPr/>
        </p:nvSpPr>
        <p:spPr>
          <a:xfrm>
            <a:off x="8755689" y="3080814"/>
            <a:ext cx="8338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C178D76-18C9-B5FA-AD72-CF59AFFCB1A3}"/>
              </a:ext>
            </a:extLst>
          </p:cNvPr>
          <p:cNvSpPr txBox="1"/>
          <p:nvPr/>
        </p:nvSpPr>
        <p:spPr>
          <a:xfrm>
            <a:off x="7749180" y="4690758"/>
            <a:ext cx="8338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0CD2DC-3D6B-62FA-102B-CE69D67A5C65}"/>
              </a:ext>
            </a:extLst>
          </p:cNvPr>
          <p:cNvSpPr txBox="1"/>
          <p:nvPr/>
        </p:nvSpPr>
        <p:spPr>
          <a:xfrm>
            <a:off x="8859867" y="4690758"/>
            <a:ext cx="87235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4185EF1-F490-34FF-D4DF-46829B1C317A}"/>
              </a:ext>
            </a:extLst>
          </p:cNvPr>
          <p:cNvSpPr/>
          <p:nvPr/>
        </p:nvSpPr>
        <p:spPr>
          <a:xfrm>
            <a:off x="8829045" y="3326260"/>
            <a:ext cx="664277" cy="30724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892CD5A-D40E-4D6A-19A1-74C4CE5EEDCA}"/>
              </a:ext>
            </a:extLst>
          </p:cNvPr>
          <p:cNvSpPr/>
          <p:nvPr/>
        </p:nvSpPr>
        <p:spPr>
          <a:xfrm>
            <a:off x="7834577" y="4483485"/>
            <a:ext cx="664277" cy="30724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267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27" grpId="0" animBg="1"/>
      <p:bldP spid="11" grpId="0"/>
      <p:bldP spid="13" grpId="0"/>
      <p:bldP spid="19" grpId="0"/>
      <p:bldP spid="20" grpId="0"/>
      <p:bldP spid="23" grpId="0"/>
      <p:bldP spid="26" grpId="0"/>
      <p:bldP spid="31" grpId="0" animBg="1"/>
      <p:bldP spid="3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ADF864A0-63D4-7710-ABF1-73EA809F0C02}"/>
                  </a:ext>
                </a:extLst>
              </p:cNvPr>
              <p:cNvSpPr/>
              <p:nvPr/>
            </p:nvSpPr>
            <p:spPr>
              <a:xfrm>
                <a:off x="2682356" y="3821795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ADF864A0-63D4-7710-ABF1-73EA809F0C0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2356" y="3821795"/>
                <a:ext cx="2804812" cy="806816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A676326B-10E2-B23E-27F2-CFD884AF5338}"/>
              </a:ext>
            </a:extLst>
          </p:cNvPr>
          <p:cNvSpPr txBox="1"/>
          <p:nvPr/>
        </p:nvSpPr>
        <p:spPr>
          <a:xfrm>
            <a:off x="3541338" y="3790973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7533D280-ED13-9F2C-F4B6-EDAE60847892}"/>
                  </a:ext>
                </a:extLst>
              </p:cNvPr>
              <p:cNvSpPr/>
              <p:nvPr/>
            </p:nvSpPr>
            <p:spPr>
              <a:xfrm>
                <a:off x="6473537" y="3810951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⟨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′,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⟩⟹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7533D280-ED13-9F2C-F4B6-EDAE608478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3537" y="3810951"/>
                <a:ext cx="2804812" cy="806816"/>
              </a:xfrm>
              <a:prstGeom prst="roundRect">
                <a:avLst/>
              </a:prstGeom>
              <a:blipFill>
                <a:blip r:embed="rId4"/>
                <a:stretch>
                  <a:fillRect l="-897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D1C64464-9F14-94B1-6CF8-6983804B0715}"/>
              </a:ext>
            </a:extLst>
          </p:cNvPr>
          <p:cNvSpPr txBox="1"/>
          <p:nvPr/>
        </p:nvSpPr>
        <p:spPr>
          <a:xfrm>
            <a:off x="7728755" y="3780129"/>
            <a:ext cx="957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25AEC0-29EF-CEAD-45E8-BF7A6B05870D}"/>
              </a:ext>
            </a:extLst>
          </p:cNvPr>
          <p:cNvSpPr txBox="1"/>
          <p:nvPr/>
        </p:nvSpPr>
        <p:spPr>
          <a:xfrm>
            <a:off x="2202738" y="3963593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4DD88F-DF21-27FA-90A3-A075C8B3B59A}"/>
              </a:ext>
            </a:extLst>
          </p:cNvPr>
          <p:cNvSpPr txBox="1"/>
          <p:nvPr/>
        </p:nvSpPr>
        <p:spPr>
          <a:xfrm>
            <a:off x="5993919" y="3952749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85ACFC-9578-83B3-539E-340C3D7059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0672" y="3637278"/>
            <a:ext cx="630942" cy="630942"/>
          </a:xfrm>
          <a:prstGeom prst="rect">
            <a:avLst/>
          </a:prstGeom>
        </p:spPr>
      </p:pic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7C7C9D91-72A4-1100-BA4B-5A6B4E7BEA0C}"/>
              </a:ext>
            </a:extLst>
          </p:cNvPr>
          <p:cNvSpPr txBox="1">
            <a:spLocks/>
          </p:cNvSpPr>
          <p:nvPr/>
        </p:nvSpPr>
        <p:spPr>
          <a:xfrm>
            <a:off x="0" y="1825625"/>
            <a:ext cx="12192000" cy="6245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How to perform constraint-aware mutation?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US" dirty="0">
              <a:latin typeface="Source Sans Pro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44CF456-03B3-6F9D-3C1E-0EC98FCB4906}"/>
                  </a:ext>
                </a:extLst>
              </p:cNvPr>
              <p:cNvSpPr txBox="1"/>
              <p:nvPr/>
            </p:nvSpPr>
            <p:spPr>
              <a:xfrm>
                <a:off x="951263" y="2360798"/>
                <a:ext cx="1028906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Pair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⟨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CFG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gives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separation of concerns</a:t>
                </a: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44CF456-03B3-6F9D-3C1E-0EC98FCB49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2360798"/>
                <a:ext cx="10289061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88057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  <p:bldP spid="13" grpId="0" animBg="1"/>
      <p:bldP spid="14" grpId="0"/>
      <p:bldP spid="15" grpId="0"/>
      <p:bldP spid="17" grpId="0"/>
      <p:bldP spid="20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5AF4EB60-0F98-D35F-1F34-52003CC39B34}"/>
              </a:ext>
            </a:extLst>
          </p:cNvPr>
          <p:cNvSpPr/>
          <p:nvPr/>
        </p:nvSpPr>
        <p:spPr>
          <a:xfrm>
            <a:off x="1249656" y="5227813"/>
            <a:ext cx="9906824" cy="87630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/>
              <p:nvPr/>
            </p:nvSpPr>
            <p:spPr>
              <a:xfrm>
                <a:off x="951263" y="2360798"/>
                <a:ext cx="1028906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Pair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⟨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CFG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,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⟩</m:t>
                    </m:r>
                  </m:oMath>
                </a14:m>
                <a:r>
                  <a:rPr lang="en-US" sz="2400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gives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separation of concerns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80AACE9-13C2-3352-89FA-CB958B1A4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263" y="2360798"/>
                <a:ext cx="10289061" cy="461665"/>
              </a:xfrm>
              <a:prstGeom prst="rect">
                <a:avLst/>
              </a:prstGeom>
              <a:blipFill>
                <a:blip r:embed="rId3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>
            <a:extLst>
              <a:ext uri="{FF2B5EF4-FFF2-40B4-BE49-F238E27FC236}">
                <a16:creationId xmlns:a16="http://schemas.microsoft.com/office/drawing/2014/main" id="{59236F1A-83D2-B4FA-1021-588808FBF0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0687" y="2964219"/>
            <a:ext cx="636855" cy="63685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2939" y="5425720"/>
            <a:ext cx="450996" cy="450996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6B6AFCD-91B2-9DB5-5715-EDCBE177347D}"/>
              </a:ext>
            </a:extLst>
          </p:cNvPr>
          <p:cNvSpPr txBox="1">
            <a:spLocks/>
          </p:cNvSpPr>
          <p:nvPr/>
        </p:nvSpPr>
        <p:spPr>
          <a:xfrm>
            <a:off x="0" y="1825625"/>
            <a:ext cx="12192000" cy="62455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>
                <a:solidFill>
                  <a:srgbClr val="C00000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How to perform constraint-aware mutation?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804B10AA-0AF4-A513-94A6-77DD9EA054CF}"/>
                  </a:ext>
                </a:extLst>
              </p:cNvPr>
              <p:cNvSpPr/>
              <p:nvPr/>
            </p:nvSpPr>
            <p:spPr>
              <a:xfrm>
                <a:off x="956303" y="3672017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804B10AA-0AF4-A513-94A6-77DD9EA054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303" y="3672017"/>
                <a:ext cx="2804812" cy="806816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AC1FEACE-C7C3-3FB1-E1FD-2B1E4280195D}"/>
                  </a:ext>
                </a:extLst>
              </p:cNvPr>
              <p:cNvSpPr/>
              <p:nvPr/>
            </p:nvSpPr>
            <p:spPr>
              <a:xfrm>
                <a:off x="4649870" y="3672017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AC1FEACE-C7C3-3FB1-E1FD-2B1E428019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9870" y="3672017"/>
                <a:ext cx="2804812" cy="806816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B7EF617C-4420-CBF3-2AE9-3A9EDBC248BD}"/>
                  </a:ext>
                </a:extLst>
              </p:cNvPr>
              <p:cNvSpPr/>
              <p:nvPr/>
            </p:nvSpPr>
            <p:spPr>
              <a:xfrm>
                <a:off x="8343437" y="3672017"/>
                <a:ext cx="2804812" cy="806816"/>
              </a:xfrm>
              <a:prstGeom prst="roundRect">
                <a:avLst/>
              </a:prstGeom>
              <a:solidFill>
                <a:srgbClr val="E0EFFF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⟨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′,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′⟩⟹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3600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B7EF617C-4420-CBF3-2AE9-3A9EDBC248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3437" y="3672017"/>
                <a:ext cx="2804812" cy="806816"/>
              </a:xfrm>
              <a:prstGeom prst="roundRect">
                <a:avLst/>
              </a:prstGeom>
              <a:blipFill>
                <a:blip r:embed="rId8"/>
                <a:stretch>
                  <a:fillRect l="-2691" b="-6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8809FDC2-42F6-C07B-FB40-6EF71D238AC2}"/>
              </a:ext>
            </a:extLst>
          </p:cNvPr>
          <p:cNvSpPr txBox="1"/>
          <p:nvPr/>
        </p:nvSpPr>
        <p:spPr>
          <a:xfrm>
            <a:off x="1839287" y="3625252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BEBE37-4F93-7186-2E0A-8769F48E0EFB}"/>
              </a:ext>
            </a:extLst>
          </p:cNvPr>
          <p:cNvSpPr txBox="1"/>
          <p:nvPr/>
        </p:nvSpPr>
        <p:spPr>
          <a:xfrm>
            <a:off x="5503702" y="3625252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Mutate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91E4B5-60D0-63F5-E5F0-7111103C86E6}"/>
              </a:ext>
            </a:extLst>
          </p:cNvPr>
          <p:cNvSpPr txBox="1"/>
          <p:nvPr/>
        </p:nvSpPr>
        <p:spPr>
          <a:xfrm>
            <a:off x="9681835" y="3625252"/>
            <a:ext cx="957313" cy="4062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Sample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0C3DAE-1D4C-8BC6-8399-F56FF6138499}"/>
              </a:ext>
            </a:extLst>
          </p:cNvPr>
          <p:cNvSpPr txBox="1"/>
          <p:nvPr/>
        </p:nvSpPr>
        <p:spPr>
          <a:xfrm>
            <a:off x="476685" y="3801196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1.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6802573-06BF-16C8-B96E-0F9912A99C6D}"/>
              </a:ext>
            </a:extLst>
          </p:cNvPr>
          <p:cNvSpPr txBox="1"/>
          <p:nvPr/>
        </p:nvSpPr>
        <p:spPr>
          <a:xfrm>
            <a:off x="4154829" y="3801196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2.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A9DFFB-3DEC-61A8-410F-0E7419BC948B}"/>
              </a:ext>
            </a:extLst>
          </p:cNvPr>
          <p:cNvSpPr txBox="1"/>
          <p:nvPr/>
        </p:nvSpPr>
        <p:spPr>
          <a:xfrm>
            <a:off x="7863819" y="3801196"/>
            <a:ext cx="4796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3.</a:t>
            </a:r>
          </a:p>
        </p:txBody>
      </p: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BC010781-8035-5C66-D698-5C375E88E17C}"/>
              </a:ext>
            </a:extLst>
          </p:cNvPr>
          <p:cNvCxnSpPr>
            <a:stCxn id="12" idx="2"/>
            <a:endCxn id="11" idx="2"/>
          </p:cNvCxnSpPr>
          <p:nvPr/>
        </p:nvCxnSpPr>
        <p:spPr>
          <a:xfrm rot="5400000">
            <a:off x="4205493" y="2632050"/>
            <a:ext cx="12700" cy="3693567"/>
          </a:xfrm>
          <a:prstGeom prst="curvedConnector3">
            <a:avLst>
              <a:gd name="adj1" fmla="val 3060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8877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 animBg="1"/>
      <p:bldP spid="11" grpId="0" animBg="1"/>
      <p:bldP spid="12" grpId="0" animBg="1"/>
      <p:bldP spid="13" grpId="0" animBg="1"/>
      <p:bldP spid="14" grpId="0"/>
      <p:bldP spid="15" grpId="0"/>
      <p:bldP spid="17" grpId="0"/>
      <p:bldP spid="21" grpId="0"/>
      <p:bldP spid="22" grpId="0"/>
      <p:bldP spid="2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E98FF0-3C4A-8D9D-BA63-ACED03316C22}"/>
              </a:ext>
            </a:extLst>
          </p:cNvPr>
          <p:cNvSpPr txBox="1"/>
          <p:nvPr/>
        </p:nvSpPr>
        <p:spPr>
          <a:xfrm>
            <a:off x="1402259" y="1698592"/>
            <a:ext cx="74574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263" y="1690688"/>
            <a:ext cx="450996" cy="4509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1E02D3-32A7-8681-8886-60806900D5ED}"/>
                  </a:ext>
                </a:extLst>
              </p:cNvPr>
              <p:cNvSpPr txBox="1"/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American Typewriter" panose="02090604020004020304" pitchFamily="18" charset="77"/>
                  </a:rPr>
                  <a:t>S ::=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American Typewriter" panose="02090604020004020304" pitchFamily="18" charset="77"/>
                  </a:rPr>
                  <a:t>&lt;Type&gt;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merican Typewriter" panose="02090604020004020304" pitchFamily="18" charset="77"/>
                  </a:rPr>
                  <a:t>&lt;Length&gt; 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&lt;Value&gt; </a:t>
                </a:r>
              </a:p>
              <a:p>
                <a:endParaRPr lang="en-US" sz="2000" dirty="0">
                  <a:latin typeface="American Typewriter" panose="02090604020004020304" pitchFamily="18" charset="77"/>
                </a:endParaRP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S ::= </a:t>
                </a:r>
                <a:r>
                  <a:rPr lang="en-US" sz="20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American Typewriter" panose="02090604020004020304" pitchFamily="18" charset="77"/>
                  </a:rPr>
                  <a:t>&lt;Length&gt; </a:t>
                </a:r>
                <a:r>
                  <a:rPr lang="en-US" sz="2000" dirty="0">
                    <a:solidFill>
                      <a:schemeClr val="accent6">
                        <a:lumMod val="75000"/>
                      </a:schemeClr>
                    </a:solidFill>
                    <a:latin typeface="American Typewriter" panose="02090604020004020304" pitchFamily="18" charset="77"/>
                  </a:rPr>
                  <a:t>&lt;Type&gt; 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&lt;Value&gt; </a:t>
                </a:r>
              </a:p>
              <a:p>
                <a:endParaRPr lang="en-US" sz="2000" dirty="0">
                  <a:latin typeface="American Typewriter" panose="02090604020004020304" pitchFamily="18" charset="77"/>
                </a:endParaRP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31E02D3-32A7-8681-8886-60806900D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blipFill>
                <a:blip r:embed="rId4"/>
                <a:stretch>
                  <a:fillRect l="-1639" t="-1124" r="-656" b="-39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32F0A6-C66C-D81E-78D7-CF7E2CABC48B}"/>
                  </a:ext>
                </a:extLst>
              </p:cNvPr>
              <p:cNvSpPr txBox="1"/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532F0A6-C66C-D81E-78D7-CF7E2CABC4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AEC051-6F7E-8084-F15A-8AE6175217B9}"/>
                  </a:ext>
                </a:extLst>
              </p:cNvPr>
              <p:cNvSpPr txBox="1"/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3AEC051-6F7E-8084-F15A-8AE6175217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7B6AE49-2914-BCAA-438C-146F3340750B}"/>
              </a:ext>
            </a:extLst>
          </p:cNvPr>
          <p:cNvSpPr/>
          <p:nvPr/>
        </p:nvSpPr>
        <p:spPr>
          <a:xfrm>
            <a:off x="1612900" y="2468256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C0987E7-023A-F38C-23EE-89494107021E}"/>
              </a:ext>
            </a:extLst>
          </p:cNvPr>
          <p:cNvSpPr/>
          <p:nvPr/>
        </p:nvSpPr>
        <p:spPr>
          <a:xfrm>
            <a:off x="1615023" y="3737000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2DB15AE-93E5-CA80-A2D8-6513C938FD32}"/>
              </a:ext>
            </a:extLst>
          </p:cNvPr>
          <p:cNvSpPr/>
          <p:nvPr/>
        </p:nvSpPr>
        <p:spPr>
          <a:xfrm>
            <a:off x="5898537" y="2467186"/>
            <a:ext cx="5341787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solidFill>
                  <a:schemeClr val="tx1"/>
                </a:solidFill>
                <a:latin typeface="American Typewriter" panose="02090604020004020304" pitchFamily="18" charset="77"/>
              </a:rPr>
              <a:t>forall</a:t>
            </a:r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`_ &lt;Length&gt; &lt;Value&gt;` in output:</a:t>
            </a:r>
          </a:p>
          <a:p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    &lt;Length&gt; = </a:t>
            </a:r>
            <a:r>
              <a:rPr lang="en-US" sz="1800" dirty="0" err="1">
                <a:solidFill>
                  <a:schemeClr val="tx1"/>
                </a:solidFill>
                <a:latin typeface="American Typewriter" panose="02090604020004020304" pitchFamily="18" charset="77"/>
              </a:rPr>
              <a:t>len</a:t>
            </a:r>
            <a:r>
              <a:rPr lang="en-US" sz="1800" dirty="0">
                <a:solidFill>
                  <a:schemeClr val="tx1"/>
                </a:solidFill>
                <a:latin typeface="American Typewriter" panose="02090604020004020304" pitchFamily="18" charset="77"/>
              </a:rPr>
              <a:t>(&lt;Valu</a:t>
            </a:r>
            <a:r>
              <a:rPr lang="en-US" dirty="0">
                <a:solidFill>
                  <a:schemeClr val="tx1"/>
                </a:solidFill>
                <a:latin typeface="American Typewriter" panose="02090604020004020304" pitchFamily="18" charset="77"/>
              </a:rPr>
              <a:t>e&gt;)</a:t>
            </a:r>
            <a:endParaRPr lang="en-US" sz="1800" dirty="0">
              <a:solidFill>
                <a:schemeClr val="tx1"/>
              </a:solidFill>
              <a:latin typeface="American Typewriter" panose="02090604020004020304" pitchFamily="18" charset="77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527189F-A622-C23A-163D-308E80DE6E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17353" y="2248377"/>
            <a:ext cx="363161" cy="363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211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Context-Sensitive Mutation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1E24EBA-2A89-F9FE-450F-B7EE8BD45BD8}"/>
              </a:ext>
            </a:extLst>
          </p:cNvPr>
          <p:cNvSpPr txBox="1">
            <a:spLocks/>
          </p:cNvSpPr>
          <p:nvPr/>
        </p:nvSpPr>
        <p:spPr>
          <a:xfrm>
            <a:off x="7945324" y="282246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>
              <a:latin typeface="American Typewriter" panose="02090604020004020304" pitchFamily="18" charset="77"/>
              <a:ea typeface="Source Sans Pro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E98FF0-3C4A-8D9D-BA63-ACED03316C22}"/>
              </a:ext>
            </a:extLst>
          </p:cNvPr>
          <p:cNvSpPr txBox="1"/>
          <p:nvPr/>
        </p:nvSpPr>
        <p:spPr>
          <a:xfrm>
            <a:off x="1402259" y="1698592"/>
            <a:ext cx="74574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Idea: Embed constraints in grammar production rules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4F50FE7-C3D9-2C8E-E05A-8C95FCD5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263" y="1690688"/>
            <a:ext cx="450996" cy="45099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F4BD048-17FD-CB6C-CB91-E8063490705B}"/>
                  </a:ext>
                </a:extLst>
              </p:cNvPr>
              <p:cNvSpPr txBox="1"/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solidFill>
                      <a:schemeClr val="bg2">
                        <a:lumMod val="90000"/>
                      </a:schemeClr>
                    </a:solidFill>
                    <a:latin typeface="American Typewriter" panose="02090604020004020304" pitchFamily="18" charset="77"/>
                  </a:rPr>
                  <a:t>S ::= &lt;Type&gt; &lt;Length&gt; &lt;Value&gt; 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{ &lt;Length&gt; = </a:t>
                </a:r>
                <a:r>
                  <a:rPr lang="en-US" sz="2000" dirty="0" err="1">
                    <a:latin typeface="American Typewriter" panose="02090604020004020304" pitchFamily="18" charset="77"/>
                  </a:rPr>
                  <a:t>len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(&lt;Value&gt;); }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…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000" i="1" dirty="0" smtClean="0"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US" sz="2000" dirty="0"/>
              </a:p>
              <a:p>
                <a:r>
                  <a:rPr lang="en-US" sz="2000" dirty="0">
                    <a:solidFill>
                      <a:schemeClr val="bg2">
                        <a:lumMod val="90000"/>
                      </a:schemeClr>
                    </a:solidFill>
                    <a:latin typeface="American Typewriter" panose="02090604020004020304" pitchFamily="18" charset="77"/>
                  </a:rPr>
                  <a:t>S ::= &lt;Length&gt; &lt;Type&gt; &lt;Value&gt; </a:t>
                </a:r>
              </a:p>
              <a:p>
                <a:r>
                  <a:rPr lang="en-US" sz="2000" dirty="0">
                    <a:latin typeface="American Typewriter" panose="02090604020004020304" pitchFamily="18" charset="77"/>
                  </a:rPr>
                  <a:t>{ &lt;Length&gt; = </a:t>
                </a:r>
                <a:r>
                  <a:rPr lang="en-US" sz="2000" dirty="0" err="1">
                    <a:latin typeface="American Typewriter" panose="02090604020004020304" pitchFamily="18" charset="77"/>
                  </a:rPr>
                  <a:t>len</a:t>
                </a:r>
                <a:r>
                  <a:rPr lang="en-US" sz="2000" dirty="0">
                    <a:latin typeface="American Typewriter" panose="02090604020004020304" pitchFamily="18" charset="77"/>
                  </a:rPr>
                  <a:t>(&lt;Value&gt;); }</a:t>
                </a:r>
              </a:p>
              <a:p>
                <a:r>
                  <a:rPr lang="en-US" sz="2000" dirty="0">
                    <a:solidFill>
                      <a:schemeClr val="bg2">
                        <a:lumMod val="90000"/>
                      </a:schemeClr>
                    </a:solidFill>
                    <a:latin typeface="American Typewriter" panose="02090604020004020304" pitchFamily="18" charset="77"/>
                  </a:rPr>
                  <a:t>…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F4BD048-17FD-CB6C-CB91-E806349070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623" y="2477210"/>
                <a:ext cx="3865417" cy="2246769"/>
              </a:xfrm>
              <a:prstGeom prst="rect">
                <a:avLst/>
              </a:prstGeom>
              <a:blipFill>
                <a:blip r:embed="rId4"/>
                <a:stretch>
                  <a:fillRect l="-1639" t="-1124" r="-656" b="-39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22CA3F-26D8-CC96-DAAB-2D09826AB4C6}"/>
                  </a:ext>
                </a:extLst>
              </p:cNvPr>
              <p:cNvSpPr txBox="1"/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22CA3F-26D8-CC96-DAAB-2D09826AB4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2265017"/>
                <a:ext cx="38715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50339D-FAEF-8D87-AAF5-7E3192FB044A}"/>
                  </a:ext>
                </a:extLst>
              </p:cNvPr>
              <p:cNvSpPr txBox="1"/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b="0" i="1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850339D-FAEF-8D87-AAF5-7E3192FB04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1802" y="3520067"/>
                <a:ext cx="43633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2436FE8-0F6D-E87D-11C2-6B590A502966}"/>
              </a:ext>
            </a:extLst>
          </p:cNvPr>
          <p:cNvSpPr/>
          <p:nvPr/>
        </p:nvSpPr>
        <p:spPr>
          <a:xfrm>
            <a:off x="1612900" y="2468256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2EF5AF4-6D6E-76D4-D3E1-512D2F6D22B7}"/>
              </a:ext>
            </a:extLst>
          </p:cNvPr>
          <p:cNvSpPr/>
          <p:nvPr/>
        </p:nvSpPr>
        <p:spPr>
          <a:xfrm>
            <a:off x="1615023" y="3737000"/>
            <a:ext cx="3969140" cy="96074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54D4292-968C-E798-5419-9AC6C3A64583}"/>
              </a:ext>
            </a:extLst>
          </p:cNvPr>
          <p:cNvSpPr/>
          <p:nvPr/>
        </p:nvSpPr>
        <p:spPr>
          <a:xfrm>
            <a:off x="5898537" y="2467186"/>
            <a:ext cx="5341787" cy="707886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dirty="0" err="1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forall</a:t>
            </a:r>
            <a:r>
              <a:rPr lang="en-US" sz="18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 `_ &lt;Length&gt; &lt;Value&gt;` in output:</a:t>
            </a:r>
          </a:p>
          <a:p>
            <a:r>
              <a:rPr lang="en-US" sz="18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    &lt;Length&gt; = </a:t>
            </a:r>
            <a:r>
              <a:rPr lang="en-US" sz="1800" dirty="0" err="1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len</a:t>
            </a:r>
            <a:r>
              <a:rPr lang="en-US" sz="18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(&lt;Valu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</a:rPr>
              <a:t>e&gt;)</a:t>
            </a:r>
            <a:endParaRPr lang="en-US" sz="1800" dirty="0">
              <a:solidFill>
                <a:schemeClr val="bg2">
                  <a:lumMod val="90000"/>
                </a:schemeClr>
              </a:solidFill>
              <a:latin typeface="American Typewriter" panose="02090604020004020304" pitchFamily="18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8547439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Roadmap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6405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aphicFrame>
        <p:nvGraphicFramePr>
          <p:cNvPr id="6" name="Table 8">
            <a:extLst>
              <a:ext uri="{FF2B5EF4-FFF2-40B4-BE49-F238E27FC236}">
                <a16:creationId xmlns:a16="http://schemas.microsoft.com/office/drawing/2014/main" id="{5FED09C4-8A83-A452-0AE5-1E1175B133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4325522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7748B4FF-27A1-1B14-2354-79CC05C4DB02}"/>
              </a:ext>
            </a:extLst>
          </p:cNvPr>
          <p:cNvSpPr/>
          <p:nvPr/>
        </p:nvSpPr>
        <p:spPr>
          <a:xfrm>
            <a:off x="2857499" y="2425700"/>
            <a:ext cx="2233789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5888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8">
            <a:extLst>
              <a:ext uri="{FF2B5EF4-FFF2-40B4-BE49-F238E27FC236}">
                <a16:creationId xmlns:a16="http://schemas.microsoft.com/office/drawing/2014/main" id="{6E7A11B4-8EF3-5962-0E16-46B5FB79EA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5977269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838E2C-DC25-F71D-4CDD-96D1A12ED463}"/>
              </a:ext>
            </a:extLst>
          </p:cNvPr>
          <p:cNvSpPr/>
          <p:nvPr/>
        </p:nvSpPr>
        <p:spPr>
          <a:xfrm>
            <a:off x="4965700" y="2393950"/>
            <a:ext cx="22352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7DDCB7-4185-A659-1BFE-F8D708837AA5}"/>
              </a:ext>
            </a:extLst>
          </p:cNvPr>
          <p:cNvSpPr txBox="1"/>
          <p:nvPr/>
        </p:nvSpPr>
        <p:spPr>
          <a:xfrm>
            <a:off x="4191000" y="1836188"/>
            <a:ext cx="40352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merican Typewriter" panose="02090604020004020304" pitchFamily="18" charset="77"/>
              </a:rPr>
              <a:t>before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</a:t>
            </a:r>
            <a:r>
              <a:rPr lang="en-US" sz="2000" dirty="0"/>
              <a:t> </a:t>
            </a:r>
            <a:r>
              <a:rPr lang="en-US" sz="2000" dirty="0">
                <a:latin typeface="American Typewriter" panose="02090604020004020304" pitchFamily="18" charset="77"/>
              </a:rPr>
              <a:t>after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</a:t>
            </a:r>
            <a:r>
              <a:rPr lang="en-US" sz="2000" dirty="0"/>
              <a:t> </a:t>
            </a:r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pattern matching, …</a:t>
            </a:r>
          </a:p>
        </p:txBody>
      </p:sp>
    </p:spTree>
    <p:extLst>
      <p:ext uri="{BB962C8B-B14F-4D97-AF65-F5344CB8AC3E}">
        <p14:creationId xmlns:p14="http://schemas.microsoft.com/office/powerpoint/2010/main" val="36275456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D814-2194-2131-7C95-5223F3A77911}"/>
              </a:ext>
            </a:extLst>
          </p:cNvPr>
          <p:cNvSpPr txBox="1">
            <a:spLocks/>
          </p:cNvSpPr>
          <p:nvPr/>
        </p:nvSpPr>
        <p:spPr>
          <a:xfrm>
            <a:off x="951263" y="4716869"/>
            <a:ext cx="10515600" cy="8638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is largely inspired by </a:t>
            </a:r>
            <a:r>
              <a:rPr lang="en-US" sz="2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ISLa</a:t>
            </a: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aphicFrame>
        <p:nvGraphicFramePr>
          <p:cNvPr id="5" name="Table 8">
            <a:extLst>
              <a:ext uri="{FF2B5EF4-FFF2-40B4-BE49-F238E27FC236}">
                <a16:creationId xmlns:a16="http://schemas.microsoft.com/office/drawing/2014/main" id="{4411718C-E5A1-FD06-1385-C76930B78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5090117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EF838E2C-DC25-F71D-4CDD-96D1A12ED463}"/>
              </a:ext>
            </a:extLst>
          </p:cNvPr>
          <p:cNvSpPr/>
          <p:nvPr/>
        </p:nvSpPr>
        <p:spPr>
          <a:xfrm>
            <a:off x="9182100" y="2392144"/>
            <a:ext cx="2284763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49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96798A0-0675-BE2D-E6E5-F67CDE231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761530"/>
            <a:ext cx="10515600" cy="86385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Fandango’s performance depends 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monotonicity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of constraints</a:t>
            </a:r>
          </a:p>
        </p:txBody>
      </p:sp>
      <p:graphicFrame>
        <p:nvGraphicFramePr>
          <p:cNvPr id="3" name="Table 8">
            <a:extLst>
              <a:ext uri="{FF2B5EF4-FFF2-40B4-BE49-F238E27FC236}">
                <a16:creationId xmlns:a16="http://schemas.microsoft.com/office/drawing/2014/main" id="{CD0BD16D-41B1-71D0-024B-C231CB94D8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5142891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9D378602-9FC7-F16F-2021-ACBBCD6B33C8}"/>
              </a:ext>
            </a:extLst>
          </p:cNvPr>
          <p:cNvSpPr/>
          <p:nvPr/>
        </p:nvSpPr>
        <p:spPr>
          <a:xfrm>
            <a:off x="7035800" y="2407023"/>
            <a:ext cx="2286000" cy="20701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1778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79E04DC-863A-6AD4-9FAD-A64A58F96C36}"/>
              </a:ext>
            </a:extLst>
          </p:cNvPr>
          <p:cNvSpPr/>
          <p:nvPr/>
        </p:nvSpPr>
        <p:spPr>
          <a:xfrm>
            <a:off x="1371600" y="4888041"/>
            <a:ext cx="9448800" cy="111375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has already been used to help discover novel semantic bugs in widely-used software</a:t>
            </a:r>
            <a:endParaRPr lang="en-US" sz="18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Table 8">
            <a:extLst>
              <a:ext uri="{FF2B5EF4-FFF2-40B4-BE49-F238E27FC236}">
                <a16:creationId xmlns:a16="http://schemas.microsoft.com/office/drawing/2014/main" id="{1F30335D-5030-38BF-6693-CA819C9498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678219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Tool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Language philosophy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Search algorithm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Native theories</a:t>
                      </a:r>
                    </a:p>
                    <a:p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Goblin</a:t>
                      </a: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Local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Minimalist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b="1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ISLa</a:t>
                      </a:r>
                      <a:endParaRPr lang="en-US" dirty="0">
                        <a:solidFill>
                          <a:schemeClr val="tx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Constraint solving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Strings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Fandango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Global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Maximalist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Genetic algorithm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All</a:t>
                      </a:r>
                      <a:endParaRPr lang="en-US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2701A92F-1A79-07C6-4460-3C6AF9A615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838649"/>
            <a:ext cx="1163145" cy="1163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8094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00342"/>
              </a:xfrm>
            </p:spPr>
            <p:txBody>
              <a:bodyPr vert="horz" lIns="91440" tIns="45720" rIns="91440" bIns="45720" rtlCol="0" anchor="t">
                <a:normAutofit lnSpcReduction="10000"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Use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grammars </a:t>
                </a:r>
                <a:r>
                  <a:rPr lang="en-US" dirty="0">
                    <a:latin typeface="Source Sans Pro"/>
                    <a:ea typeface="Source Sans Pro"/>
                  </a:rPr>
                  <a:t>(CFGs) to capture input structure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HTTP requests, DNS packets, </a:t>
                </a:r>
                <a:r>
                  <a:rPr lang="en-US" dirty="0" err="1">
                    <a:latin typeface="Source Sans Pro"/>
                    <a:ea typeface="Source Sans Pro"/>
                  </a:rPr>
                  <a:t>LangFuzz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Can only handle context-free aspects of the spec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Consider packet format with fields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:r>
                  <a:rPr lang="en-US" dirty="0" err="1">
                    <a:latin typeface="Source Sans Pro"/>
                    <a:ea typeface="Source Sans Pro"/>
                  </a:rPr>
                  <a:t>s.t.</a:t>
                </a:r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d>
                      <m:dPr>
                        <m:begChr m:val="|"/>
                        <m:endChr m:val="|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latin typeface="Source Sans Pro"/>
                    <a:ea typeface="Source Sans Pro"/>
                  </a:rPr>
                  <a:t>Tools tailor-made for the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system under test </a:t>
                </a:r>
                <a:r>
                  <a:rPr lang="en-US" dirty="0">
                    <a:latin typeface="Source Sans Pro"/>
                    <a:ea typeface="Source Sans Pro"/>
                  </a:rPr>
                  <a:t>(SUT)</a:t>
                </a:r>
              </a:p>
              <a:p>
                <a:pPr lvl="1"/>
                <a:r>
                  <a:rPr lang="en-US" dirty="0" err="1">
                    <a:latin typeface="Source Sans Pro"/>
                    <a:ea typeface="Source Sans Pro"/>
                  </a:rPr>
                  <a:t>CSmith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Lacks generality!</a:t>
                </a:r>
              </a:p>
              <a:p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Coverage-guided mutation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How to generate an initial corpus?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What if no access to coverage information?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Mutations still blind to specification constraints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00342"/>
              </a:xfrm>
              <a:blipFill>
                <a:blip r:embed="rId2"/>
                <a:stretch>
                  <a:fillRect l="-1086" t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94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117FD7E-21BA-CBA0-9F15-68A43DEFEA78}"/>
              </a:ext>
            </a:extLst>
          </p:cNvPr>
          <p:cNvSpPr/>
          <p:nvPr/>
        </p:nvSpPr>
        <p:spPr>
          <a:xfrm>
            <a:off x="951263" y="3733101"/>
            <a:ext cx="10402537" cy="122479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Source Sans Pro"/>
                <a:ea typeface="Source Sans Pro"/>
              </a:rPr>
              <a:t>Refine CFG-based approaches to be more expressive, while maintaining their generality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Wishlist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3460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An input generation approach that gives…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Generality of CFG-based approaches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Expressiveness and performance of tailor-made </a:t>
            </a:r>
            <a:r>
              <a:rPr lang="en-US" dirty="0" err="1">
                <a:latin typeface="Source Sans Pro"/>
                <a:ea typeface="Source Sans Pro"/>
              </a:rPr>
              <a:t>fuzzers</a:t>
            </a:r>
            <a:endParaRPr lang="en-US" dirty="0"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51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Termination? Well-formed inputs?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8E94A421-C755-47DC-7043-F75A9DDCF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5501" y="2306233"/>
            <a:ext cx="6880998" cy="4498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1569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Introducing 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AppleGothic" pitchFamily="2" charset="-127"/>
                <a:cs typeface="Courier New" panose="02070309020205020404" pitchFamily="49" charset="0"/>
              </a:rPr>
              <a:t>Goblin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09700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Presenting </a:t>
                </a:r>
                <a:r>
                  <a:rPr lang="en-US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context-sensitive input generation</a:t>
                </a:r>
                <a:r>
                  <a:rPr lang="en-US" dirty="0">
                    <a:latin typeface="Source Sans Pro"/>
                    <a:ea typeface="Source Sans Pro"/>
                  </a:rPr>
                  <a:t> tool, supported by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new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DSL</a:t>
                </a:r>
                <a:r>
                  <a:rPr lang="en-US" dirty="0">
                    <a:latin typeface="Source Sans Pro"/>
                    <a:ea typeface="Source Sans Pro"/>
                  </a:rPr>
                  <a:t> with a formal semantics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new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algorithm </a:t>
                </a:r>
                <a:r>
                  <a:rPr lang="en-US" dirty="0">
                    <a:latin typeface="Source Sans Pro"/>
                    <a:ea typeface="Source Sans Pro"/>
                  </a:rPr>
                  <a:t>to address the underlying problem 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Supporting constraint solving over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arbitrary SMT theories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And evaluated in the context of real fuzzing workflows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Given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context-sensitive</a:t>
                </a:r>
                <a:r>
                  <a:rPr lang="en-US" dirty="0">
                    <a:latin typeface="Source Sans Pro"/>
                    <a:ea typeface="Source Sans Pro"/>
                  </a:rPr>
                  <a:t> grammar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, find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latin typeface="Source Sans Pro"/>
                    <a:ea typeface="Source Sans Pro"/>
                  </a:rPr>
                  <a:t>What is a context-sensitive grammar? See ANTLR, </a:t>
                </a:r>
                <a:r>
                  <a:rPr lang="en-US" dirty="0" err="1">
                    <a:latin typeface="Source Sans Pro"/>
                    <a:ea typeface="Source Sans Pro"/>
                  </a:rPr>
                  <a:t>yacc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endParaRPr lang="en-US" dirty="0">
                  <a:latin typeface="Book Antiqua" panose="02040602050305030304" pitchFamily="18" charset="0"/>
                  <a:ea typeface="Source Sans Pro"/>
                </a:endParaRPr>
              </a:p>
              <a:p>
                <a:pPr lvl="1"/>
                <a:endParaRPr lang="en-US" dirty="0">
                  <a:latin typeface="Book Antiqua" panose="02040602050305030304" pitchFamily="18" charset="0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097003"/>
              </a:xfrm>
              <a:blipFill>
                <a:blip r:embed="rId2"/>
                <a:stretch>
                  <a:fillRect l="-1086" t="-2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1D435E02-A2DA-EB69-8ADB-735BFFEF0F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5219267"/>
            <a:ext cx="7772400" cy="1524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784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is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 dirty="0">
                <a:latin typeface="Source Sans Pro"/>
                <a:ea typeface="Source Sans Pro"/>
              </a:rPr>
              <a:t>, but not a (complete)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60638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DE158FE-9908-5EBD-F7BC-21851D6077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5538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157D1C8-1195-8059-CB1A-CDB8B535175E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2049588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8BF5040-D7BB-95D2-467A-57134067CA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27077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15418BC-AF8E-E352-5D5E-C508A8F1313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87204387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8BF5040-D7BB-95D2-467A-57134067CA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15418BC-AF8E-E352-5D5E-C508A8F13136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>
                <a:latin typeface="Source Sans Pro"/>
                <a:ea typeface="Source Sans Pro"/>
              </a:rPr>
              <a:t> is an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>
                <a:latin typeface="Source Sans Pro"/>
                <a:ea typeface="Source Sans Pro"/>
              </a:rPr>
              <a:t>, but not a (complete) </a:t>
            </a:r>
            <a:r>
              <a:rPr lang="en-US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8595879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Most 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fuzzers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 perform mutations at the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byte level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3601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Some 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fuzzers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 perform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structure-aware mutations 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(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ATFuzz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, SAECRED)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38581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1269878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Production Rules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8474" y="1683199"/>
            <a:ext cx="10515600" cy="446074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grammars have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production rules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as in CFGs</a:t>
            </a:r>
          </a:p>
          <a:p>
            <a:pPr marL="0" indent="0" algn="ctr">
              <a:buNone/>
            </a:pPr>
            <a:endParaRPr lang="en-US" sz="2400" dirty="0">
              <a:solidFill>
                <a:srgbClr val="15BBC0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tx2">
                  <a:lumMod val="75000"/>
                  <a:lumOff val="25000"/>
                </a:schemeClr>
              </a:solidFill>
              <a:latin typeface="American Typewriter" panose="02090604020004020304" pitchFamily="18" charset="77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tx2">
                  <a:lumMod val="75000"/>
                  <a:lumOff val="25000"/>
                </a:schemeClr>
              </a:solidFill>
              <a:latin typeface="American Typewriter" panose="02090604020004020304" pitchFamily="18" charset="77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tx2">
                  <a:lumMod val="75000"/>
                  <a:lumOff val="25000"/>
                </a:schemeClr>
              </a:solidFill>
              <a:latin typeface="American Typewriter" panose="02090604020004020304" pitchFamily="18" charset="77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sz="2400" dirty="0">
              <a:solidFill>
                <a:schemeClr val="tx2">
                  <a:lumMod val="75000"/>
                  <a:lumOff val="25000"/>
                </a:schemeClr>
              </a:solidFill>
              <a:latin typeface="American Typewriter" panose="02090604020004020304" pitchFamily="18" charset="77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353BBB5-1BD8-E8E4-694F-A2E668785E21}"/>
              </a:ext>
            </a:extLst>
          </p:cNvPr>
          <p:cNvSpPr/>
          <p:nvPr/>
        </p:nvSpPr>
        <p:spPr>
          <a:xfrm>
            <a:off x="2806152" y="2508832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::= &lt;Type&gt; &lt;Aux&gt; &lt;Payload&gt;;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54B7C08-04ED-1D33-F71C-6859F5EA0BC2}"/>
              </a:ext>
            </a:extLst>
          </p:cNvPr>
          <p:cNvSpPr/>
          <p:nvPr/>
        </p:nvSpPr>
        <p:spPr>
          <a:xfrm>
            <a:off x="2795671" y="3641283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&lt;Payload&gt; ::= &lt;Field_1&gt; &lt;Field_2&gt; &lt;Bytes&gt;;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E423B08-21DF-070F-F343-7C2B7F49BF84}"/>
              </a:ext>
            </a:extLst>
          </p:cNvPr>
          <p:cNvSpPr/>
          <p:nvPr/>
        </p:nvSpPr>
        <p:spPr>
          <a:xfrm>
            <a:off x="2795670" y="4773734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&lt;Bytes&gt; ::= &lt;Byte&gt; &lt;Bytes&gt; | &lt;Byte&gt;;</a:t>
            </a:r>
          </a:p>
        </p:txBody>
      </p:sp>
    </p:spTree>
    <p:extLst>
      <p:ext uri="{BB962C8B-B14F-4D97-AF65-F5344CB8AC3E}">
        <p14:creationId xmlns:p14="http://schemas.microsoft.com/office/powerpoint/2010/main" val="2656921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Type Annotations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97504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symbolic terminals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type annotations                                             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rather than concrete terminals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32BABF4-03DA-E0CC-A2D7-14AA4B566085}"/>
              </a:ext>
            </a:extLst>
          </p:cNvPr>
          <p:cNvSpPr/>
          <p:nvPr/>
        </p:nvSpPr>
        <p:spPr>
          <a:xfrm>
            <a:off x="2806152" y="2591024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&lt;Field_1&gt; :: </a:t>
            </a:r>
            <a:r>
              <a:rPr lang="en-US" sz="24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(16);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E541C77-0BDE-B60B-BFE0-6D1D757B482F}"/>
              </a:ext>
            </a:extLst>
          </p:cNvPr>
          <p:cNvSpPr/>
          <p:nvPr/>
        </p:nvSpPr>
        <p:spPr>
          <a:xfrm>
            <a:off x="2795671" y="3723475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&lt;Field_2&gt; :: </a:t>
            </a:r>
            <a:r>
              <a:rPr lang="en-US" sz="24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(16);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846AC10-EF23-17B3-8C9C-B456C6BBE005}"/>
              </a:ext>
            </a:extLst>
          </p:cNvPr>
          <p:cNvSpPr/>
          <p:nvPr/>
        </p:nvSpPr>
        <p:spPr>
          <a:xfrm>
            <a:off x="2795670" y="4855926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&lt;Byte&gt; :: </a:t>
            </a:r>
            <a:r>
              <a:rPr lang="en-US" sz="24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(8);</a:t>
            </a:r>
          </a:p>
        </p:txBody>
      </p:sp>
    </p:spTree>
    <p:extLst>
      <p:ext uri="{BB962C8B-B14F-4D97-AF65-F5344CB8AC3E}">
        <p14:creationId xmlns:p14="http://schemas.microsoft.com/office/powerpoint/2010/main" val="538953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Refinement Types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32BABF4-03DA-E0CC-A2D7-14AA4B566085}"/>
              </a:ext>
            </a:extLst>
          </p:cNvPr>
          <p:cNvSpPr/>
          <p:nvPr/>
        </p:nvSpPr>
        <p:spPr>
          <a:xfrm>
            <a:off x="2806152" y="2591024"/>
            <a:ext cx="6600243" cy="70788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&lt;Field_1&gt; :: </a:t>
            </a:r>
            <a:r>
              <a:rPr lang="en-US" sz="2400" dirty="0" err="1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(16);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E541C77-0BDE-B60B-BFE0-6D1D757B482F}"/>
              </a:ext>
            </a:extLst>
          </p:cNvPr>
          <p:cNvSpPr/>
          <p:nvPr/>
        </p:nvSpPr>
        <p:spPr>
          <a:xfrm>
            <a:off x="2795671" y="3723475"/>
            <a:ext cx="6600243" cy="707886"/>
          </a:xfrm>
          <a:prstGeom prst="round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&lt;Field_2&gt; :: </a:t>
            </a:r>
            <a:r>
              <a:rPr lang="en-US" sz="2400" dirty="0" err="1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bg2">
                    <a:lumMod val="90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(16);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846AC10-EF23-17B3-8C9C-B456C6BBE005}"/>
              </a:ext>
            </a:extLst>
          </p:cNvPr>
          <p:cNvSpPr/>
          <p:nvPr/>
        </p:nvSpPr>
        <p:spPr>
          <a:xfrm>
            <a:off x="2795670" y="4855926"/>
            <a:ext cx="6600243" cy="707886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&lt;Byte&gt; :: </a:t>
            </a:r>
            <a:r>
              <a:rPr lang="en-US" sz="2400" dirty="0" err="1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(8)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&lt;Byte&gt;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bvulte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2400" dirty="0">
                <a:solidFill>
                  <a:srgbClr val="C00000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0x88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};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E931099-BC56-9B94-D162-AA86127D4FE0}"/>
              </a:ext>
            </a:extLst>
          </p:cNvPr>
          <p:cNvSpPr txBox="1">
            <a:spLocks/>
          </p:cNvSpPr>
          <p:nvPr/>
        </p:nvSpPr>
        <p:spPr>
          <a:xfrm>
            <a:off x="838200" y="1683928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Constrain symbolic terminals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refinement types</a:t>
            </a:r>
          </a:p>
          <a:p>
            <a:pPr marL="514350" indent="-514350" algn="ctr">
              <a:buFont typeface="Arial" panose="020B0604020202020204" pitchFamily="34" charset="0"/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1062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Semantic Constraints</a:t>
            </a:r>
            <a:endParaRPr lang="en-US" sz="4000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32BABF4-03DA-E0CC-A2D7-14AA4B566085}"/>
              </a:ext>
            </a:extLst>
          </p:cNvPr>
          <p:cNvSpPr/>
          <p:nvPr/>
        </p:nvSpPr>
        <p:spPr>
          <a:xfrm>
            <a:off x="2816426" y="2815525"/>
            <a:ext cx="6872104" cy="192960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 &lt;Type&gt; &lt;Aux&gt; &lt;Payload&gt;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&lt;Type&gt; = </a:t>
            </a:r>
            <a:r>
              <a:rPr lang="en-US" sz="2400" dirty="0">
                <a:solidFill>
                  <a:srgbClr val="C00000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0x01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=&gt;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   &lt;Payload&gt;.&lt;Bytes&gt;.&lt;Byte&gt;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bvugt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2400" dirty="0">
                <a:solidFill>
                  <a:srgbClr val="C00000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0x20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;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};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2AFD94F-152C-B660-A756-F56C8FB419D6}"/>
              </a:ext>
            </a:extLst>
          </p:cNvPr>
          <p:cNvSpPr txBox="1">
            <a:spLocks/>
          </p:cNvSpPr>
          <p:nvPr/>
        </p:nvSpPr>
        <p:spPr>
          <a:xfrm>
            <a:off x="838200" y="1590733"/>
            <a:ext cx="10515600" cy="12247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Attach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 constraints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to production rules; 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Support types/functions/predicates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SMT-LIB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analogues</a:t>
            </a:r>
          </a:p>
          <a:p>
            <a:pPr marL="514350" indent="-514350" algn="ctr">
              <a:buFont typeface="Arial" panose="020B0604020202020204" pitchFamily="34" charset="0"/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60609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5F8CA43-C3C4-CA12-06FB-110AAC54162C}"/>
              </a:ext>
            </a:extLst>
          </p:cNvPr>
          <p:cNvSpPr/>
          <p:nvPr/>
        </p:nvSpPr>
        <p:spPr>
          <a:xfrm>
            <a:off x="1099335" y="4510355"/>
            <a:ext cx="10140989" cy="22500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Dot notation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Reference child nonterminals with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dot notation</a:t>
            </a: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E591910-A607-FD95-0DEE-FF6DDDDE0246}"/>
              </a:ext>
            </a:extLst>
          </p:cNvPr>
          <p:cNvSpPr/>
          <p:nvPr/>
        </p:nvSpPr>
        <p:spPr>
          <a:xfrm>
            <a:off x="2760845" y="2246168"/>
            <a:ext cx="6872104" cy="192960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 &lt;Type&gt; &lt;Aux&gt; &lt;Payload&gt;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&lt;Aux&gt; &lt;- </a:t>
            </a: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&lt;Payload&gt;.&lt;Field_1&gt; </a:t>
            </a:r>
            <a:r>
              <a:rPr lang="en-US" sz="2400" dirty="0" err="1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bvmul</a:t>
            </a: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                 &lt;Payload&gt;.&lt;Field_2&gt;;   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};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D91244-29EE-20C8-08F0-C3A7D6D48FAA}"/>
              </a:ext>
            </a:extLst>
          </p:cNvPr>
          <p:cNvSpPr/>
          <p:nvPr/>
        </p:nvSpPr>
        <p:spPr>
          <a:xfrm>
            <a:off x="1371600" y="4888041"/>
            <a:ext cx="9448800" cy="1113753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Using local constraints, dot notation and SMT-LIB are enough to be as expressive as prior work</a:t>
            </a:r>
            <a:endParaRPr lang="en-US" sz="1800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8159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5F8CA43-C3C4-CA12-06FB-110AAC54162C}"/>
              </a:ext>
            </a:extLst>
          </p:cNvPr>
          <p:cNvSpPr/>
          <p:nvPr/>
        </p:nvSpPr>
        <p:spPr>
          <a:xfrm>
            <a:off x="1099335" y="4510355"/>
            <a:ext cx="10140989" cy="22500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Many constraints are not amenable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SMT solver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reasoning</a:t>
            </a: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Derived fields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&lt;-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denote directly computable nonterminals</a:t>
            </a: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3714B31-2433-A255-411F-A8EA2448C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592" y="5493880"/>
            <a:ext cx="838199" cy="8381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7071D1-8B3F-F974-F88D-F54C4288C0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4420" y="5493879"/>
            <a:ext cx="838200" cy="838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531DAA-5F16-8857-BA2E-A6AC05EC33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49" y="5519279"/>
            <a:ext cx="787400" cy="78740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E591910-A607-FD95-0DEE-FF6DDDDE0246}"/>
              </a:ext>
            </a:extLst>
          </p:cNvPr>
          <p:cNvSpPr/>
          <p:nvPr/>
        </p:nvSpPr>
        <p:spPr>
          <a:xfrm>
            <a:off x="2760845" y="2246168"/>
            <a:ext cx="6872104" cy="192960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 &lt;Type&gt; &lt;Aux&gt; &lt;Payload&gt;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&lt;Aux&gt; &lt;- </a:t>
            </a: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&lt;Payload&gt;.&lt;Field_1&gt;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bvmul</a:t>
            </a: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 marL="0" indent="0">
              <a:buNone/>
            </a:pPr>
            <a:r>
              <a:rPr lang="en-US" sz="24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                 &lt;Payload&gt;.&lt;Field_2&gt;;   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25000"/>
                    <a:lumOff val="7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4179847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5F8CA43-C3C4-CA12-06FB-110AAC54162C}"/>
              </a:ext>
            </a:extLst>
          </p:cNvPr>
          <p:cNvSpPr/>
          <p:nvPr/>
        </p:nvSpPr>
        <p:spPr>
          <a:xfrm>
            <a:off x="1099335" y="4510355"/>
            <a:ext cx="10140989" cy="22500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Many constraints are not amenable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SMT solver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reasoning</a:t>
            </a: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Derived fields 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(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&lt;-</a:t>
            </a: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 denote directly computable nonterminals</a:t>
            </a:r>
          </a:p>
          <a:p>
            <a:pPr marL="514350" indent="-514350" algn="ctr">
              <a:buAutoNum type="arabicPeriod"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3714B31-2433-A255-411F-A8EA2448C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592" y="5493880"/>
            <a:ext cx="838199" cy="8381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97071D1-8B3F-F974-F88D-F54C4288C0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4420" y="5493879"/>
            <a:ext cx="838200" cy="838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B531DAA-5F16-8857-BA2E-A6AC05EC33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249" y="5519279"/>
            <a:ext cx="787400" cy="787400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E591910-A607-FD95-0DEE-FF6DDDDE0246}"/>
              </a:ext>
            </a:extLst>
          </p:cNvPr>
          <p:cNvSpPr/>
          <p:nvPr/>
        </p:nvSpPr>
        <p:spPr>
          <a:xfrm>
            <a:off x="2760845" y="2246168"/>
            <a:ext cx="6872104" cy="1929605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&lt;Packet&gt; :: &lt;Type&gt; &lt;Aux&gt; &lt;Payload&gt;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{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&lt;Aux&gt; &lt;- &lt;Payload&gt;.&lt;Field_1&gt;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bvmul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                     &lt;Payload&gt;.&lt;Field_2&gt;;    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};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FAD68E-49BE-08F0-1238-6ACCA014571A}"/>
              </a:ext>
            </a:extLst>
          </p:cNvPr>
          <p:cNvSpPr/>
          <p:nvPr/>
        </p:nvSpPr>
        <p:spPr>
          <a:xfrm>
            <a:off x="-6423" y="2379354"/>
            <a:ext cx="12198423" cy="206897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latin typeface="Avenir Next" panose="020B0503020202020204" pitchFamily="34" charset="0"/>
              </a:rPr>
              <a:t>Goblin is inherently minimal, as it is designed to be a compile target (not user-facing)</a:t>
            </a:r>
            <a:endParaRPr lang="en-US" dirty="0">
              <a:latin typeface="Avenir Next" panose="020B05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2497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" dur="indefinite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6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9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2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5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8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indefinit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1" dur="indefinite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2" grpId="0"/>
      <p:bldP spid="3" grpId="0" uiExpand="1" build="p"/>
      <p:bldP spid="4" grpId="0" animBg="1"/>
      <p:bldP spid="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Derived fields </a:t>
            </a:r>
            <a:r>
              <a:rPr lang="en-US" dirty="0">
                <a:latin typeface="Source Sans Pro"/>
                <a:ea typeface="Source Sans Pro"/>
              </a:rPr>
              <a:t>with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denote nonterminals that are directly computable, enforced syntactically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Operators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and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=</a:t>
            </a:r>
            <a:r>
              <a:rPr lang="en-US" dirty="0">
                <a:latin typeface="Source Sans Pro"/>
                <a:ea typeface="Source Sans Pro"/>
              </a:rPr>
              <a:t> are semantically interchangeable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But try telling an SMT solver to find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x </a:t>
            </a:r>
            <a:r>
              <a:rPr lang="en-US" dirty="0">
                <a:latin typeface="Source Sans Pro"/>
                <a:ea typeface="Source Sans Pro"/>
              </a:rPr>
              <a:t>such that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hash(x) = y</a:t>
            </a:r>
            <a:r>
              <a:rPr lang="en-US" dirty="0">
                <a:latin typeface="Source Sans Pro"/>
                <a:ea typeface="Source Sans Pro"/>
              </a:rPr>
              <a:t>…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3F43A498-BD3B-0659-C79D-E22324E5F1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1690688"/>
            <a:ext cx="7772400" cy="188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04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5249037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Semantics: Abstract Syntax Trees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diagram&#10;&#10;Description automatically generated">
            <a:extLst>
              <a:ext uri="{FF2B5EF4-FFF2-40B4-BE49-F238E27FC236}">
                <a16:creationId xmlns:a16="http://schemas.microsoft.com/office/drawing/2014/main" id="{77C1CA99-0B9C-8249-94C9-1CAAB8412E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52" y="2429452"/>
            <a:ext cx="7465296" cy="363371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semantically generates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abstract syntax trees                            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denoting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ADT terms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, not strings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Not a string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0x0106020321</a:t>
            </a:r>
          </a:p>
          <a:p>
            <a:pPr marL="0" indent="0">
              <a:buNone/>
            </a:pPr>
            <a:endParaRPr lang="en-US" sz="2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3EC37CF-BF49-D091-1D11-E8563E714281}"/>
              </a:ext>
            </a:extLst>
          </p:cNvPr>
          <p:cNvSpPr/>
          <p:nvPr/>
        </p:nvSpPr>
        <p:spPr>
          <a:xfrm>
            <a:off x="-207" y="5897265"/>
            <a:ext cx="12192000" cy="83651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The ADT view allows Goblin to natively support constraints                        over arbitrary SMT theories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6293321-1E58-F318-93E1-CA0F6238B309}"/>
              </a:ext>
            </a:extLst>
          </p:cNvPr>
          <p:cNvSpPr/>
          <p:nvPr/>
        </p:nvSpPr>
        <p:spPr>
          <a:xfrm>
            <a:off x="-206" y="3171217"/>
            <a:ext cx="12192000" cy="1075090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  <a:latin typeface="Britannic Bold" panose="020B0903060703020204" pitchFamily="34" charset="77"/>
              </a:rPr>
              <a:t>This also signifies that one should explicitly perform a separate serialization step to obtain a serialized string</a:t>
            </a:r>
          </a:p>
        </p:txBody>
      </p:sp>
    </p:spTree>
    <p:extLst>
      <p:ext uri="{BB962C8B-B14F-4D97-AF65-F5344CB8AC3E}">
        <p14:creationId xmlns:p14="http://schemas.microsoft.com/office/powerpoint/2010/main" val="312221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9" presetClass="emph" presetSubtype="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9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2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5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8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1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4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3" grpId="0" uiExpand="1" build="p"/>
      <p:bldP spid="3" grpId="1" uiExpand="1" build="p"/>
      <p:bldP spid="8" grpId="0" animBg="1"/>
      <p:bldP spid="8" grpId="1" animBg="1"/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Abstract Syntax Trees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0575"/>
            <a:ext cx="10515600" cy="320885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semantically frame  </a:t>
            </a: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 </a:t>
            </a:r>
            <a:r>
              <a:rPr lang="en-US" sz="2400" dirty="0">
                <a:latin typeface="Source Sans Pro"/>
                <a:ea typeface="Source Sans Pro"/>
              </a:rPr>
              <a:t>as an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algebraic data type </a:t>
            </a:r>
            <a:r>
              <a:rPr lang="en-US" sz="2400" dirty="0">
                <a:latin typeface="Source Sans Pro"/>
                <a:ea typeface="Source Sans Pro"/>
              </a:rPr>
              <a:t>(ADT) term generator</a:t>
            </a:r>
          </a:p>
          <a:p>
            <a:r>
              <a:rPr lang="en-US" sz="2400" dirty="0">
                <a:latin typeface="Source Sans Pro"/>
                <a:ea typeface="Source Sans Pro"/>
              </a:rPr>
              <a:t>Without the ADT view, (SMT-based) prior work natively only supports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string constraints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 algn="ctr">
              <a:buNone/>
            </a:pPr>
            <a:r>
              <a:rPr lang="en-US" sz="2400" b="1" dirty="0">
                <a:latin typeface="Source Sans Pro"/>
                <a:ea typeface="Source Sans Pro"/>
              </a:rPr>
              <a:t>The ADT view allows </a:t>
            </a:r>
            <a:r>
              <a:rPr lang="en-US" sz="2400" b="1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b="1" dirty="0">
                <a:latin typeface="Source Sans Pro"/>
                <a:ea typeface="Source Sans Pro"/>
              </a:rPr>
              <a:t> to natively support constraints over arbitrary SMT theories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424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semantics</a:t>
                </a:r>
                <a:r>
                  <a:rPr lang="en-US" sz="2400" dirty="0">
                    <a:latin typeface="Source Sans Pro"/>
                    <a:ea typeface="Source Sans Pro"/>
                  </a:rPr>
                  <a:t> of a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input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are the set of ASTs that respect (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i</a:t>
                </a:r>
                <a:r>
                  <a:rPr lang="en-US" sz="2400" dirty="0">
                    <a:latin typeface="Source Sans Pro"/>
                    <a:ea typeface="Source Sans Pro"/>
                  </a:rPr>
                  <a:t>)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’s context-free syntactic constraints and (ii)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’s context-sensitive semantic constraints</a:t>
                </a: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𝐴𝑆𝑇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𝐺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 = { 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|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AST</a:t>
                </a:r>
                <a:r>
                  <a:rPr lang="en-US" b="0" dirty="0"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is rooted at the start symbol</a:t>
                </a: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Each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𝑣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𝑉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is either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non-leaf with children representing a production rule application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,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non-leaf representing a type annotation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, or 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well-typed leaf</a:t>
                </a: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AST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satisfies the constraints at every production rule application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}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480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Constraint Satisfaction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9DD73FF5-13E2-FE39-1D80-90BD1C98A5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021921"/>
            <a:ext cx="7772400" cy="1816142"/>
          </a:xfrm>
          <a:prstGeom prst="rect">
            <a:avLst/>
          </a:prstGeom>
        </p:spPr>
      </p:pic>
      <p:pic>
        <p:nvPicPr>
          <p:cNvPr id="10" name="Picture 9" descr="A diagram of a algorithm&#10;&#10;Description automatically generated">
            <a:extLst>
              <a:ext uri="{FF2B5EF4-FFF2-40B4-BE49-F238E27FC236}">
                <a16:creationId xmlns:a16="http://schemas.microsoft.com/office/drawing/2014/main" id="{523DD31D-7B60-4EB5-53BE-EF35683279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799" y="3838063"/>
            <a:ext cx="5992401" cy="27244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FEAA655-922A-B6C6-78E9-2A1504E6FC23}"/>
              </a:ext>
            </a:extLst>
          </p:cNvPr>
          <p:cNvSpPr txBox="1"/>
          <p:nvPr/>
        </p:nvSpPr>
        <p:spPr>
          <a:xfrm>
            <a:off x="951263" y="1546292"/>
            <a:ext cx="94452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can mechanically verify that a given AST satisfies all the constraints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644462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1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Semantics: Constraint Satisfaction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diagram of a diagram&#10;&#10;Description automatically generated">
            <a:extLst>
              <a:ext uri="{FF2B5EF4-FFF2-40B4-BE49-F238E27FC236}">
                <a16:creationId xmlns:a16="http://schemas.microsoft.com/office/drawing/2014/main" id="{98B5A5AF-B9A1-D290-AE0C-10BE9E1A9E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1046" y="3155866"/>
            <a:ext cx="6849494" cy="33883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5A2AF8C-19AD-65CA-D7A9-BE489D68365B}"/>
              </a:ext>
            </a:extLst>
          </p:cNvPr>
          <p:cNvSpPr txBox="1"/>
          <p:nvPr/>
        </p:nvSpPr>
        <p:spPr>
          <a:xfrm>
            <a:off x="900463" y="1546292"/>
            <a:ext cx="103398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We can mechanically verify that a given ADT term satisfies all the constraints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DDC24104-2767-4DA8-F745-C02B24C60FE5}"/>
              </a:ext>
            </a:extLst>
          </p:cNvPr>
          <p:cNvSpPr/>
          <p:nvPr/>
        </p:nvSpPr>
        <p:spPr>
          <a:xfrm>
            <a:off x="2795878" y="2018814"/>
            <a:ext cx="6600243" cy="944838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…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&lt;Byte&gt; :: </a:t>
            </a:r>
            <a:r>
              <a:rPr lang="en-US" sz="2400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BitVec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(8) { &lt;Byte&gt; </a:t>
            </a:r>
            <a:r>
              <a:rPr lang="en-US" sz="2400" b="1" dirty="0" err="1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bvulte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US" sz="2400" dirty="0">
                <a:solidFill>
                  <a:srgbClr val="C00000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0x88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 };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4886218-2216-13D8-294C-106F5B876CD0}"/>
              </a:ext>
            </a:extLst>
          </p:cNvPr>
          <p:cNvSpPr/>
          <p:nvPr/>
        </p:nvSpPr>
        <p:spPr>
          <a:xfrm>
            <a:off x="2795878" y="2508581"/>
            <a:ext cx="6600243" cy="1840838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chemeClr val="tx2">
                    <a:lumMod val="75000"/>
                    <a:lumOff val="2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See the paper for details!</a:t>
            </a:r>
          </a:p>
        </p:txBody>
      </p:sp>
    </p:spTree>
    <p:extLst>
      <p:ext uri="{BB962C8B-B14F-4D97-AF65-F5344CB8AC3E}">
        <p14:creationId xmlns:p14="http://schemas.microsoft.com/office/powerpoint/2010/main" val="3448246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7" dur="indefinite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0" dur="indefinite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3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6" dur="indefinite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indefinit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9" dur="indefinite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  <p:bldP spid="9" grpId="0"/>
      <p:bldP spid="3" grpId="0" animBg="1"/>
      <p:bldP spid="3" grpId="1" animBg="1"/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  <a:endParaRPr lang="en-US" b="1" dirty="0">
              <a:solidFill>
                <a:schemeClr val="accent6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60185856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 Workflow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How does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find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𝐴𝑆𝑇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</m:d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General workflow: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Context-free well-formedness and other syntactic checks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Type checking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Desugar refinement types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Disambiguate constraints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Abstract derived fields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Main search algorithm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Compute derived fields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Serialize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  <a:blipFill>
                <a:blip r:embed="rId2"/>
                <a:stretch>
                  <a:fillRect l="-965" t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335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Well-formedness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Context-free language emptiness (e.g.,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 is a modeling issue, stemming from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non-well-founded recursion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perform a more general check denoted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well-formedness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Until reaching a fixpoint, iteratively expand a set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𝑁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of nonterminals known to be able to produce finite derivations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Check every reachable nonterminal is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𝑁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  <a:blipFill>
                <a:blip r:embed="rId2"/>
                <a:stretch>
                  <a:fillRect l="-965" t="-1496" r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close-up of a computer code&#10;&#10;Description automatically generated">
            <a:extLst>
              <a:ext uri="{FF2B5EF4-FFF2-40B4-BE49-F238E27FC236}">
                <a16:creationId xmlns:a16="http://schemas.microsoft.com/office/drawing/2014/main" id="{5BC2318A-CD71-9290-BF40-FEF1A129E3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4225751"/>
            <a:ext cx="7772400" cy="188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705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Derived Field Checks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2403752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Derived fields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𝐹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must be computable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without constraint solving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Disallow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cyclic dependencies </a:t>
                </a:r>
                <a:r>
                  <a:rPr lang="en-US" sz="2400" dirty="0">
                    <a:latin typeface="Source Sans Pro"/>
                    <a:ea typeface="Source Sans Pro"/>
                  </a:rPr>
                  <a:t>(e.g.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𝑇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;</m:t>
                    </m:r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𝐵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𝑇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[</m:t>
                    </m:r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]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Disallow derived fields in semantic constraints</a:t>
                </a:r>
              </a:p>
              <a:p>
                <a:pPr lvl="1">
                  <a:buFont typeface="Wingdings" pitchFamily="2" charset="2"/>
                  <a:buChar char="§"/>
                </a:pPr>
                <a:r>
                  <a:rPr lang="en-US" dirty="0">
                    <a:latin typeface="Source Sans Pro"/>
                    <a:ea typeface="Source Sans Pro"/>
                  </a:rPr>
                  <a:t>Two stages of computation</a:t>
                </a:r>
              </a:p>
              <a:p>
                <a:pPr lvl="1">
                  <a:buFont typeface="Wingdings" pitchFamily="2" charset="2"/>
                  <a:buChar char="§"/>
                </a:pPr>
                <a:r>
                  <a:rPr lang="en-US" dirty="0">
                    <a:latin typeface="Source Sans Pro"/>
                    <a:ea typeface="Source Sans Pro"/>
                  </a:rPr>
                  <a:t>E.g.,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𝐷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&gt;0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dirty="0">
                    <a:latin typeface="Source Sans Pro"/>
                    <a:ea typeface="Source Sans Pro"/>
                  </a:rPr>
                  <a:t>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𝐷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is derived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2403752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073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Abstract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2152083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 remove derived fields from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before the main search; compute them after constraint solving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2152083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4BEE1D04-DF94-7CA1-99C6-4A74B0DDD3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6324" y="3277999"/>
            <a:ext cx="7772400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922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631965"/>
            <a:ext cx="10515600" cy="46396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derivation tree </a:t>
            </a: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is an AST in progress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560768"/>
            <a:ext cx="7772400" cy="334680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852B122-3341-BDA7-BABC-6A7593A642CE}"/>
                  </a:ext>
                </a:extLst>
              </p:cNvPr>
              <p:cNvSpPr/>
              <p:nvPr/>
            </p:nvSpPr>
            <p:spPr>
              <a:xfrm>
                <a:off x="3211521" y="2140503"/>
                <a:ext cx="5768543" cy="1259360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2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1. Build candidate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via random walk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2. Make decisions and backtrack when stuck</a:t>
                </a:r>
              </a:p>
              <a:p>
                <a:r>
                  <a:rPr lang="en-US" sz="2000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3. When closed, instantiate with concrete values</a:t>
                </a:r>
                <a:endParaRPr lang="en-US" sz="2000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852B122-3341-BDA7-BABC-6A7593A642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1521" y="2140503"/>
                <a:ext cx="5768543" cy="125936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7015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Choosing an expansion is called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decision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Decisions are recorded in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decision stack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=[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]</m:t>
                    </m:r>
                  </m:oMath>
                </a14:m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Version control helps you undo mistakes!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647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Some decisions are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forced</a:t>
                </a:r>
                <a:r>
                  <a:rPr lang="en-US" sz="2400" dirty="0">
                    <a:latin typeface="Source Sans Pro"/>
                    <a:ea typeface="Source Sans Pro"/>
                  </a:rPr>
                  <a:t> (see solid arrows): symbolic terminals and nonterminals with exactly one production rule option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Those are called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normalization steps </a:t>
                </a:r>
                <a:r>
                  <a:rPr lang="en-US" sz="2400" dirty="0">
                    <a:latin typeface="Source Sans Pro"/>
                    <a:ea typeface="Source Sans Pro"/>
                  </a:rPr>
                  <a:t>and are not stored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93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631965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Termination is not guaranteed…</a:t>
            </a:r>
          </a:p>
          <a:p>
            <a:pPr marL="0" indent="0" algn="ctr">
              <a:buNone/>
            </a:pPr>
            <a:r>
              <a:rPr lang="en-US" sz="2400" b="1" dirty="0">
                <a:latin typeface="Source Sans Pro"/>
                <a:ea typeface="Source Sans Pro"/>
              </a:rPr>
              <a:t>Idea: Bound search depth with IDS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9C43BBE-9ECC-82AC-2A0B-EFD805289C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741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Pick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depth limit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and associate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depth </a:t>
                </a:r>
                <a:r>
                  <a:rPr lang="en-US" sz="2400" dirty="0">
                    <a:latin typeface="Source Sans Pro"/>
                    <a:ea typeface="Source Sans Pro"/>
                  </a:rPr>
                  <a:t>with each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Backtrack</a:t>
                </a:r>
                <a:r>
                  <a:rPr lang="en-US" sz="2400" dirty="0">
                    <a:latin typeface="Source Sans Pro"/>
                    <a:ea typeface="Source Sans Pro"/>
                  </a:rPr>
                  <a:t> once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exceeded by popping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Record visited expansions and do not revisit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Restart</a:t>
                </a:r>
                <a:r>
                  <a:rPr lang="en-US" sz="2400" dirty="0">
                    <a:latin typeface="Source Sans Pro"/>
                    <a:ea typeface="Source Sans Pro"/>
                  </a:rPr>
                  <a:t> and increment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if backtracking and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𝑑𝑠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=[]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91500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209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787874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extend the context-free algorithm to handle constraints?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Insight: use an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incremental SMT </a:t>
            </a:r>
            <a:r>
              <a:rPr lang="en-US" sz="2400" dirty="0">
                <a:latin typeface="Source Sans Pro"/>
                <a:ea typeface="Source Sans Pro"/>
              </a:rPr>
              <a:t>backend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Solver interface: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(assert c)</a:t>
            </a:r>
            <a:r>
              <a:rPr lang="en-US" sz="2400" dirty="0">
                <a:latin typeface="Source Sans Pro"/>
                <a:ea typeface="Source Sans Pro"/>
              </a:rPr>
              <a:t>: assert a constraint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(push 1)</a:t>
            </a:r>
            <a:r>
              <a:rPr lang="en-US" sz="2400" dirty="0">
                <a:latin typeface="Source Sans Pro"/>
                <a:ea typeface="Source Sans Pro"/>
              </a:rPr>
              <a:t>: push an assertion level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(pop 1)</a:t>
            </a:r>
            <a:r>
              <a:rPr lang="en-US" sz="2400" dirty="0">
                <a:latin typeface="Source Sans Pro"/>
                <a:ea typeface="Source Sans Pro"/>
              </a:rPr>
              <a:t>: undo assertions in the last level (backtrack)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(check-sat)</a:t>
            </a:r>
            <a:r>
              <a:rPr lang="en-US" sz="2400" dirty="0">
                <a:latin typeface="Source Sans Pro"/>
                <a:ea typeface="Source Sans Pro"/>
              </a:rPr>
              <a:t>: check if conjunction of active assertions is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SAT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(get-model)</a:t>
            </a:r>
            <a:r>
              <a:rPr lang="en-US" sz="2400" dirty="0">
                <a:latin typeface="Source Sans Pro"/>
                <a:ea typeface="Source Sans Pro"/>
              </a:rPr>
              <a:t>: retrieve a concrete model</a:t>
            </a: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452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Principles of constraint handling</a:t>
                </a:r>
              </a:p>
              <a:p>
                <a:pPr marL="0" indent="0" algn="ctr">
                  <a:buNone/>
                </a:pPr>
                <a:r>
                  <a:rPr lang="en-US" sz="2400" b="1" dirty="0">
                    <a:latin typeface="Source Sans Pro"/>
                    <a:ea typeface="Source Sans Pro"/>
                  </a:rPr>
                  <a:t>Idea: Use incrementality of the SMT engine to repair flawed candidate solutions (fear of commitment)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Push an assertion frame at every decision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At each decision,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assert</a:t>
                </a:r>
                <a:r>
                  <a:rPr lang="en-US" sz="2400" dirty="0">
                    <a:latin typeface="Source Sans Pro"/>
                    <a:ea typeface="Source Sans Pro"/>
                  </a:rPr>
                  <a:t> all constraints associated with the expanded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node and call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check-sat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Backtrack and pop an assertion level if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check-sat</a:t>
                </a:r>
                <a:r>
                  <a:rPr lang="en-US" sz="2400" dirty="0">
                    <a:latin typeface="Source Sans Pro"/>
                    <a:ea typeface="Source Sans Pro"/>
                  </a:rPr>
                  <a:t> yields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UNSAT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Do not commit to concrete values; call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get-model</a:t>
                </a:r>
                <a:r>
                  <a:rPr lang="en-US" sz="2400" dirty="0">
                    <a:latin typeface="Source Sans Pro"/>
                    <a:ea typeface="Source Sans Pro"/>
                  </a:rPr>
                  <a:t> once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closed; then instantiate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1086" t="-1750" r="-9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879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521CBC-41D3-165C-02C4-3435942E079E}"/>
                  </a:ext>
                </a:extLst>
              </p:cNvPr>
              <p:cNvSpPr/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3A521CBC-41D3-165C-02C4-3435942E07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blipFill>
                <a:blip r:embed="rId2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030072-9A1C-3A25-1070-60BB06CC16E1}"/>
              </a:ext>
            </a:extLst>
          </p:cNvPr>
          <p:cNvSpPr txBox="1"/>
          <p:nvPr/>
        </p:nvSpPr>
        <p:spPr>
          <a:xfrm>
            <a:off x="1422400" y="4711231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 &gt; &lt;y&gt;,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93E867-196F-FB39-5B7D-3A7A0355A6B2}"/>
              </a:ext>
            </a:extLst>
          </p:cNvPr>
          <p:cNvSpPr txBox="1"/>
          <p:nvPr/>
        </p:nvSpPr>
        <p:spPr>
          <a:xfrm>
            <a:off x="1422400" y="5054504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 &lt; 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B7CF6A-FE67-BD48-F320-D3E218CD11C9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C5B7CF6A-FE67-BD48-F320-D3E218CD11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blipFill>
                <a:blip r:embed="rId3"/>
                <a:stretch>
                  <a:fillRect l="-1984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4E779D-717F-9B2F-11E0-F2E41FAFE23D}"/>
                  </a:ext>
                </a:extLst>
              </p:cNvPr>
              <p:cNvSpPr txBox="1"/>
              <p:nvPr/>
            </p:nvSpPr>
            <p:spPr>
              <a:xfrm>
                <a:off x="7896803" y="2612880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E4E779D-717F-9B2F-11E0-F2E41FAFE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96803" y="2612880"/>
                <a:ext cx="3190297" cy="369332"/>
              </a:xfrm>
              <a:prstGeom prst="rect">
                <a:avLst/>
              </a:prstGeom>
              <a:blipFill>
                <a:blip r:embed="rId4"/>
                <a:stretch>
                  <a:fillRect l="-1581" t="-6667" r="-395" b="-2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4D2266C-5E8B-9AAA-C59A-1FAC50BBD41E}"/>
              </a:ext>
            </a:extLst>
          </p:cNvPr>
          <p:cNvSpPr txBox="1"/>
          <p:nvPr/>
        </p:nvSpPr>
        <p:spPr>
          <a:xfrm>
            <a:off x="5077363" y="4498998"/>
            <a:ext cx="43140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Candidate solution stored in solver state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965795" y="2842507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034B3D-A88A-7C65-553E-6871E367D00A}"/>
                  </a:ext>
                </a:extLst>
              </p:cNvPr>
              <p:cNvSpPr txBox="1"/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=  {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A034B3D-A88A-7C65-553E-6871E367D0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blipFill>
                <a:blip r:embed="rId5"/>
                <a:stretch>
                  <a:fillRect t="-6667" r="-441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FD86A31E-8779-54F5-47B7-9942B6458516}"/>
              </a:ext>
            </a:extLst>
          </p:cNvPr>
          <p:cNvSpPr txBox="1"/>
          <p:nvPr/>
        </p:nvSpPr>
        <p:spPr>
          <a:xfrm>
            <a:off x="767547" y="5347636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       }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461217" cy="3357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461217" cy="335756"/>
              </a:xfrm>
              <a:prstGeom prst="rect">
                <a:avLst/>
              </a:prstGeom>
              <a:blipFill>
                <a:blip r:embed="rId6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83613A6E-4EAA-3CB6-384B-718546658152}"/>
              </a:ext>
            </a:extLst>
          </p:cNvPr>
          <p:cNvSpPr/>
          <p:nvPr/>
        </p:nvSpPr>
        <p:spPr>
          <a:xfrm>
            <a:off x="7796215" y="3321043"/>
            <a:ext cx="2626023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4B4AD4C0-D227-9D17-76D6-799566FE2B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75641" y="4303704"/>
            <a:ext cx="839205" cy="839205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92668C17-BFE3-9D46-94A0-73DA9A381311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43D3FF-76A2-F70E-111F-5E755543BB49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75023715-7864-E05A-3882-A8148CFA27F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03E6657C-AC5B-C64E-F00E-1B5347A5802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393F09F3-2E40-BE5A-19EA-75CBC0481C07}"/>
                  </a:ext>
                </a:extLst>
              </p:cNvPr>
              <p:cNvSpPr/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393F09F3-2E40-BE5A-19EA-75CBC0481C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blipFill>
                <a:blip r:embed="rId10"/>
                <a:stretch>
                  <a:fillRect b="-3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9878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3" grpId="0"/>
      <p:bldP spid="14" grpId="0"/>
      <p:bldP spid="15" grpId="0"/>
      <p:bldP spid="29" grpId="0" animBg="1"/>
      <p:bldP spid="31" grpId="0"/>
      <p:bldP spid="32" grpId="0"/>
      <p:bldP spid="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C1C0DBC-2C5C-9442-B008-3AB62A61C316}"/>
                  </a:ext>
                </a:extLst>
              </p:cNvPr>
              <p:cNvSpPr/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C1C0DBC-2C5C-9442-B008-3AB62A61C3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blipFill>
                <a:blip r:embed="rId2"/>
                <a:stretch>
                  <a:fillRect b="-3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965795" y="2842507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4612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46121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A9738CD-4672-B077-FA7B-651AE8CF5C70}"/>
              </a:ext>
            </a:extLst>
          </p:cNvPr>
          <p:cNvSpPr/>
          <p:nvPr/>
        </p:nvSpPr>
        <p:spPr>
          <a:xfrm>
            <a:off x="4089400" y="3583897"/>
            <a:ext cx="2716320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41F073-7C26-D3F7-2039-6FE004958A18}"/>
              </a:ext>
            </a:extLst>
          </p:cNvPr>
          <p:cNvSpPr txBox="1"/>
          <p:nvPr/>
        </p:nvSpPr>
        <p:spPr>
          <a:xfrm>
            <a:off x="5077363" y="4498998"/>
            <a:ext cx="44550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Infeasibility was due to early commitment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57CEC56-E804-B067-5311-408C484B11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2600" y="4278265"/>
            <a:ext cx="725388" cy="72538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9C14C0F3-4879-5401-956E-825CCD03BDD1}"/>
              </a:ext>
            </a:extLst>
          </p:cNvPr>
          <p:cNvSpPr txBox="1"/>
          <p:nvPr/>
        </p:nvSpPr>
        <p:spPr>
          <a:xfrm>
            <a:off x="1422400" y="4711231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 &gt; &lt;y&gt;,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755507-AF7A-E7C8-3EF7-B70F8770674A}"/>
              </a:ext>
            </a:extLst>
          </p:cNvPr>
          <p:cNvSpPr txBox="1"/>
          <p:nvPr/>
        </p:nvSpPr>
        <p:spPr>
          <a:xfrm>
            <a:off x="1422400" y="5054504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 &lt; 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EDC5F7-4BAE-8728-754E-4A2EB8974015}"/>
                  </a:ext>
                </a:extLst>
              </p:cNvPr>
              <p:cNvSpPr txBox="1"/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=  {</a:t>
                </a: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EDC5F7-4BAE-8728-754E-4A2EB8974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blipFill>
                <a:blip r:embed="rId5"/>
                <a:stretch>
                  <a:fillRect t="-6667" r="-441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7FB8064F-083F-9876-412A-2008729C048B}"/>
              </a:ext>
            </a:extLst>
          </p:cNvPr>
          <p:cNvSpPr txBox="1"/>
          <p:nvPr/>
        </p:nvSpPr>
        <p:spPr>
          <a:xfrm>
            <a:off x="767547" y="5347636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       }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449AA67-1E7E-35EE-D21A-D4D0CADDDC0C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449AA67-1E7E-35EE-D21A-D4D0CADDDC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blipFill>
                <a:blip r:embed="rId6"/>
                <a:stretch>
                  <a:fillRect l="-1984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2216F26-8D40-545C-B47B-E517F4AD5C56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2216F26-8D40-545C-B47B-E517F4AD5C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blipFill>
                <a:blip r:embed="rId7"/>
                <a:stretch>
                  <a:fillRect l="-1587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TextBox 42">
            <a:extLst>
              <a:ext uri="{FF2B5EF4-FFF2-40B4-BE49-F238E27FC236}">
                <a16:creationId xmlns:a16="http://schemas.microsoft.com/office/drawing/2014/main" id="{FDF9A705-D40F-344B-73CB-5E7F97382842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4593F2C-0ECE-317C-E395-A725D03FE9B1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55B5076C-EF85-CF60-0992-0EBED0D8E39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E5C5C50-D1B3-E599-980B-5FE17BD2E8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6BAC8C7D-7323-2C58-CAB9-B0BC91025BDD}"/>
                  </a:ext>
                </a:extLst>
              </p:cNvPr>
              <p:cNvSpPr/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6BAC8C7D-7323-2C58-CAB9-B0BC91025B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blipFill>
                <a:blip r:embed="rId5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492287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C1C0DBC-2C5C-9442-B008-3AB62A61C316}"/>
                  </a:ext>
                </a:extLst>
              </p:cNvPr>
              <p:cNvSpPr/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4C1C0DBC-2C5C-9442-B008-3AB62A61C3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blipFill>
                <a:blip r:embed="rId2"/>
                <a:stretch>
                  <a:fillRect b="-3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67CC49-B5BC-298A-8A1C-297A3A5384B7}"/>
              </a:ext>
            </a:extLst>
          </p:cNvPr>
          <p:cNvSpPr txBox="1"/>
          <p:nvPr/>
        </p:nvSpPr>
        <p:spPr>
          <a:xfrm>
            <a:off x="1104900" y="2474095"/>
            <a:ext cx="655949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</a:t>
            </a:r>
            <a:r>
              <a:rPr lang="en-US" dirty="0" err="1">
                <a:latin typeface="American Typewriter" panose="02090604020004020304" pitchFamily="18" charset="77"/>
              </a:rPr>
              <a:t>nt</a:t>
            </a:r>
            <a:r>
              <a:rPr lang="en-US" dirty="0">
                <a:latin typeface="American Typewriter" panose="02090604020004020304" pitchFamily="18" charset="77"/>
              </a:rPr>
              <a:t>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5764C8-47ED-5938-10E6-BB2FB3877514}"/>
              </a:ext>
            </a:extLst>
          </p:cNvPr>
          <p:cNvSpPr txBox="1"/>
          <p:nvPr/>
        </p:nvSpPr>
        <p:spPr>
          <a:xfrm>
            <a:off x="684307" y="3192534"/>
            <a:ext cx="562975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629E4-1E4D-073A-206C-59693E9E8761}"/>
              </a:ext>
            </a:extLst>
          </p:cNvPr>
          <p:cNvSpPr txBox="1"/>
          <p:nvPr/>
        </p:nvSpPr>
        <p:spPr>
          <a:xfrm>
            <a:off x="1750335" y="3192534"/>
            <a:ext cx="554960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473A4A-E277-2E62-FFC1-042F0D3614CA}"/>
              </a:ext>
            </a:extLst>
          </p:cNvPr>
          <p:cNvSpPr txBox="1"/>
          <p:nvPr/>
        </p:nvSpPr>
        <p:spPr>
          <a:xfrm>
            <a:off x="1738407" y="1834849"/>
            <a:ext cx="381836" cy="3357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DCB8BCB-9B62-5AC1-6F43-E1D3338AE8EF}"/>
              </a:ext>
            </a:extLst>
          </p:cNvPr>
          <p:cNvCxnSpPr>
            <a:cxnSpLocks/>
            <a:endCxn id="7" idx="0"/>
          </p:cNvCxnSpPr>
          <p:nvPr/>
        </p:nvCxnSpPr>
        <p:spPr>
          <a:xfrm flipH="1">
            <a:off x="1432875" y="2199662"/>
            <a:ext cx="327974" cy="2744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0E14C71-958C-320B-E346-62CFF0CEFCB0}"/>
              </a:ext>
            </a:extLst>
          </p:cNvPr>
          <p:cNvCxnSpPr>
            <a:cxnSpLocks/>
            <a:endCxn id="8" idx="0"/>
          </p:cNvCxnSpPr>
          <p:nvPr/>
        </p:nvCxnSpPr>
        <p:spPr>
          <a:xfrm flipH="1">
            <a:off x="965795" y="2842507"/>
            <a:ext cx="281487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17B8089-0310-5CA1-997D-F145E8DA359A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1638300" y="2842507"/>
            <a:ext cx="389515" cy="350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/>
              <p:nvPr/>
            </p:nvSpPr>
            <p:spPr>
              <a:xfrm>
                <a:off x="1247282" y="3610324"/>
                <a:ext cx="4612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</a:rPr>
                        <m:t>𝑑𝑡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EAC34BB-7980-DAF3-3E05-0F89B2A90E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7282" y="3610324"/>
                <a:ext cx="46121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8E2E98F5-4DA8-52EF-F549-777CF81B6475}"/>
              </a:ext>
            </a:extLst>
          </p:cNvPr>
          <p:cNvSpPr/>
          <p:nvPr/>
        </p:nvSpPr>
        <p:spPr>
          <a:xfrm>
            <a:off x="365460" y="1692891"/>
            <a:ext cx="2554193" cy="240695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C14C0F3-4879-5401-956E-825CCD03BDD1}"/>
              </a:ext>
            </a:extLst>
          </p:cNvPr>
          <p:cNvSpPr txBox="1"/>
          <p:nvPr/>
        </p:nvSpPr>
        <p:spPr>
          <a:xfrm>
            <a:off x="1422400" y="4711231"/>
            <a:ext cx="12266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&lt;x&gt; &gt; &lt;y&gt;,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755507-AF7A-E7C8-3EF7-B70F8770674A}"/>
              </a:ext>
            </a:extLst>
          </p:cNvPr>
          <p:cNvSpPr txBox="1"/>
          <p:nvPr/>
        </p:nvSpPr>
        <p:spPr>
          <a:xfrm>
            <a:off x="1422400" y="5054504"/>
            <a:ext cx="933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&lt;y&gt; &lt; 0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EDC5F7-4BAE-8728-754E-4A2EB8974015}"/>
                  </a:ext>
                </a:extLst>
              </p:cNvPr>
              <p:cNvSpPr txBox="1"/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𝑑𝑡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=  {</a:t>
                </a: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9EDC5F7-4BAE-8728-754E-4A2EB8974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351" y="4379666"/>
                <a:ext cx="839204" cy="369332"/>
              </a:xfrm>
              <a:prstGeom prst="rect">
                <a:avLst/>
              </a:prstGeom>
              <a:blipFill>
                <a:blip r:embed="rId4"/>
                <a:stretch>
                  <a:fillRect t="-6667" r="-4412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>
            <a:extLst>
              <a:ext uri="{FF2B5EF4-FFF2-40B4-BE49-F238E27FC236}">
                <a16:creationId xmlns:a16="http://schemas.microsoft.com/office/drawing/2014/main" id="{7FB8064F-083F-9876-412A-2008729C048B}"/>
              </a:ext>
            </a:extLst>
          </p:cNvPr>
          <p:cNvSpPr txBox="1"/>
          <p:nvPr/>
        </p:nvSpPr>
        <p:spPr>
          <a:xfrm>
            <a:off x="767547" y="5347636"/>
            <a:ext cx="62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        }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449AA67-1E7E-35EE-D21A-D4D0CADDDC0C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449AA67-1E7E-35EE-D21A-D4D0CADDDC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blipFill>
                <a:blip r:embed="rId5"/>
                <a:stretch>
                  <a:fillRect l="-1984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2216F26-8D40-545C-B47B-E517F4AD5C56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</p:txBody>
          </p:sp>
        </mc:Choice>
        <mc:Fallback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2216F26-8D40-545C-B47B-E517F4AD5C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blipFill>
                <a:blip r:embed="rId6"/>
                <a:stretch>
                  <a:fillRect l="-1587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TextBox 42">
            <a:extLst>
              <a:ext uri="{FF2B5EF4-FFF2-40B4-BE49-F238E27FC236}">
                <a16:creationId xmlns:a16="http://schemas.microsoft.com/office/drawing/2014/main" id="{FDF9A705-D40F-344B-73CB-5E7F97382842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4593F2C-0ECE-317C-E395-A725D03FE9B1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55B5076C-EF85-CF60-0992-0EBED0D8E3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EE5C5C50-D1B3-E599-980B-5FE17BD2E8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6BAC8C7D-7323-2C58-CAB9-B0BC91025BDD}"/>
                  </a:ext>
                </a:extLst>
              </p:cNvPr>
              <p:cNvSpPr/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6BAC8C7D-7323-2C58-CAB9-B0BC91025BD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blipFill>
                <a:blip r:embed="rId4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4A1BC995-22FC-7A00-F41E-2DD3479F5628}"/>
              </a:ext>
            </a:extLst>
          </p:cNvPr>
          <p:cNvSpPr/>
          <p:nvPr/>
        </p:nvSpPr>
        <p:spPr>
          <a:xfrm>
            <a:off x="4365959" y="4748998"/>
            <a:ext cx="6787482" cy="8390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Avenir Next" panose="020B0503020202020204" pitchFamily="34" charset="0"/>
              </a:rPr>
              <a:t>Goblin performs lazy instantiation</a:t>
            </a:r>
          </a:p>
        </p:txBody>
      </p:sp>
    </p:spTree>
    <p:extLst>
      <p:ext uri="{BB962C8B-B14F-4D97-AF65-F5344CB8AC3E}">
        <p14:creationId xmlns:p14="http://schemas.microsoft.com/office/powerpoint/2010/main" val="3926479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indefinite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" dur="indefinite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" dur="indefinite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indefinite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6" dur="indefinite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41" grpId="0"/>
      <p:bldP spid="43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8" name="Rounded Rectangle 37">
                <a:extLst>
                  <a:ext uri="{FF2B5EF4-FFF2-40B4-BE49-F238E27FC236}">
                    <a16:creationId xmlns:a16="http://schemas.microsoft.com/office/drawing/2014/main" id="{1264AABF-DDB6-4CBC-F56A-17CCCFE04891}"/>
                  </a:ext>
                </a:extLst>
              </p:cNvPr>
              <p:cNvSpPr/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>
          <p:sp>
            <p:nvSpPr>
              <p:cNvPr id="38" name="Rounded Rectangle 37">
                <a:extLst>
                  <a:ext uri="{FF2B5EF4-FFF2-40B4-BE49-F238E27FC236}">
                    <a16:creationId xmlns:a16="http://schemas.microsoft.com/office/drawing/2014/main" id="{1264AABF-DDB6-4CBC-F56A-17CCCFE048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blipFill>
                <a:blip r:embed="rId3"/>
                <a:stretch>
                  <a:fillRect b="-3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4F4DAC7-CA68-FA88-8C6F-1FC1758FF8F3}"/>
              </a:ext>
            </a:extLst>
          </p:cNvPr>
          <p:cNvGrpSpPr/>
          <p:nvPr/>
        </p:nvGrpSpPr>
        <p:grpSpPr>
          <a:xfrm>
            <a:off x="365460" y="1692891"/>
            <a:ext cx="2554193" cy="2406951"/>
            <a:chOff x="365460" y="1692891"/>
            <a:chExt cx="2554193" cy="240695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F67CC49-B5BC-298A-8A1C-297A3A5384B7}"/>
                </a:ext>
              </a:extLst>
            </p:cNvPr>
            <p:cNvSpPr txBox="1"/>
            <p:nvPr/>
          </p:nvSpPr>
          <p:spPr>
            <a:xfrm>
              <a:off x="1104900" y="2474095"/>
              <a:ext cx="655949" cy="3357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merican Typewriter" panose="02090604020004020304" pitchFamily="18" charset="77"/>
                </a:rPr>
                <a:t>&lt;</a:t>
              </a:r>
              <a:r>
                <a:rPr lang="en-US" dirty="0" err="1">
                  <a:latin typeface="American Typewriter" panose="02090604020004020304" pitchFamily="18" charset="77"/>
                </a:rPr>
                <a:t>nt</a:t>
              </a:r>
              <a:r>
                <a:rPr lang="en-US" dirty="0">
                  <a:latin typeface="American Typewriter" panose="02090604020004020304" pitchFamily="18" charset="77"/>
                </a:rPr>
                <a:t>&gt;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85764C8-47ED-5938-10E6-BB2FB3877514}"/>
                </a:ext>
              </a:extLst>
            </p:cNvPr>
            <p:cNvSpPr txBox="1"/>
            <p:nvPr/>
          </p:nvSpPr>
          <p:spPr>
            <a:xfrm>
              <a:off x="684307" y="3192534"/>
              <a:ext cx="3321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merican Typewriter" panose="02090604020004020304" pitchFamily="18" charset="77"/>
                </a:rPr>
                <a:t>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3B629E4-1E4D-073A-206C-59693E9E8761}"/>
                </a:ext>
              </a:extLst>
            </p:cNvPr>
            <p:cNvSpPr txBox="1"/>
            <p:nvPr/>
          </p:nvSpPr>
          <p:spPr>
            <a:xfrm>
              <a:off x="1750335" y="3192534"/>
              <a:ext cx="3321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merican Typewriter" panose="02090604020004020304" pitchFamily="18" charset="77"/>
                </a:rPr>
                <a:t>0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0473A4A-E277-2E62-FFC1-042F0D3614CA}"/>
                </a:ext>
              </a:extLst>
            </p:cNvPr>
            <p:cNvSpPr txBox="1"/>
            <p:nvPr/>
          </p:nvSpPr>
          <p:spPr>
            <a:xfrm>
              <a:off x="1738407" y="1834849"/>
              <a:ext cx="381836" cy="3357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CDCB8BCB-9B62-5AC1-6F43-E1D3338AE8EF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 flipH="1">
              <a:off x="1432875" y="2199662"/>
              <a:ext cx="327974" cy="27443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E0E14C71-958C-320B-E346-62CFF0CEFCB0}"/>
                </a:ext>
              </a:extLst>
            </p:cNvPr>
            <p:cNvCxnSpPr>
              <a:cxnSpLocks/>
              <a:endCxn id="8" idx="0"/>
            </p:cNvCxnSpPr>
            <p:nvPr/>
          </p:nvCxnSpPr>
          <p:spPr>
            <a:xfrm flipH="1">
              <a:off x="850378" y="2842507"/>
              <a:ext cx="396904" cy="3500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17B8089-0310-5CA1-997D-F145E8DA359A}"/>
                </a:ext>
              </a:extLst>
            </p:cNvPr>
            <p:cNvCxnSpPr>
              <a:cxnSpLocks/>
              <a:endCxn id="9" idx="0"/>
            </p:cNvCxnSpPr>
            <p:nvPr/>
          </p:nvCxnSpPr>
          <p:spPr>
            <a:xfrm>
              <a:off x="1638300" y="2842507"/>
              <a:ext cx="278106" cy="3500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EAC34BB-7980-DAF3-3E05-0F89B2A90E37}"/>
                    </a:ext>
                  </a:extLst>
                </p:cNvPr>
                <p:cNvSpPr txBox="1"/>
                <p:nvPr/>
              </p:nvSpPr>
              <p:spPr>
                <a:xfrm>
                  <a:off x="1247282" y="3610324"/>
                  <a:ext cx="56150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EAC34BB-7980-DAF3-3E05-0F89B2A90E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7282" y="3610324"/>
                  <a:ext cx="56150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8E2E98F5-4DA8-52EF-F549-777CF81B6475}"/>
                </a:ext>
              </a:extLst>
            </p:cNvPr>
            <p:cNvSpPr/>
            <p:nvPr/>
          </p:nvSpPr>
          <p:spPr>
            <a:xfrm>
              <a:off x="365460" y="1692891"/>
              <a:ext cx="2554193" cy="2406951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AB83D0E-27CE-77A9-1603-4D09BA62B06F}"/>
              </a:ext>
            </a:extLst>
          </p:cNvPr>
          <p:cNvGrpSpPr/>
          <p:nvPr/>
        </p:nvGrpSpPr>
        <p:grpSpPr>
          <a:xfrm>
            <a:off x="365460" y="4222449"/>
            <a:ext cx="2554193" cy="2406951"/>
            <a:chOff x="365460" y="4222449"/>
            <a:chExt cx="2554193" cy="240695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2DCAD2-445D-6A5F-178E-08EE92577A2B}"/>
                </a:ext>
              </a:extLst>
            </p:cNvPr>
            <p:cNvSpPr txBox="1"/>
            <p:nvPr/>
          </p:nvSpPr>
          <p:spPr>
            <a:xfrm>
              <a:off x="1104900" y="5003653"/>
              <a:ext cx="918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merican Typewriter" panose="02090604020004020304" pitchFamily="18" charset="77"/>
                </a:rPr>
                <a:t>&lt;nt_2&gt;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43D00AF-B531-52AD-28BC-9A6AF99AD70B}"/>
                </a:ext>
              </a:extLst>
            </p:cNvPr>
            <p:cNvSpPr txBox="1"/>
            <p:nvPr/>
          </p:nvSpPr>
          <p:spPr>
            <a:xfrm>
              <a:off x="684307" y="5722092"/>
              <a:ext cx="5453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merican Typewriter" panose="02090604020004020304" pitchFamily="18" charset="77"/>
                </a:rPr>
                <a:t>&lt;a&gt;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09335A6-6585-FBFA-DAFE-DB2EF22CADD3}"/>
                </a:ext>
              </a:extLst>
            </p:cNvPr>
            <p:cNvSpPr txBox="1"/>
            <p:nvPr/>
          </p:nvSpPr>
          <p:spPr>
            <a:xfrm>
              <a:off x="1750335" y="5722092"/>
              <a:ext cx="5453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merican Typewriter" panose="02090604020004020304" pitchFamily="18" charset="77"/>
                </a:rPr>
                <a:t>&lt;b&gt;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9048E5C-A31E-4F26-461C-4A17207869AC}"/>
                </a:ext>
              </a:extLst>
            </p:cNvPr>
            <p:cNvSpPr txBox="1"/>
            <p:nvPr/>
          </p:nvSpPr>
          <p:spPr>
            <a:xfrm>
              <a:off x="1086766" y="4364407"/>
              <a:ext cx="381836" cy="3357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30FF7618-BEFB-E8CB-66EE-92D17487EB45}"/>
                </a:ext>
              </a:extLst>
            </p:cNvPr>
            <p:cNvCxnSpPr>
              <a:cxnSpLocks/>
            </p:cNvCxnSpPr>
            <p:nvPr/>
          </p:nvCxnSpPr>
          <p:spPr>
            <a:xfrm>
              <a:off x="1401345" y="4792717"/>
              <a:ext cx="131446" cy="2109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3DA94E7-04A8-FF62-1001-E7A1FA9CABBF}"/>
                </a:ext>
              </a:extLst>
            </p:cNvPr>
            <p:cNvCxnSpPr>
              <a:cxnSpLocks/>
              <a:endCxn id="6" idx="0"/>
            </p:cNvCxnSpPr>
            <p:nvPr/>
          </p:nvCxnSpPr>
          <p:spPr>
            <a:xfrm flipH="1">
              <a:off x="956978" y="5372065"/>
              <a:ext cx="290304" cy="3500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0F2BE39B-1F14-F4FB-A20F-69725118A655}"/>
                </a:ext>
              </a:extLst>
            </p:cNvPr>
            <p:cNvCxnSpPr>
              <a:cxnSpLocks/>
              <a:endCxn id="16" idx="0"/>
            </p:cNvCxnSpPr>
            <p:nvPr/>
          </p:nvCxnSpPr>
          <p:spPr>
            <a:xfrm>
              <a:off x="1638300" y="5372065"/>
              <a:ext cx="384706" cy="3500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1F42B5E-9DC7-2A00-A498-63CE9F788354}"/>
                    </a:ext>
                  </a:extLst>
                </p:cNvPr>
                <p:cNvSpPr txBox="1"/>
                <p:nvPr/>
              </p:nvSpPr>
              <p:spPr>
                <a:xfrm>
                  <a:off x="1247282" y="6139882"/>
                  <a:ext cx="56682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1F42B5E-9DC7-2A00-A498-63CE9F7883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7282" y="6139882"/>
                  <a:ext cx="566822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0900E0CD-2C03-BB3B-42C2-C74A69C04A17}"/>
                </a:ext>
              </a:extLst>
            </p:cNvPr>
            <p:cNvSpPr/>
            <p:nvPr/>
          </p:nvSpPr>
          <p:spPr>
            <a:xfrm>
              <a:off x="365460" y="4222449"/>
              <a:ext cx="2554193" cy="2406951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Oval 28">
            <a:extLst>
              <a:ext uri="{FF2B5EF4-FFF2-40B4-BE49-F238E27FC236}">
                <a16:creationId xmlns:a16="http://schemas.microsoft.com/office/drawing/2014/main" id="{EA9738CD-4672-B077-FA7B-651AE8CF5C70}"/>
              </a:ext>
            </a:extLst>
          </p:cNvPr>
          <p:cNvSpPr/>
          <p:nvPr/>
        </p:nvSpPr>
        <p:spPr>
          <a:xfrm>
            <a:off x="4062580" y="3332858"/>
            <a:ext cx="2554193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41F073-7C26-D3F7-2039-6FE004958A18}"/>
              </a:ext>
            </a:extLst>
          </p:cNvPr>
          <p:cNvSpPr txBox="1"/>
          <p:nvPr/>
        </p:nvSpPr>
        <p:spPr>
          <a:xfrm>
            <a:off x="5077363" y="4498998"/>
            <a:ext cx="66880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But, eager instantiation enables non-chronological backtracking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37C199E-6CFC-5693-54FA-1B75DA66C2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4219" y="4358914"/>
            <a:ext cx="584288" cy="58428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A66FBB-ED1F-D8FB-47E1-3CAD103F2768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A66FBB-ED1F-D8FB-47E1-3CAD103F27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blipFill>
                <a:blip r:embed="rId7"/>
                <a:stretch>
                  <a:fillRect l="-1984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104A4-1542-B227-336F-32D93A44F55F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104A4-1542-B227-336F-32D93A44F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blipFill>
                <a:blip r:embed="rId8"/>
                <a:stretch>
                  <a:fillRect l="-1587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537CD775-A645-05DB-E2EE-E40588ABB45E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Britannic Bold" panose="020B0903060703020204" pitchFamily="34" charset="77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05E83D-C379-2AB4-C6F1-FD1ADAE29E18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Britannic Bold" panose="020B0903060703020204" pitchFamily="34" charset="77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58A94FFC-1920-AC9E-68A3-ACEFC953AEB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5EF9A4AB-FF7D-4BB2-90C9-4A72404107F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  <p:cxnSp>
        <p:nvCxnSpPr>
          <p:cNvPr id="32" name="Curved Connector 31">
            <a:extLst>
              <a:ext uri="{FF2B5EF4-FFF2-40B4-BE49-F238E27FC236}">
                <a16:creationId xmlns:a16="http://schemas.microsoft.com/office/drawing/2014/main" id="{054E2984-3F20-5D15-A429-2F97E6E1889E}"/>
              </a:ext>
            </a:extLst>
          </p:cNvPr>
          <p:cNvCxnSpPr>
            <a:stCxn id="28" idx="3"/>
            <a:endCxn id="27" idx="3"/>
          </p:cNvCxnSpPr>
          <p:nvPr/>
        </p:nvCxnSpPr>
        <p:spPr>
          <a:xfrm>
            <a:off x="2919653" y="2896367"/>
            <a:ext cx="12700" cy="2529558"/>
          </a:xfrm>
          <a:prstGeom prst="curvedConnector3">
            <a:avLst>
              <a:gd name="adj1" fmla="val 535862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1E7A8514-4FC1-9FAA-793C-6DFDC70ED0A0}"/>
                  </a:ext>
                </a:extLst>
              </p:cNvPr>
              <p:cNvSpPr/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1E7A8514-4FC1-9FAA-793C-6DFDC70ED0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blipFill>
                <a:blip r:embed="rId11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40">
            <a:extLst>
              <a:ext uri="{FF2B5EF4-FFF2-40B4-BE49-F238E27FC236}">
                <a16:creationId xmlns:a16="http://schemas.microsoft.com/office/drawing/2014/main" id="{53E7E1AB-017A-9A2F-423E-20FD74E571B8}"/>
              </a:ext>
            </a:extLst>
          </p:cNvPr>
          <p:cNvSpPr/>
          <p:nvPr/>
        </p:nvSpPr>
        <p:spPr>
          <a:xfrm>
            <a:off x="4504267" y="5188319"/>
            <a:ext cx="7112000" cy="5337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Early instantiation allows “saving your progress”</a:t>
            </a:r>
          </a:p>
        </p:txBody>
      </p:sp>
    </p:spTree>
    <p:extLst>
      <p:ext uri="{BB962C8B-B14F-4D97-AF65-F5344CB8AC3E}">
        <p14:creationId xmlns:p14="http://schemas.microsoft.com/office/powerpoint/2010/main" val="371102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indefinite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9" dur="indefinite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indefinite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2" dur="indefinite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indefinite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5" dur="indefinite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indefinite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8" dur="indefinite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indefinit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1" dur="indefinite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4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7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0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indefinite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3" dur="indefinite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indefinite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6" dur="indefinite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indefinite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9" dur="indefinite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indefinite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2" dur="indefinite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indefinite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5" dur="indefinite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29" grpId="0" animBg="1"/>
      <p:bldP spid="30" grpId="0"/>
      <p:bldP spid="12" grpId="0"/>
      <p:bldP spid="15" grpId="0"/>
      <p:bldP spid="24" grpId="0"/>
      <p:bldP spid="25" grpId="0"/>
      <p:bldP spid="36" grpId="0" animBg="1"/>
      <p:bldP spid="4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8" name="Rounded Rectangle 37">
                <a:extLst>
                  <a:ext uri="{FF2B5EF4-FFF2-40B4-BE49-F238E27FC236}">
                    <a16:creationId xmlns:a16="http://schemas.microsoft.com/office/drawing/2014/main" id="{1264AABF-DDB6-4CBC-F56A-17CCCFE04891}"/>
                  </a:ext>
                </a:extLst>
              </p:cNvPr>
              <p:cNvSpPr/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1,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 }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infeasible</a:t>
                </a:r>
              </a:p>
            </p:txBody>
          </p:sp>
        </mc:Choice>
        <mc:Fallback>
          <p:sp>
            <p:nvSpPr>
              <p:cNvPr id="38" name="Rounded Rectangle 37">
                <a:extLst>
                  <a:ext uri="{FF2B5EF4-FFF2-40B4-BE49-F238E27FC236}">
                    <a16:creationId xmlns:a16="http://schemas.microsoft.com/office/drawing/2014/main" id="{1264AABF-DDB6-4CBC-F56A-17CCCFE048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8862" y="2972824"/>
                <a:ext cx="3190297" cy="1013418"/>
              </a:xfrm>
              <a:prstGeom prst="roundRect">
                <a:avLst/>
              </a:prstGeom>
              <a:blipFill>
                <a:blip r:embed="rId3"/>
                <a:stretch>
                  <a:fillRect b="-36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4F4DAC7-CA68-FA88-8C6F-1FC1758FF8F3}"/>
              </a:ext>
            </a:extLst>
          </p:cNvPr>
          <p:cNvGrpSpPr/>
          <p:nvPr/>
        </p:nvGrpSpPr>
        <p:grpSpPr>
          <a:xfrm>
            <a:off x="365460" y="1692891"/>
            <a:ext cx="2554193" cy="2406951"/>
            <a:chOff x="365460" y="1692891"/>
            <a:chExt cx="2554193" cy="2406951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F67CC49-B5BC-298A-8A1C-297A3A5384B7}"/>
                </a:ext>
              </a:extLst>
            </p:cNvPr>
            <p:cNvSpPr txBox="1"/>
            <p:nvPr/>
          </p:nvSpPr>
          <p:spPr>
            <a:xfrm>
              <a:off x="1104900" y="2474095"/>
              <a:ext cx="655949" cy="3357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merican Typewriter" panose="02090604020004020304" pitchFamily="18" charset="77"/>
                </a:rPr>
                <a:t>&lt;</a:t>
              </a:r>
              <a:r>
                <a:rPr lang="en-US" dirty="0" err="1">
                  <a:latin typeface="American Typewriter" panose="02090604020004020304" pitchFamily="18" charset="77"/>
                </a:rPr>
                <a:t>nt</a:t>
              </a:r>
              <a:r>
                <a:rPr lang="en-US" dirty="0">
                  <a:latin typeface="American Typewriter" panose="02090604020004020304" pitchFamily="18" charset="77"/>
                </a:rPr>
                <a:t>&gt;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85764C8-47ED-5938-10E6-BB2FB3877514}"/>
                </a:ext>
              </a:extLst>
            </p:cNvPr>
            <p:cNvSpPr txBox="1"/>
            <p:nvPr/>
          </p:nvSpPr>
          <p:spPr>
            <a:xfrm>
              <a:off x="684307" y="3192534"/>
              <a:ext cx="3321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merican Typewriter" panose="02090604020004020304" pitchFamily="18" charset="77"/>
                </a:rPr>
                <a:t>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13B629E4-1E4D-073A-206C-59693E9E8761}"/>
                </a:ext>
              </a:extLst>
            </p:cNvPr>
            <p:cNvSpPr txBox="1"/>
            <p:nvPr/>
          </p:nvSpPr>
          <p:spPr>
            <a:xfrm>
              <a:off x="1750335" y="3192534"/>
              <a:ext cx="3321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merican Typewriter" panose="02090604020004020304" pitchFamily="18" charset="77"/>
                </a:rPr>
                <a:t>0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0473A4A-E277-2E62-FFC1-042F0D3614CA}"/>
                </a:ext>
              </a:extLst>
            </p:cNvPr>
            <p:cNvSpPr txBox="1"/>
            <p:nvPr/>
          </p:nvSpPr>
          <p:spPr>
            <a:xfrm>
              <a:off x="1738407" y="1834849"/>
              <a:ext cx="381836" cy="3357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CDCB8BCB-9B62-5AC1-6F43-E1D3338AE8EF}"/>
                </a:ext>
              </a:extLst>
            </p:cNvPr>
            <p:cNvCxnSpPr>
              <a:cxnSpLocks/>
              <a:endCxn id="7" idx="0"/>
            </p:cNvCxnSpPr>
            <p:nvPr/>
          </p:nvCxnSpPr>
          <p:spPr>
            <a:xfrm flipH="1">
              <a:off x="1432875" y="2199662"/>
              <a:ext cx="327974" cy="27443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E0E14C71-958C-320B-E346-62CFF0CEFCB0}"/>
                </a:ext>
              </a:extLst>
            </p:cNvPr>
            <p:cNvCxnSpPr>
              <a:cxnSpLocks/>
              <a:endCxn id="8" idx="0"/>
            </p:cNvCxnSpPr>
            <p:nvPr/>
          </p:nvCxnSpPr>
          <p:spPr>
            <a:xfrm flipH="1">
              <a:off x="850378" y="2842507"/>
              <a:ext cx="396904" cy="3500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917B8089-0310-5CA1-997D-F145E8DA359A}"/>
                </a:ext>
              </a:extLst>
            </p:cNvPr>
            <p:cNvCxnSpPr>
              <a:cxnSpLocks/>
              <a:endCxn id="9" idx="0"/>
            </p:cNvCxnSpPr>
            <p:nvPr/>
          </p:nvCxnSpPr>
          <p:spPr>
            <a:xfrm>
              <a:off x="1638300" y="2842507"/>
              <a:ext cx="278106" cy="3500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EAC34BB-7980-DAF3-3E05-0F89B2A90E37}"/>
                    </a:ext>
                  </a:extLst>
                </p:cNvPr>
                <p:cNvSpPr txBox="1"/>
                <p:nvPr/>
              </p:nvSpPr>
              <p:spPr>
                <a:xfrm>
                  <a:off x="1247282" y="3610324"/>
                  <a:ext cx="56150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EAC34BB-7980-DAF3-3E05-0F89B2A90E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7282" y="3610324"/>
                  <a:ext cx="56150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8E2E98F5-4DA8-52EF-F549-777CF81B6475}"/>
                </a:ext>
              </a:extLst>
            </p:cNvPr>
            <p:cNvSpPr/>
            <p:nvPr/>
          </p:nvSpPr>
          <p:spPr>
            <a:xfrm>
              <a:off x="365460" y="1692891"/>
              <a:ext cx="2554193" cy="2406951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AB83D0E-27CE-77A9-1603-4D09BA62B06F}"/>
              </a:ext>
            </a:extLst>
          </p:cNvPr>
          <p:cNvGrpSpPr/>
          <p:nvPr/>
        </p:nvGrpSpPr>
        <p:grpSpPr>
          <a:xfrm>
            <a:off x="365460" y="4222449"/>
            <a:ext cx="2554193" cy="2406951"/>
            <a:chOff x="365460" y="4222449"/>
            <a:chExt cx="2554193" cy="240695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22DCAD2-445D-6A5F-178E-08EE92577A2B}"/>
                </a:ext>
              </a:extLst>
            </p:cNvPr>
            <p:cNvSpPr txBox="1"/>
            <p:nvPr/>
          </p:nvSpPr>
          <p:spPr>
            <a:xfrm>
              <a:off x="1104900" y="5003653"/>
              <a:ext cx="9188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merican Typewriter" panose="02090604020004020304" pitchFamily="18" charset="77"/>
                </a:rPr>
                <a:t>&lt;nt_2&gt;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43D00AF-B531-52AD-28BC-9A6AF99AD70B}"/>
                </a:ext>
              </a:extLst>
            </p:cNvPr>
            <p:cNvSpPr txBox="1"/>
            <p:nvPr/>
          </p:nvSpPr>
          <p:spPr>
            <a:xfrm>
              <a:off x="684307" y="5722092"/>
              <a:ext cx="5453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merican Typewriter" panose="02090604020004020304" pitchFamily="18" charset="77"/>
                </a:rPr>
                <a:t>&lt;a&gt;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109335A6-6585-FBFA-DAFE-DB2EF22CADD3}"/>
                </a:ext>
              </a:extLst>
            </p:cNvPr>
            <p:cNvSpPr txBox="1"/>
            <p:nvPr/>
          </p:nvSpPr>
          <p:spPr>
            <a:xfrm>
              <a:off x="1750335" y="5722092"/>
              <a:ext cx="5453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American Typewriter" panose="02090604020004020304" pitchFamily="18" charset="77"/>
                </a:rPr>
                <a:t>&lt;b&gt;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9048E5C-A31E-4F26-461C-4A17207869AC}"/>
                </a:ext>
              </a:extLst>
            </p:cNvPr>
            <p:cNvSpPr txBox="1"/>
            <p:nvPr/>
          </p:nvSpPr>
          <p:spPr>
            <a:xfrm>
              <a:off x="1086766" y="4364407"/>
              <a:ext cx="381836" cy="3357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…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30FF7618-BEFB-E8CB-66EE-92D17487EB45}"/>
                </a:ext>
              </a:extLst>
            </p:cNvPr>
            <p:cNvCxnSpPr>
              <a:cxnSpLocks/>
            </p:cNvCxnSpPr>
            <p:nvPr/>
          </p:nvCxnSpPr>
          <p:spPr>
            <a:xfrm>
              <a:off x="1401345" y="4792717"/>
              <a:ext cx="131446" cy="21093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3DA94E7-04A8-FF62-1001-E7A1FA9CABBF}"/>
                </a:ext>
              </a:extLst>
            </p:cNvPr>
            <p:cNvCxnSpPr>
              <a:cxnSpLocks/>
              <a:endCxn id="6" idx="0"/>
            </p:cNvCxnSpPr>
            <p:nvPr/>
          </p:nvCxnSpPr>
          <p:spPr>
            <a:xfrm flipH="1">
              <a:off x="956978" y="5372065"/>
              <a:ext cx="290304" cy="3500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0F2BE39B-1F14-F4FB-A20F-69725118A655}"/>
                </a:ext>
              </a:extLst>
            </p:cNvPr>
            <p:cNvCxnSpPr>
              <a:cxnSpLocks/>
              <a:endCxn id="16" idx="0"/>
            </p:cNvCxnSpPr>
            <p:nvPr/>
          </p:nvCxnSpPr>
          <p:spPr>
            <a:xfrm>
              <a:off x="1638300" y="5372065"/>
              <a:ext cx="384706" cy="350027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1F42B5E-9DC7-2A00-A498-63CE9F788354}"/>
                    </a:ext>
                  </a:extLst>
                </p:cNvPr>
                <p:cNvSpPr txBox="1"/>
                <p:nvPr/>
              </p:nvSpPr>
              <p:spPr>
                <a:xfrm>
                  <a:off x="1247282" y="6139882"/>
                  <a:ext cx="56682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1F42B5E-9DC7-2A00-A498-63CE9F7883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7282" y="6139882"/>
                  <a:ext cx="566822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0900E0CD-2C03-BB3B-42C2-C74A69C04A17}"/>
                </a:ext>
              </a:extLst>
            </p:cNvPr>
            <p:cNvSpPr/>
            <p:nvPr/>
          </p:nvSpPr>
          <p:spPr>
            <a:xfrm>
              <a:off x="365460" y="4222449"/>
              <a:ext cx="2554193" cy="2406951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Oval 28">
            <a:extLst>
              <a:ext uri="{FF2B5EF4-FFF2-40B4-BE49-F238E27FC236}">
                <a16:creationId xmlns:a16="http://schemas.microsoft.com/office/drawing/2014/main" id="{EA9738CD-4672-B077-FA7B-651AE8CF5C70}"/>
              </a:ext>
            </a:extLst>
          </p:cNvPr>
          <p:cNvSpPr/>
          <p:nvPr/>
        </p:nvSpPr>
        <p:spPr>
          <a:xfrm>
            <a:off x="4062580" y="3298991"/>
            <a:ext cx="2554193" cy="3357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A41F073-7C26-D3F7-2039-6FE004958A18}"/>
              </a:ext>
            </a:extLst>
          </p:cNvPr>
          <p:cNvSpPr txBox="1"/>
          <p:nvPr/>
        </p:nvSpPr>
        <p:spPr>
          <a:xfrm>
            <a:off x="5077363" y="4498998"/>
            <a:ext cx="66880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But, eager instantiation enables non-chronological backtracking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37C199E-6CFC-5693-54FA-1B75DA66C2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4219" y="4358914"/>
            <a:ext cx="584288" cy="58428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A66FBB-ED1F-D8FB-47E1-3CAD103F2768}"/>
                  </a:ext>
                </a:extLst>
              </p:cNvPr>
              <p:cNvSpPr txBox="1"/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DA66FBB-ED1F-D8FB-47E1-3CAD103F27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9400" y="2606833"/>
                <a:ext cx="3190297" cy="369332"/>
              </a:xfrm>
              <a:prstGeom prst="rect">
                <a:avLst/>
              </a:prstGeom>
              <a:blipFill>
                <a:blip r:embed="rId7"/>
                <a:stretch>
                  <a:fillRect l="-1984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104A4-1542-B227-336F-32D93A44F55F}"/>
                  </a:ext>
                </a:extLst>
              </p:cNvPr>
              <p:cNvSpPr txBox="1"/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Assert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assert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instantiate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ED104A4-1542-B227-336F-32D93A44F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0804" y="2606833"/>
                <a:ext cx="3190297" cy="369332"/>
              </a:xfrm>
              <a:prstGeom prst="rect">
                <a:avLst/>
              </a:prstGeom>
              <a:blipFill>
                <a:blip r:embed="rId8"/>
                <a:stretch>
                  <a:fillRect l="-1587" t="-6667" r="-794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Box 23">
            <a:extLst>
              <a:ext uri="{FF2B5EF4-FFF2-40B4-BE49-F238E27FC236}">
                <a16:creationId xmlns:a16="http://schemas.microsoft.com/office/drawing/2014/main" id="{537CD775-A645-05DB-E2EE-E40588ABB45E}"/>
              </a:ext>
            </a:extLst>
          </p:cNvPr>
          <p:cNvSpPr txBox="1"/>
          <p:nvPr/>
        </p:nvSpPr>
        <p:spPr>
          <a:xfrm>
            <a:off x="4636971" y="2212214"/>
            <a:ext cx="2154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Britannic Bold" panose="020B0903060703020204" pitchFamily="34" charset="77"/>
                <a:ea typeface="Roboto" panose="02000000000000000000" pitchFamily="2" charset="0"/>
                <a:cs typeface="Roboto" panose="02000000000000000000" pitchFamily="2" charset="0"/>
              </a:rPr>
              <a:t>Eager instantiation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805E83D-C379-2AB4-C6F1-FD1ADAE29E18}"/>
              </a:ext>
            </a:extLst>
          </p:cNvPr>
          <p:cNvSpPr txBox="1"/>
          <p:nvPr/>
        </p:nvSpPr>
        <p:spPr>
          <a:xfrm>
            <a:off x="8352859" y="2212214"/>
            <a:ext cx="2032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Britannic Bold" panose="020B0903060703020204" pitchFamily="34" charset="77"/>
                <a:ea typeface="Roboto" panose="02000000000000000000" pitchFamily="2" charset="0"/>
                <a:cs typeface="Roboto" panose="02000000000000000000" pitchFamily="2" charset="0"/>
              </a:rPr>
              <a:t>Lazy instantiation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58A94FFC-1920-AC9E-68A3-ACEFC953AEB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59700" y="1974583"/>
            <a:ext cx="606963" cy="60696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5EF9A4AB-FF7D-4BB2-90C9-4A72404107F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89400" y="2055081"/>
            <a:ext cx="606963" cy="606963"/>
          </a:xfrm>
          <a:prstGeom prst="rect">
            <a:avLst/>
          </a:prstGeom>
        </p:spPr>
      </p:pic>
      <p:cxnSp>
        <p:nvCxnSpPr>
          <p:cNvPr id="32" name="Curved Connector 31">
            <a:extLst>
              <a:ext uri="{FF2B5EF4-FFF2-40B4-BE49-F238E27FC236}">
                <a16:creationId xmlns:a16="http://schemas.microsoft.com/office/drawing/2014/main" id="{054E2984-3F20-5D15-A429-2F97E6E1889E}"/>
              </a:ext>
            </a:extLst>
          </p:cNvPr>
          <p:cNvCxnSpPr>
            <a:stCxn id="28" idx="3"/>
            <a:endCxn id="27" idx="3"/>
          </p:cNvCxnSpPr>
          <p:nvPr/>
        </p:nvCxnSpPr>
        <p:spPr>
          <a:xfrm>
            <a:off x="2919653" y="2896367"/>
            <a:ext cx="12700" cy="2529558"/>
          </a:xfrm>
          <a:prstGeom prst="curvedConnector3">
            <a:avLst>
              <a:gd name="adj1" fmla="val 535862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1E7A8514-4FC1-9FAA-793C-6DFDC70ED0A0}"/>
                  </a:ext>
                </a:extLst>
              </p:cNvPr>
              <p:cNvSpPr/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&lt;x&gt; &gt; &lt;y&gt;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:r>
                  <a:rPr lang="en-US" dirty="0">
                    <a:solidFill>
                      <a:schemeClr val="tx1"/>
                    </a:solidFill>
                    <a:latin typeface="American Typewriter" panose="02090604020004020304" pitchFamily="18" charset="77"/>
                  </a:rPr>
                  <a:t>&lt;y&gt; &lt; 0 </a:t>
                </a: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is feasible</a:t>
                </a:r>
              </a:p>
              <a:p>
                <a:pPr marL="342900" indent="-342900">
                  <a:buAutoNum type="arabicPeriod"/>
                </a:pPr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  <a:ea typeface="Roboto" panose="02000000000000000000" pitchFamily="2" charset="0"/>
                    <a:cs typeface="Roboto" panose="02000000000000000000" pitchFamily="2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{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0,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↦ −1 }</m:t>
                    </m:r>
                  </m:oMath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36" name="Rounded Rectangle 35">
                <a:extLst>
                  <a:ext uri="{FF2B5EF4-FFF2-40B4-BE49-F238E27FC236}">
                    <a16:creationId xmlns:a16="http://schemas.microsoft.com/office/drawing/2014/main" id="{1E7A8514-4FC1-9FAA-793C-6DFDC70ED0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6215" y="2982212"/>
                <a:ext cx="3190297" cy="1013418"/>
              </a:xfrm>
              <a:prstGeom prst="roundRect">
                <a:avLst/>
              </a:prstGeom>
              <a:blipFill>
                <a:blip r:embed="rId11"/>
                <a:stretch>
                  <a:fillRect b="-24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Rectangle 40">
            <a:extLst>
              <a:ext uri="{FF2B5EF4-FFF2-40B4-BE49-F238E27FC236}">
                <a16:creationId xmlns:a16="http://schemas.microsoft.com/office/drawing/2014/main" id="{53E7E1AB-017A-9A2F-423E-20FD74E571B8}"/>
              </a:ext>
            </a:extLst>
          </p:cNvPr>
          <p:cNvSpPr/>
          <p:nvPr/>
        </p:nvSpPr>
        <p:spPr>
          <a:xfrm>
            <a:off x="4504267" y="5188319"/>
            <a:ext cx="7112000" cy="5337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Early instantiation allows “saving your progress”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98B796F-80A9-728C-EC5E-DBA08DEE01AC}"/>
              </a:ext>
            </a:extLst>
          </p:cNvPr>
          <p:cNvSpPr/>
          <p:nvPr/>
        </p:nvSpPr>
        <p:spPr>
          <a:xfrm>
            <a:off x="4504267" y="5869827"/>
            <a:ext cx="7112000" cy="5337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Can jump to another tree on the search frontier </a:t>
            </a:r>
          </a:p>
        </p:txBody>
      </p:sp>
    </p:spTree>
    <p:extLst>
      <p:ext uri="{BB962C8B-B14F-4D97-AF65-F5344CB8AC3E}">
        <p14:creationId xmlns:p14="http://schemas.microsoft.com/office/powerpoint/2010/main" val="1854162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7" dur="indefinite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indefinite"/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0" dur="indefinite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indefinite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3" dur="indefinite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indefinit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6" dur="indefinite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19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indefinite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2" dur="indefinite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5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indefinite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28" dur="indefinite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indefinite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1" dur="indefinite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indefinite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4" dur="indefinite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indefinite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37" dur="indefinite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mph" presetSubtype="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indefinite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1"/>
                                      </p:to>
                                    </p:set>
                                    <p:animEffect filter="image" prLst="opacity: 0.1">
                                      <p:cBhvr rctx="IE">
                                        <p:cTn id="40" dur="indefinite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29" grpId="0" animBg="1"/>
      <p:bldP spid="30" grpId="0"/>
      <p:bldP spid="12" grpId="0"/>
      <p:bldP spid="15" grpId="0"/>
      <p:bldP spid="24" grpId="0"/>
      <p:bldP spid="25" grpId="0"/>
      <p:bldP spid="36" grpId="0" animBg="1"/>
      <p:bldP spid="4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But wait, there’s more…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Constraints must be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disambiguated</a:t>
                </a:r>
                <a:r>
                  <a:rPr lang="en-US" sz="2400" dirty="0">
                    <a:latin typeface="Source Sans Pro"/>
                    <a:ea typeface="Source Sans Pro"/>
                  </a:rPr>
                  <a:t> 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universalized</a:t>
                </a: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𝑝𝑎𝑐𝑘𝑒𝑡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𝑝𝑎𝑦𝑙𝑜𝑎𝑑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𝑏𝑦𝑡𝑒𝑠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0_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𝑜𝑝𝑡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</m:t>
                    </m:r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&gt;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𝑏𝑣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0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EE6762AD-CC04-BABD-BFA6-B1078BE25C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640801"/>
            <a:ext cx="7772400" cy="1576397"/>
          </a:xfrm>
          <a:prstGeom prst="rect">
            <a:avLst/>
          </a:prstGeom>
        </p:spPr>
      </p:pic>
      <p:pic>
        <p:nvPicPr>
          <p:cNvPr id="8" name="Picture 7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FE15DC0D-DB95-02FF-A55F-7955ECDBED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9582" y="4253376"/>
            <a:ext cx="3468498" cy="2568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411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There are wrinkles…</a:t>
                </a: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2. This constraint is not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applicable!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Can it be applicable after a future decision?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Extra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to store applicable constraints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Remove from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when backtracking</a:t>
                </a: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9DB1D5-8EDF-3990-0CB1-107D7B8B63BD}"/>
                  </a:ext>
                </a:extLst>
              </p:cNvPr>
              <p:cNvSpPr txBox="1"/>
              <p:nvPr/>
            </p:nvSpPr>
            <p:spPr>
              <a:xfrm>
                <a:off x="657612" y="5386195"/>
                <a:ext cx="609879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𝑝𝑎𝑐𝑘𝑒𝑡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𝑝𝑎𝑦𝑙𝑜𝑎𝑑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𝑏𝑦𝑡𝑒𝑠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0_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𝑜𝑝𝑡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&gt;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𝑏𝑣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0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9DB1D5-8EDF-3990-0CB1-107D7B8B6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612" y="5386195"/>
                <a:ext cx="6098796" cy="461665"/>
              </a:xfrm>
              <a:prstGeom prst="rect">
                <a:avLst/>
              </a:prstGeom>
              <a:blipFill>
                <a:blip r:embed="rId3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D56AFF0E-E8D1-9BD3-A9FA-9A9598B149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1059" y="3533585"/>
            <a:ext cx="4009265" cy="321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54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361562108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Formal Guarantees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04B02DAE-E343-5E33-0C45-D7026D6E5844}"/>
                  </a:ext>
                </a:extLst>
              </p:cNvPr>
              <p:cNvSpPr/>
              <p:nvPr/>
            </p:nvSpPr>
            <p:spPr>
              <a:xfrm>
                <a:off x="3909826" y="1722191"/>
                <a:ext cx="4371933" cy="620578"/>
              </a:xfrm>
              <a:prstGeom prst="round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  <m:r>
                      <a:rPr lang="en-US" sz="28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 </a:t>
                </a:r>
                <a:r>
                  <a:rPr lang="en-US" sz="2800" dirty="0">
                    <a:solidFill>
                      <a:schemeClr val="tx1"/>
                    </a:solidFill>
                    <a:latin typeface="Avenir Next" panose="020B0503020202020204" pitchFamily="34" charset="0"/>
                  </a:rPr>
                  <a:t>exists?</a:t>
                </a:r>
              </a:p>
            </p:txBody>
          </p:sp>
        </mc:Choice>
        <mc:Fallback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04B02DAE-E343-5E33-0C45-D7026D6E58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9826" y="1722191"/>
                <a:ext cx="4371933" cy="620578"/>
              </a:xfrm>
              <a:prstGeom prst="roundRect">
                <a:avLst/>
              </a:prstGeom>
              <a:blipFill>
                <a:blip r:embed="rId2"/>
                <a:stretch>
                  <a:fillRect t="-1961" b="-176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371A172-6F9C-E105-7D0C-3EDB18EFC7BD}"/>
              </a:ext>
            </a:extLst>
          </p:cNvPr>
          <p:cNvSpPr/>
          <p:nvPr/>
        </p:nvSpPr>
        <p:spPr>
          <a:xfrm>
            <a:off x="1556027" y="3954080"/>
            <a:ext cx="3813134" cy="902955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Avenir Next" panose="020B0503020202020204" pitchFamily="34" charset="0"/>
              </a:rPr>
              <a:t>Goblin will find it!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BFCD6F0-C6E0-F62F-8F69-69FF37B95A42}"/>
              </a:ext>
            </a:extLst>
          </p:cNvPr>
          <p:cNvSpPr/>
          <p:nvPr/>
        </p:nvSpPr>
        <p:spPr>
          <a:xfrm>
            <a:off x="1556028" y="5306279"/>
            <a:ext cx="3813134" cy="902955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Avenir Next" panose="020B0503020202020204" pitchFamily="34" charset="0"/>
              </a:rPr>
              <a:t>Goblin will not lie!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2BB2ACB-72DF-7BBD-5587-1E8A2FF005ED}"/>
              </a:ext>
            </a:extLst>
          </p:cNvPr>
          <p:cNvSpPr/>
          <p:nvPr/>
        </p:nvSpPr>
        <p:spPr>
          <a:xfrm>
            <a:off x="7602469" y="4464680"/>
            <a:ext cx="3813134" cy="902955"/>
          </a:xfrm>
          <a:prstGeom prst="round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Avenir Next" panose="020B0503020202020204" pitchFamily="34" charset="0"/>
              </a:rPr>
              <a:t>Goblin will not lie!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176D0665-906C-0EA8-8E58-EDE8DC9365B5}"/>
              </a:ext>
            </a:extLst>
          </p:cNvPr>
          <p:cNvCxnSpPr>
            <a:cxnSpLocks/>
            <a:stCxn id="7" idx="2"/>
            <a:endCxn id="38" idx="0"/>
          </p:cNvCxnSpPr>
          <p:nvPr/>
        </p:nvCxnSpPr>
        <p:spPr>
          <a:xfrm rot="5400000">
            <a:off x="4029107" y="1470273"/>
            <a:ext cx="1194190" cy="293918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3D1AC5EF-48BC-6958-F380-2420CE63B460}"/>
              </a:ext>
            </a:extLst>
          </p:cNvPr>
          <p:cNvCxnSpPr>
            <a:cxnSpLocks/>
            <a:stCxn id="7" idx="2"/>
            <a:endCxn id="42" idx="0"/>
          </p:cNvCxnSpPr>
          <p:nvPr/>
        </p:nvCxnSpPr>
        <p:spPr>
          <a:xfrm rot="16200000" flipH="1">
            <a:off x="7090360" y="1348202"/>
            <a:ext cx="1197486" cy="318662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6ED53E9C-3E5E-B317-4672-1819D9BCC3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715" y="3982720"/>
            <a:ext cx="845674" cy="84567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C206B579-F780-CCC0-3F56-77B9D5FA70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715" y="5249834"/>
            <a:ext cx="1018945" cy="101894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96B95FA-FCEE-64D3-7151-39D5DB5B1A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8761" y="4384718"/>
            <a:ext cx="1066709" cy="1066709"/>
          </a:xfrm>
          <a:prstGeom prst="rect">
            <a:avLst/>
          </a:prstGeom>
        </p:spPr>
      </p:pic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A68AE77E-1780-E152-9140-DB1AD2688474}"/>
              </a:ext>
            </a:extLst>
          </p:cNvPr>
          <p:cNvSpPr/>
          <p:nvPr/>
        </p:nvSpPr>
        <p:spPr>
          <a:xfrm>
            <a:off x="476864" y="3536959"/>
            <a:ext cx="5359491" cy="2992632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33EDC02D-CFF4-81E0-DC1B-CFBA98D732C0}"/>
              </a:ext>
            </a:extLst>
          </p:cNvPr>
          <p:cNvSpPr/>
          <p:nvPr/>
        </p:nvSpPr>
        <p:spPr>
          <a:xfrm>
            <a:off x="6602667" y="3540255"/>
            <a:ext cx="5359491" cy="2992632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625015B-2EDA-F8AA-1FFE-85D138E14A6F}"/>
              </a:ext>
            </a:extLst>
          </p:cNvPr>
          <p:cNvSpPr txBox="1"/>
          <p:nvPr/>
        </p:nvSpPr>
        <p:spPr>
          <a:xfrm>
            <a:off x="3416048" y="2410075"/>
            <a:ext cx="14623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Britannic Bold" panose="020B0903060703020204" pitchFamily="34" charset="77"/>
              </a:rPr>
              <a:t>YES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FAA6B99-DEE4-575B-2CA5-A8C82803B5CF}"/>
              </a:ext>
            </a:extLst>
          </p:cNvPr>
          <p:cNvSpPr txBox="1"/>
          <p:nvPr/>
        </p:nvSpPr>
        <p:spPr>
          <a:xfrm>
            <a:off x="8118864" y="2429356"/>
            <a:ext cx="14623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Britannic Bold" panose="020B0903060703020204" pitchFamily="34" charset="77"/>
              </a:rPr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293114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38" grpId="0" animBg="1"/>
      <p:bldP spid="42" grpId="0" animBg="1"/>
      <p:bldP spid="45" grpId="0"/>
      <p:bldP spid="46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67212134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C1B80DBE-AACF-26E7-1A00-E430B29EB169}"/>
              </a:ext>
            </a:extLst>
          </p:cNvPr>
          <p:cNvGrpSpPr/>
          <p:nvPr/>
        </p:nvGrpSpPr>
        <p:grpSpPr>
          <a:xfrm>
            <a:off x="10640389" y="4588163"/>
            <a:ext cx="1139803" cy="1324469"/>
            <a:chOff x="10640389" y="4588163"/>
            <a:chExt cx="1139803" cy="1324469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8125AD7D-175F-EA5D-B524-750ADB5EDAE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640389" y="4588163"/>
              <a:ext cx="1139803" cy="11398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86E3D9A-BACD-01EE-B9E4-8B40683F704C}"/>
                </a:ext>
              </a:extLst>
            </p:cNvPr>
            <p:cNvSpPr txBox="1"/>
            <p:nvPr/>
          </p:nvSpPr>
          <p:spPr>
            <a:xfrm>
              <a:off x="10685146" y="5543300"/>
              <a:ext cx="10502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Baseline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-2186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Evaluation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27F2FE15-2CD5-75CB-0748-8CC41AB17F1A}"/>
              </a:ext>
            </a:extLst>
          </p:cNvPr>
          <p:cNvSpPr/>
          <p:nvPr/>
        </p:nvSpPr>
        <p:spPr>
          <a:xfrm>
            <a:off x="3589506" y="1254884"/>
            <a:ext cx="5012987" cy="49286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Two major objectives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0CE37ED-F8FF-898C-CB68-5D0AFB9E8BA9}"/>
              </a:ext>
            </a:extLst>
          </p:cNvPr>
          <p:cNvSpPr/>
          <p:nvPr/>
        </p:nvSpPr>
        <p:spPr>
          <a:xfrm>
            <a:off x="129702" y="2087579"/>
            <a:ext cx="4007795" cy="49286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Fixed Benchmarks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507DB72-2984-47C8-0641-66BE4847AF9C}"/>
              </a:ext>
            </a:extLst>
          </p:cNvPr>
          <p:cNvSpPr/>
          <p:nvPr/>
        </p:nvSpPr>
        <p:spPr>
          <a:xfrm>
            <a:off x="7798976" y="2087579"/>
            <a:ext cx="4333057" cy="492868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err="1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Fuzzer</a:t>
            </a:r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Britannic Bold" panose="020B0903060703020204" pitchFamily="34" charset="77"/>
              </a:rPr>
              <a:t> integration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C8D0E52-D001-DA08-52F3-F9FE9FD420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017" y="2667070"/>
            <a:ext cx="965200" cy="9652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2D4B172-C559-64D5-559C-FA9CEFB35B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1380" y="2667070"/>
            <a:ext cx="965200" cy="9652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C07B151-F6AD-9E1C-FBD4-09E6BAD62F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4743" y="2580447"/>
            <a:ext cx="1138445" cy="113844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4AA4B857-5F46-FCB7-DC44-4E95CB1210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84279" y="2505560"/>
            <a:ext cx="1126710" cy="1126710"/>
          </a:xfrm>
          <a:prstGeom prst="rect">
            <a:avLst/>
          </a:prstGeom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E6140259-D1ED-139A-A9B3-78FDD2B32DF6}"/>
              </a:ext>
            </a:extLst>
          </p:cNvPr>
          <p:cNvGrpSpPr/>
          <p:nvPr/>
        </p:nvGrpSpPr>
        <p:grpSpPr>
          <a:xfrm>
            <a:off x="195359" y="3613881"/>
            <a:ext cx="3910519" cy="1630845"/>
            <a:chOff x="51881" y="3622091"/>
            <a:chExt cx="3910519" cy="1630845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DD32052-C5C0-FD34-741A-EAD180A63605}"/>
                </a:ext>
              </a:extLst>
            </p:cNvPr>
            <p:cNvSpPr/>
            <p:nvPr/>
          </p:nvSpPr>
          <p:spPr>
            <a:xfrm>
              <a:off x="51881" y="3899166"/>
              <a:ext cx="3910519" cy="1353770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C52BE9E7-5F42-A8A8-4AC4-FDB03006890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67876" y="3899166"/>
              <a:ext cx="581374" cy="581374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130D8D8C-44CE-5E1E-AEA1-90E1A42DB13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29702" y="4622513"/>
              <a:ext cx="563953" cy="563953"/>
            </a:xfrm>
            <a:prstGeom prst="rect">
              <a:avLst/>
            </a:prstGeom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614A037-9B2B-EA94-D1F0-CC71B368F1E5}"/>
                </a:ext>
              </a:extLst>
            </p:cNvPr>
            <p:cNvSpPr txBox="1"/>
            <p:nvPr/>
          </p:nvSpPr>
          <p:spPr>
            <a:xfrm>
              <a:off x="947608" y="4027094"/>
              <a:ext cx="288412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Efficiency (inputs/second)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CB7D66C7-0373-58E1-CAB2-DF5E102B31BD}"/>
                    </a:ext>
                  </a:extLst>
                </p:cNvPr>
                <p:cNvSpPr txBox="1"/>
                <p:nvPr/>
              </p:nvSpPr>
              <p:spPr>
                <a:xfrm>
                  <a:off x="947608" y="4714458"/>
                  <a:ext cx="293413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Diversity (</a:t>
                  </a:r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𝑘</m:t>
                      </m:r>
                    </m:oMath>
                  </a14:m>
                  <a:r>
                    <a:rPr lang="en-US" dirty="0">
                      <a:latin typeface="Roboto" panose="02000000000000000000" pitchFamily="2" charset="0"/>
                      <a:ea typeface="Roboto" panose="02000000000000000000" pitchFamily="2" charset="0"/>
                      <a:cs typeface="Roboto" panose="02000000000000000000" pitchFamily="2" charset="0"/>
                    </a:rPr>
                    <a:t>-path coverage)</a:t>
                  </a: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CB7D66C7-0373-58E1-CAB2-DF5E102B31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7608" y="4714458"/>
                  <a:ext cx="2934137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1293" t="-6667" r="-862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379B8FE-4B34-F7AE-9714-C564FC0CB4CF}"/>
                </a:ext>
              </a:extLst>
            </p:cNvPr>
            <p:cNvSpPr txBox="1"/>
            <p:nvPr/>
          </p:nvSpPr>
          <p:spPr>
            <a:xfrm>
              <a:off x="1557433" y="3622091"/>
              <a:ext cx="9300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Metrics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283CE2D1-5DEA-D248-FB5B-6F52DC0B190A}"/>
              </a:ext>
            </a:extLst>
          </p:cNvPr>
          <p:cNvGrpSpPr/>
          <p:nvPr/>
        </p:nvGrpSpPr>
        <p:grpSpPr>
          <a:xfrm>
            <a:off x="1054099" y="5416790"/>
            <a:ext cx="2159000" cy="1138445"/>
            <a:chOff x="51881" y="5433210"/>
            <a:chExt cx="2159000" cy="1138445"/>
          </a:xfrm>
        </p:grpSpPr>
        <p:pic>
          <p:nvPicPr>
            <p:cNvPr id="37" name="Picture 36" descr="A black background with white text&#10;&#10;AI-generated content may be incorrect.">
              <a:extLst>
                <a:ext uri="{FF2B5EF4-FFF2-40B4-BE49-F238E27FC236}">
                  <a16:creationId xmlns:a16="http://schemas.microsoft.com/office/drawing/2014/main" id="{8CBAFDFD-9BB5-C3AF-97C8-89D2B332D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81" y="5433210"/>
              <a:ext cx="2159000" cy="863600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0563DB7-1665-0409-547A-34940DC0F4B4}"/>
                </a:ext>
              </a:extLst>
            </p:cNvPr>
            <p:cNvSpPr txBox="1"/>
            <p:nvPr/>
          </p:nvSpPr>
          <p:spPr>
            <a:xfrm>
              <a:off x="451092" y="6202323"/>
              <a:ext cx="10502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Baseline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1D4FCE81-85EF-4CE9-C0EA-DC2375E29312}"/>
              </a:ext>
            </a:extLst>
          </p:cNvPr>
          <p:cNvSpPr txBox="1"/>
          <p:nvPr/>
        </p:nvSpPr>
        <p:spPr>
          <a:xfrm>
            <a:off x="10340502" y="2745749"/>
            <a:ext cx="17395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>
                <a:latin typeface="Britannic Bold" panose="020B0903060703020204" pitchFamily="34" charset="77"/>
              </a:rPr>
              <a:t>Saecred</a:t>
            </a:r>
            <a:r>
              <a:rPr lang="en-US" dirty="0">
                <a:latin typeface="Britannic Bold" panose="020B0903060703020204" pitchFamily="34" charset="77"/>
              </a:rPr>
              <a:t> </a:t>
            </a:r>
            <a:br>
              <a:rPr lang="en-US" dirty="0">
                <a:latin typeface="Britannic Bold" panose="020B0903060703020204" pitchFamily="34" charset="77"/>
              </a:rPr>
            </a:br>
            <a:r>
              <a:rPr lang="en-US" dirty="0">
                <a:latin typeface="Britannic Bold" panose="020B0903060703020204" pitchFamily="34" charset="77"/>
              </a:rPr>
              <a:t>IEEE S&amp;P 2025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6B16B09B-C43E-8143-A217-303B3621B53E}"/>
              </a:ext>
            </a:extLst>
          </p:cNvPr>
          <p:cNvGrpSpPr/>
          <p:nvPr/>
        </p:nvGrpSpPr>
        <p:grpSpPr>
          <a:xfrm>
            <a:off x="7798976" y="3507534"/>
            <a:ext cx="4341143" cy="1114979"/>
            <a:chOff x="7798976" y="3507534"/>
            <a:chExt cx="4341143" cy="1114979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2B79C3C5-D409-408C-B6C8-92412B559309}"/>
                </a:ext>
              </a:extLst>
            </p:cNvPr>
            <p:cNvSpPr/>
            <p:nvPr/>
          </p:nvSpPr>
          <p:spPr>
            <a:xfrm>
              <a:off x="7798976" y="3806757"/>
              <a:ext cx="4341143" cy="815756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EFE7E3A4-ED52-766A-4E34-AFF6B9586D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7996136" y="3899166"/>
              <a:ext cx="581375" cy="581375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5584CCC4-43A9-D64C-03A3-E35C912527B5}"/>
                </a:ext>
              </a:extLst>
            </p:cNvPr>
            <p:cNvSpPr txBox="1"/>
            <p:nvPr/>
          </p:nvSpPr>
          <p:spPr>
            <a:xfrm>
              <a:off x="8788101" y="3866687"/>
              <a:ext cx="2885726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Expressivity (% grammars </a:t>
              </a:r>
              <a:b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</a:br>
              <a:r>
                <a:rPr lang="en-US" dirty="0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rPr>
                <a:t>accepted after mutations)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319DEC0-E211-6964-CFC3-6095FFD4087F}"/>
                </a:ext>
              </a:extLst>
            </p:cNvPr>
            <p:cNvSpPr txBox="1"/>
            <p:nvPr/>
          </p:nvSpPr>
          <p:spPr>
            <a:xfrm>
              <a:off x="9717053" y="3507534"/>
              <a:ext cx="8194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Britannic Bold" panose="020B0903060703020204" pitchFamily="34" charset="77"/>
                </a:rPr>
                <a:t>Metric</a:t>
              </a:r>
            </a:p>
          </p:txBody>
        </p:sp>
      </p:grpSp>
      <p:cxnSp>
        <p:nvCxnSpPr>
          <p:cNvPr id="45" name="Elbow Connector 44">
            <a:extLst>
              <a:ext uri="{FF2B5EF4-FFF2-40B4-BE49-F238E27FC236}">
                <a16:creationId xmlns:a16="http://schemas.microsoft.com/office/drawing/2014/main" id="{01F5A5EE-F859-5CCA-23BE-ED9936AAA1A1}"/>
              </a:ext>
            </a:extLst>
          </p:cNvPr>
          <p:cNvCxnSpPr>
            <a:stCxn id="20" idx="2"/>
            <a:endCxn id="21" idx="0"/>
          </p:cNvCxnSpPr>
          <p:nvPr/>
        </p:nvCxnSpPr>
        <p:spPr>
          <a:xfrm rot="5400000">
            <a:off x="3944887" y="-63535"/>
            <a:ext cx="339827" cy="39624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2E2F0F51-CA3E-0B8C-821B-C2EC3274D8E0}"/>
              </a:ext>
            </a:extLst>
          </p:cNvPr>
          <p:cNvCxnSpPr>
            <a:cxnSpLocks/>
            <a:stCxn id="20" idx="2"/>
            <a:endCxn id="22" idx="0"/>
          </p:cNvCxnSpPr>
          <p:nvPr/>
        </p:nvCxnSpPr>
        <p:spPr>
          <a:xfrm rot="16200000" flipH="1">
            <a:off x="7860839" y="-17088"/>
            <a:ext cx="339827" cy="386950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0852F8A5-7089-FA54-6075-4AD9C1CF4515}"/>
              </a:ext>
            </a:extLst>
          </p:cNvPr>
          <p:cNvSpPr/>
          <p:nvPr/>
        </p:nvSpPr>
        <p:spPr>
          <a:xfrm>
            <a:off x="129702" y="2621091"/>
            <a:ext cx="4007795" cy="39341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  <a:ea typeface="Apple SD Gothic Neo Medium" panose="02000300000000000000" pitchFamily="2" charset="-127"/>
              </a:rPr>
              <a:t>Goblin outperforms </a:t>
            </a:r>
            <a:r>
              <a:rPr lang="en-US" sz="4000" dirty="0" err="1">
                <a:solidFill>
                  <a:schemeClr val="bg1"/>
                </a:solidFill>
                <a:latin typeface="Avenir Next Condensed Medium" panose="020B0506020202020204" pitchFamily="34" charset="0"/>
                <a:ea typeface="Apple SD Gothic Neo Medium" panose="02000300000000000000" pitchFamily="2" charset="-127"/>
              </a:rPr>
              <a:t>ISLa</a:t>
            </a:r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  <a:ea typeface="Apple SD Gothic Neo Medium" panose="02000300000000000000" pitchFamily="2" charset="-127"/>
              </a:rPr>
              <a:t> by 10-100% in all metrics, save for CSV efficiency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7B9D83-58DD-21E1-2310-D2021FD7B86F}"/>
              </a:ext>
            </a:extLst>
          </p:cNvPr>
          <p:cNvSpPr/>
          <p:nvPr/>
        </p:nvSpPr>
        <p:spPr>
          <a:xfrm>
            <a:off x="7798975" y="2647231"/>
            <a:ext cx="4333058" cy="393414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</a:rPr>
              <a:t>Goblin outperforms the </a:t>
            </a:r>
            <a:r>
              <a:rPr lang="en-US" sz="4000" dirty="0" err="1">
                <a:solidFill>
                  <a:schemeClr val="bg1"/>
                </a:solidFill>
                <a:latin typeface="Avenir Next Condensed Medium" panose="020B0506020202020204" pitchFamily="34" charset="0"/>
              </a:rPr>
              <a:t>SyGuS</a:t>
            </a:r>
            <a:r>
              <a:rPr lang="en-US" sz="4000" dirty="0">
                <a:solidFill>
                  <a:schemeClr val="bg1"/>
                </a:solidFill>
                <a:latin typeface="Avenir Next Condensed Medium" panose="020B0506020202020204" pitchFamily="34" charset="0"/>
              </a:rPr>
              <a:t>-based baseline by over 100%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819F787-2E03-15EB-069B-A2267C1F633D}"/>
              </a:ext>
            </a:extLst>
          </p:cNvPr>
          <p:cNvSpPr/>
          <p:nvPr/>
        </p:nvSpPr>
        <p:spPr>
          <a:xfrm>
            <a:off x="4277700" y="3149669"/>
            <a:ext cx="3389157" cy="2095057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1">
                    <a:lumMod val="75000"/>
                  </a:schemeClr>
                </a:solidFill>
                <a:latin typeface="Avenir Next Condensed" panose="020B0506020202020204" pitchFamily="34" charset="0"/>
                <a:ea typeface="Roboto" panose="02000000000000000000" pitchFamily="2" charset="0"/>
                <a:cs typeface="Roboto" panose="02000000000000000000" pitchFamily="2" charset="0"/>
              </a:rPr>
              <a:t>More details in the paper!</a:t>
            </a:r>
          </a:p>
        </p:txBody>
      </p:sp>
    </p:spTree>
    <p:extLst>
      <p:ext uri="{BB962C8B-B14F-4D97-AF65-F5344CB8AC3E}">
        <p14:creationId xmlns:p14="http://schemas.microsoft.com/office/powerpoint/2010/main" val="4009738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39" grpId="0"/>
      <p:bldP spid="49" grpId="0" animBg="1"/>
      <p:bldP spid="50" grpId="0" animBg="1"/>
      <p:bldP spid="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Correctness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119022513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Discussion &amp; Future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  <a:latin typeface="Avenir Next" panose="020B0503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692649" y="6738230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457200" indent="-457200">
              <a:buFont typeface="+mj-lt"/>
              <a:buAutoNum type="arabicPeriod"/>
            </a:pPr>
            <a:endParaRPr lang="en-US" sz="16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3D2B45-5FA6-C352-325C-4FAF664E1AEF}"/>
              </a:ext>
            </a:extLst>
          </p:cNvPr>
          <p:cNvSpPr txBox="1"/>
          <p:nvPr/>
        </p:nvSpPr>
        <p:spPr>
          <a:xfrm>
            <a:off x="838249" y="1915225"/>
            <a:ext cx="543693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latin typeface="Britannic Bold" panose="020B0903060703020204" pitchFamily="34" charset="77"/>
              </a:rPr>
              <a:t>User-facing language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5A5FB7-EF56-A240-231C-C65B4AC71522}"/>
              </a:ext>
            </a:extLst>
          </p:cNvPr>
          <p:cNvSpPr txBox="1"/>
          <p:nvPr/>
        </p:nvSpPr>
        <p:spPr>
          <a:xfrm>
            <a:off x="6229562" y="1925685"/>
            <a:ext cx="51443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latin typeface="Britannic Bold" panose="020B0903060703020204" pitchFamily="34" charset="77"/>
              </a:rPr>
              <a:t>Relationship with AI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3129AB-2019-C03F-01A6-7049D7A9A91E}"/>
              </a:ext>
            </a:extLst>
          </p:cNvPr>
          <p:cNvSpPr/>
          <p:nvPr/>
        </p:nvSpPr>
        <p:spPr>
          <a:xfrm>
            <a:off x="1237531" y="2699335"/>
            <a:ext cx="4638374" cy="52674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Goblin as compile target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9A720B0-9228-D75B-6C85-A417A32A515F}"/>
              </a:ext>
            </a:extLst>
          </p:cNvPr>
          <p:cNvSpPr/>
          <p:nvPr/>
        </p:nvSpPr>
        <p:spPr>
          <a:xfrm>
            <a:off x="1237530" y="3410538"/>
            <a:ext cx="4638377" cy="52674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Built-in support for helpers (e.g., </a:t>
            </a:r>
            <a:r>
              <a:rPr lang="en-US" dirty="0">
                <a:solidFill>
                  <a:schemeClr val="tx1"/>
                </a:solidFill>
                <a:latin typeface="American Typewriter" panose="02090604020004020304" pitchFamily="18" charset="77"/>
                <a:ea typeface="Roboto" panose="02000000000000000000" pitchFamily="2" charset="0"/>
                <a:cs typeface="Roboto" panose="02000000000000000000" pitchFamily="2" charset="0"/>
              </a:rPr>
              <a:t>length(.)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7944C92-1963-47E9-FBF7-FD884ED57D0E}"/>
              </a:ext>
            </a:extLst>
          </p:cNvPr>
          <p:cNvSpPr/>
          <p:nvPr/>
        </p:nvSpPr>
        <p:spPr>
          <a:xfrm>
            <a:off x="1237530" y="4110924"/>
            <a:ext cx="4638377" cy="52674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Richer type and attribute system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9D8CDD9-1D01-4254-F03A-983FDA2A85CC}"/>
              </a:ext>
            </a:extLst>
          </p:cNvPr>
          <p:cNvSpPr/>
          <p:nvPr/>
        </p:nvSpPr>
        <p:spPr>
          <a:xfrm>
            <a:off x="1237530" y="4823844"/>
            <a:ext cx="4638377" cy="52674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Robust support for serialization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A21BABB-45AF-57AF-EE09-EAA93AED915A}"/>
              </a:ext>
            </a:extLst>
          </p:cNvPr>
          <p:cNvSpPr/>
          <p:nvPr/>
        </p:nvSpPr>
        <p:spPr>
          <a:xfrm>
            <a:off x="6482537" y="2699335"/>
            <a:ext cx="4638374" cy="52674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generator?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1C0B6A6-96D1-BC12-3F62-A96A8119BED8}"/>
              </a:ext>
            </a:extLst>
          </p:cNvPr>
          <p:cNvSpPr/>
          <p:nvPr/>
        </p:nvSpPr>
        <p:spPr>
          <a:xfrm>
            <a:off x="6482536" y="3409997"/>
            <a:ext cx="4638377" cy="52674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Goblin spec?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60D5F32-06EE-EAAB-58E4-72E57E641D9F}"/>
              </a:ext>
            </a:extLst>
          </p:cNvPr>
          <p:cNvSpPr/>
          <p:nvPr/>
        </p:nvSpPr>
        <p:spPr>
          <a:xfrm>
            <a:off x="6482536" y="4110383"/>
            <a:ext cx="4638377" cy="52674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LLM to generate input directly?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1C91BC-7A71-1AB4-DCEB-A96DD633B12A}"/>
              </a:ext>
            </a:extLst>
          </p:cNvPr>
          <p:cNvSpPr/>
          <p:nvPr/>
        </p:nvSpPr>
        <p:spPr>
          <a:xfrm>
            <a:off x="6482536" y="4823303"/>
            <a:ext cx="4638377" cy="52674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Neuro-symbolic approaches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141E17F-00C2-6AB1-D58C-E7D540A47E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543" y="2637945"/>
            <a:ext cx="686509" cy="68650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795A035-2EB3-02B1-5370-2461B0EA6F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187" y="3406098"/>
            <a:ext cx="523220" cy="52322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9E68A36-1E10-8524-94CC-11F3E3B2B8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187" y="4126716"/>
            <a:ext cx="523220" cy="52322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17AA575-4AF0-927F-B28B-87950CD15F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912" y="4789703"/>
            <a:ext cx="555770" cy="55576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F546BBEF-BDDB-31A2-A6DC-5DCCC9B07A2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65136" y="2709504"/>
            <a:ext cx="543389" cy="54338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C802A7B5-1004-7631-4862-FA080BCC5F9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75220" y="3426531"/>
            <a:ext cx="523220" cy="52322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8BB47B7C-4839-56A9-A1FD-3FE3E043F61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11370" y="4166703"/>
            <a:ext cx="450921" cy="450921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9F881FCA-FE59-C2C6-78DA-140FBDC30F2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75220" y="4845358"/>
            <a:ext cx="523220" cy="523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866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67D0A9E-0BD0-5468-EE66-F1B353CE5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6000" dirty="0">
                <a:latin typeface="Avenir Next" panose="020B0503020202020204" pitchFamily="34" charset="0"/>
                <a:ea typeface="Source Sans Pro"/>
              </a:rPr>
              <a:t>Thanks! Questions?</a:t>
            </a:r>
          </a:p>
          <a:p>
            <a:pPr marL="0" indent="0" algn="ctr">
              <a:buNone/>
            </a:pPr>
            <a:endParaRPr lang="en-US" sz="6000" dirty="0">
              <a:latin typeface="Avenir Next" panose="020B0503020202020204" pitchFamily="34" charset="0"/>
              <a:ea typeface="Source Sans Pro"/>
            </a:endParaRPr>
          </a:p>
          <a:p>
            <a:pPr marL="0" indent="0" algn="ctr">
              <a:buNone/>
            </a:pPr>
            <a:r>
              <a:rPr lang="en-US" sz="3200" dirty="0">
                <a:latin typeface="American Typewriter" panose="02090604020004020304" pitchFamily="18" charset="77"/>
                <a:ea typeface="Source Sans Pro"/>
              </a:rPr>
              <a:t>https://</a:t>
            </a:r>
            <a:r>
              <a:rPr lang="en-US" sz="3200" dirty="0" err="1">
                <a:latin typeface="American Typewriter" panose="02090604020004020304" pitchFamily="18" charset="77"/>
                <a:ea typeface="Source Sans Pro"/>
              </a:rPr>
              <a:t>github.com</a:t>
            </a:r>
            <a:r>
              <a:rPr lang="en-US" sz="3200" dirty="0">
                <a:latin typeface="American Typewriter" panose="02090604020004020304" pitchFamily="18" charset="77"/>
                <a:ea typeface="Source Sans Pro"/>
              </a:rPr>
              <a:t>/</a:t>
            </a:r>
            <a:r>
              <a:rPr lang="en-US" sz="3200" dirty="0" err="1">
                <a:latin typeface="American Typewriter" panose="02090604020004020304" pitchFamily="18" charset="77"/>
                <a:ea typeface="Source Sans Pro"/>
              </a:rPr>
              <a:t>lorchrob</a:t>
            </a:r>
            <a:r>
              <a:rPr lang="en-US" sz="3200" dirty="0">
                <a:latin typeface="American Typewriter" panose="02090604020004020304" pitchFamily="18" charset="77"/>
                <a:ea typeface="Source Sans Pro"/>
              </a:rPr>
              <a:t>/Goblin</a:t>
            </a:r>
          </a:p>
          <a:p>
            <a:pPr marL="0" indent="0" algn="ctr">
              <a:buNone/>
            </a:pPr>
            <a:r>
              <a:rPr lang="en-US" sz="3200" dirty="0" err="1">
                <a:latin typeface="American Typewriter" panose="02090604020004020304" pitchFamily="18" charset="77"/>
                <a:ea typeface="Source Sans Pro"/>
              </a:rPr>
              <a:t>robert-lorch@uiowa.edu</a:t>
            </a:r>
            <a:endParaRPr lang="en-US" sz="4800" dirty="0">
              <a:latin typeface="American Typewriter" panose="02090604020004020304" pitchFamily="18" charset="77"/>
              <a:ea typeface="Source Sans Pro"/>
            </a:endParaRPr>
          </a:p>
          <a:p>
            <a:endParaRPr lang="en-US" dirty="0">
              <a:latin typeface="Avenir Next" panose="020B0503020202020204" pitchFamily="34" charset="0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04694303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Avenir Next" panose="020B0503020202020204" pitchFamily="34" charset="0"/>
                <a:ea typeface="Source Sans Pro"/>
              </a:rPr>
              <a:t>Structural Constraints</a:t>
            </a:r>
            <a:endParaRPr lang="en-US" sz="3600" dirty="0">
              <a:latin typeface="Avenir Next" panose="020B0503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Every element of the second list is present in the first list</a:t>
            </a:r>
          </a:p>
        </p:txBody>
      </p:sp>
      <p:pic>
        <p:nvPicPr>
          <p:cNvPr id="9" name="Picture 8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DB920BF8-4D61-9CD8-09EB-2AEB8A7008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699" y="2082189"/>
            <a:ext cx="7713005" cy="4739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6630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More Related Work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7025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Parser generator libraries (e.g. ANTLR, </a:t>
            </a:r>
            <a:r>
              <a:rPr lang="en-US" sz="2400" dirty="0" err="1">
                <a:latin typeface="Source Sans Pro"/>
                <a:ea typeface="Source Sans Pro"/>
              </a:rPr>
              <a:t>yacc</a:t>
            </a:r>
            <a:r>
              <a:rPr lang="en-US" sz="2400" dirty="0">
                <a:latin typeface="Source Sans Pro"/>
                <a:ea typeface="Source Sans Pro"/>
              </a:rPr>
              <a:t>) handle context sensitivity but are for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parsing</a:t>
            </a:r>
            <a:r>
              <a:rPr lang="en-US" sz="2400" dirty="0">
                <a:latin typeface="Source Sans Pro"/>
                <a:ea typeface="Source Sans Pro"/>
              </a:rPr>
              <a:t> rather than generation</a:t>
            </a:r>
          </a:p>
          <a:p>
            <a:r>
              <a:rPr lang="en-US" sz="2400" dirty="0">
                <a:latin typeface="Source Sans Pro"/>
                <a:ea typeface="Source Sans Pro"/>
              </a:rPr>
              <a:t>Attribute grammars handle context sensitivity but work focuses 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parsing</a:t>
            </a:r>
            <a:r>
              <a:rPr lang="en-US" sz="2400" dirty="0">
                <a:latin typeface="Source Sans Pro"/>
                <a:ea typeface="Source Sans Pro"/>
              </a:rPr>
              <a:t> and theoretical results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Property-based testing does not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general</a:t>
            </a:r>
            <a:r>
              <a:rPr lang="en-US" sz="2400" dirty="0">
                <a:latin typeface="Source Sans Pro"/>
                <a:ea typeface="Source Sans Pro"/>
              </a:rPr>
              <a:t>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context-sensitive constraints </a:t>
            </a:r>
            <a:r>
              <a:rPr lang="en-US" sz="2400" dirty="0">
                <a:latin typeface="Source Sans Pro"/>
                <a:ea typeface="Source Sans Pro"/>
              </a:rPr>
              <a:t>over inputs</a:t>
            </a:r>
          </a:p>
          <a:p>
            <a:r>
              <a:rPr lang="en-US" sz="2400" dirty="0" err="1">
                <a:latin typeface="Source Sans Pro"/>
                <a:ea typeface="Source Sans Pro"/>
              </a:rPr>
              <a:t>SyGuS</a:t>
            </a:r>
            <a:r>
              <a:rPr lang="en-US" sz="2400" dirty="0">
                <a:latin typeface="Source Sans Pro"/>
                <a:ea typeface="Source Sans Pro"/>
              </a:rPr>
              <a:t> does not natively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constraints over non-top-level nonterminals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CLP engines do not currently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theory combination </a:t>
            </a:r>
            <a:r>
              <a:rPr lang="en-US" sz="2400" dirty="0">
                <a:latin typeface="Source Sans Pro"/>
                <a:ea typeface="Source Sans Pro"/>
              </a:rPr>
              <a:t>at the level of generality required for practical applications</a:t>
            </a:r>
          </a:p>
          <a:p>
            <a:endParaRPr lang="en-US" sz="2400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15613551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Grammar Mutations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7874"/>
            <a:ext cx="10402124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perform structure-aware mutations on context-sensitive grammars?</a:t>
            </a:r>
          </a:p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Crossover mutation </a:t>
            </a:r>
            <a:r>
              <a:rPr lang="en-US" sz="2400" dirty="0">
                <a:latin typeface="Source Sans Pro"/>
                <a:ea typeface="Source Sans Pro"/>
              </a:rPr>
              <a:t>swapping </a:t>
            </a:r>
            <a:r>
              <a:rPr lang="en-US" sz="2400" dirty="0">
                <a:solidFill>
                  <a:srgbClr val="15BBC0"/>
                </a:solidFill>
                <a:latin typeface="Monaco" pitchFamily="2" charset="77"/>
                <a:ea typeface="Source Sans Pro"/>
              </a:rPr>
              <a:t>GROUP_ID </a:t>
            </a:r>
            <a:r>
              <a:rPr lang="en-US" sz="2400" dirty="0">
                <a:latin typeface="Source Sans Pro"/>
                <a:ea typeface="Source Sans Pro"/>
              </a:rPr>
              <a:t>and </a:t>
            </a:r>
            <a:r>
              <a:rPr lang="en-US" sz="2400" dirty="0">
                <a:solidFill>
                  <a:srgbClr val="15BBC0"/>
                </a:solidFill>
                <a:latin typeface="Monaco" pitchFamily="2" charset="77"/>
                <a:ea typeface="Source Sans Pro"/>
              </a:rPr>
              <a:t>RG_LIST</a:t>
            </a:r>
          </a:p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Local constraints </a:t>
            </a:r>
            <a:r>
              <a:rPr lang="en-US" sz="2400" dirty="0">
                <a:latin typeface="Source Sans Pro"/>
                <a:ea typeface="Source Sans Pro"/>
              </a:rPr>
              <a:t>are easier to maintain</a:t>
            </a:r>
          </a:p>
        </p:txBody>
      </p:sp>
      <p:pic>
        <p:nvPicPr>
          <p:cNvPr id="5" name="Picture 4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E90417CE-FA34-B923-2C5A-45707301C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062" y="3158930"/>
            <a:ext cx="7772400" cy="3699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60457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Interpretation Function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Interpretation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𝑡𝑟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outputs denotation of term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in AST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𝑡𝑟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𝑡𝑟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also maps function and predicate symbols to their fixed interpretations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2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F3FEDFB-159E-B538-3CAE-849C22E661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295960"/>
            <a:ext cx="7772400" cy="1733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28542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Satisfaction Relation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Satisfaction relation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⊨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𝐺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captures whether or not a given constraint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satisfied by a given AST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2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close-up of a math problem&#10;&#10;Description automatically generated">
            <a:extLst>
              <a:ext uri="{FF2B5EF4-FFF2-40B4-BE49-F238E27FC236}">
                <a16:creationId xmlns:a16="http://schemas.microsoft.com/office/drawing/2014/main" id="{AF3A4B51-F9F7-3AE1-CAE7-9CBE5B1E5B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062" y="3034015"/>
            <a:ext cx="7772400" cy="2410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24032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3B9F69A-6D95-337C-7195-5237D2D26DA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3600" dirty="0">
                    <a:solidFill>
                      <a:schemeClr val="tx2">
                        <a:lumMod val="76000"/>
                        <a:lumOff val="24000"/>
                      </a:schemeClr>
                    </a:solidFill>
                    <a:latin typeface="Source Sans Pro"/>
                    <a:ea typeface="Source Sans Pro"/>
                  </a:rPr>
                  <a:t>Semantics: Denotation of </a:t>
                </a:r>
                <a14:m>
                  <m:oMath xmlns:m="http://schemas.openxmlformats.org/officeDocument/2006/math">
                    <m:r>
                      <a:rPr lang="en-US" sz="3600" i="1" dirty="0" smtClean="0">
                        <a:solidFill>
                          <a:schemeClr val="tx2">
                            <a:lumMod val="76000"/>
                            <a:lumOff val="24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endParaRPr lang="en-US" sz="3600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3B9F69A-6D95-337C-7195-5237D2D26D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Semantics of a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input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the set of syntactically valid ASTs which satisfy all the constraints</a:t>
                </a: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3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close-up of a word&#10;&#10;Description automatically generated">
            <a:extLst>
              <a:ext uri="{FF2B5EF4-FFF2-40B4-BE49-F238E27FC236}">
                <a16:creationId xmlns:a16="http://schemas.microsoft.com/office/drawing/2014/main" id="{1BB3D5EE-0013-1762-5D92-753C770981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5440" y="3195879"/>
            <a:ext cx="8541119" cy="125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35100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Calculus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7874"/>
            <a:ext cx="10402124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Can be conceptualized as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guarded rewrite rules </a:t>
            </a:r>
            <a:r>
              <a:rPr lang="en-US" sz="2400" dirty="0">
                <a:latin typeface="Source Sans Pro"/>
                <a:ea typeface="Source Sans Pro"/>
              </a:rPr>
              <a:t>on global state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Example rule expands a symbolic terminal </a:t>
            </a:r>
          </a:p>
        </p:txBody>
      </p:sp>
      <p:pic>
        <p:nvPicPr>
          <p:cNvPr id="5" name="Picture 4" descr="A close-up of a math formula&#10;&#10;Description automatically generated">
            <a:extLst>
              <a:ext uri="{FF2B5EF4-FFF2-40B4-BE49-F238E27FC236}">
                <a16:creationId xmlns:a16="http://schemas.microsoft.com/office/drawing/2014/main" id="{18B44BB8-4588-7EC4-F1E1-3185BAD333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0789"/>
            <a:ext cx="7772400" cy="128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56545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 Pseudocode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paper with text and numbers&#10;&#10;Description automatically generated with medium confidence">
            <a:extLst>
              <a:ext uri="{FF2B5EF4-FFF2-40B4-BE49-F238E27FC236}">
                <a16:creationId xmlns:a16="http://schemas.microsoft.com/office/drawing/2014/main" id="{692976BE-59BF-0956-BED3-4215CE8E4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4" y="1526869"/>
            <a:ext cx="3765592" cy="529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5909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10270</TotalTime>
  <Words>4344</Words>
  <Application>Microsoft Macintosh PowerPoint</Application>
  <PresentationFormat>Widescreen</PresentationFormat>
  <Paragraphs>810</Paragraphs>
  <Slides>80</Slides>
  <Notes>20</Notes>
  <HiddenSlides>28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97" baseType="lpstr">
      <vt:lpstr>American Typewriter</vt:lpstr>
      <vt:lpstr>Aptos</vt:lpstr>
      <vt:lpstr>Aptos Display</vt:lpstr>
      <vt:lpstr>Arial</vt:lpstr>
      <vt:lpstr>Avenir Next</vt:lpstr>
      <vt:lpstr>Avenir Next Condensed</vt:lpstr>
      <vt:lpstr>Avenir Next Condensed Medium</vt:lpstr>
      <vt:lpstr>Book Antiqua</vt:lpstr>
      <vt:lpstr>Britannic Bold</vt:lpstr>
      <vt:lpstr>Calibri</vt:lpstr>
      <vt:lpstr>Cambria Math</vt:lpstr>
      <vt:lpstr>Menlo</vt:lpstr>
      <vt:lpstr>Monaco</vt:lpstr>
      <vt:lpstr>Roboto</vt:lpstr>
      <vt:lpstr>Source Sans Pro</vt:lpstr>
      <vt:lpstr>Wingdings</vt:lpstr>
      <vt:lpstr>Office Theme</vt:lpstr>
      <vt:lpstr>Parse this! Summoning Context-Sensitive Inputs with Goblin</vt:lpstr>
      <vt:lpstr>Notes</vt:lpstr>
      <vt:lpstr>Story</vt:lpstr>
      <vt:lpstr>Automated Testing and Security</vt:lpstr>
      <vt:lpstr>Problem Introduction</vt:lpstr>
      <vt:lpstr>Problem Introduction</vt:lpstr>
      <vt:lpstr>Context-Free Input Generation</vt:lpstr>
      <vt:lpstr>Context-Free Input Generation</vt:lpstr>
      <vt:lpstr>Context-Sensitive Input Generation</vt:lpstr>
      <vt:lpstr>Context-Sensitive Input Generation</vt:lpstr>
      <vt:lpstr>Context-Sensitive Input Generation</vt:lpstr>
      <vt:lpstr>Context-Sensitive Mutation</vt:lpstr>
      <vt:lpstr>Context-Sensitive Mutation</vt:lpstr>
      <vt:lpstr>Context-Sensitive Mutation</vt:lpstr>
      <vt:lpstr>Context-Sensitive Mutation</vt:lpstr>
      <vt:lpstr>Roadmap</vt:lpstr>
      <vt:lpstr>Prior Work</vt:lpstr>
      <vt:lpstr>Prior Work</vt:lpstr>
      <vt:lpstr>Prior Work</vt:lpstr>
      <vt:lpstr>Prior Work</vt:lpstr>
      <vt:lpstr>Prior Work</vt:lpstr>
      <vt:lpstr>Prior Work</vt:lpstr>
      <vt:lpstr>Wishlist</vt:lpstr>
      <vt:lpstr>Context-Free Input Generation</vt:lpstr>
      <vt:lpstr>Introducing Goblin</vt:lpstr>
      <vt:lpstr>Input Generation vs Fuzzing</vt:lpstr>
      <vt:lpstr>Input Generation vs Fuzzing</vt:lpstr>
      <vt:lpstr>Input Generation vs Fuzzing</vt:lpstr>
      <vt:lpstr>Input Generation vs Fuzzing</vt:lpstr>
      <vt:lpstr>Input Generation vs Fuzzing</vt:lpstr>
      <vt:lpstr>Input Generation vs Fuzzing</vt:lpstr>
      <vt:lpstr>PowerPoint Presentation</vt:lpstr>
      <vt:lpstr>Language Features: Production Rules</vt:lpstr>
      <vt:lpstr>Language Features: Type Annotations</vt:lpstr>
      <vt:lpstr>Language Features: Refinement Types</vt:lpstr>
      <vt:lpstr>Language Features: Semantic Constraints</vt:lpstr>
      <vt:lpstr>Language Features: Dot notation</vt:lpstr>
      <vt:lpstr>Language Features: Derived Fields</vt:lpstr>
      <vt:lpstr>Language Features: Derived Fields</vt:lpstr>
      <vt:lpstr>Language Features: Derived Fields</vt:lpstr>
      <vt:lpstr>PowerPoint Presentation</vt:lpstr>
      <vt:lpstr>Semantics: Abstract Syntax Trees</vt:lpstr>
      <vt:lpstr>Semantics: Abstract Syntax Trees</vt:lpstr>
      <vt:lpstr>Semantics</vt:lpstr>
      <vt:lpstr>Semantics: Constraint Satisfaction</vt:lpstr>
      <vt:lpstr>Semantics: Constraint Satisfaction</vt:lpstr>
      <vt:lpstr>PowerPoint Presentation</vt:lpstr>
      <vt:lpstr>Goblin Workflow</vt:lpstr>
      <vt:lpstr>Context-free Well-formedness</vt:lpstr>
      <vt:lpstr>Derived Field Checks</vt:lpstr>
      <vt:lpstr>Abstract Derived Fields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PowerPoint Presentation</vt:lpstr>
      <vt:lpstr>Formal Guarantees</vt:lpstr>
      <vt:lpstr>PowerPoint Presentation</vt:lpstr>
      <vt:lpstr>Evaluation</vt:lpstr>
      <vt:lpstr>PowerPoint Presentation</vt:lpstr>
      <vt:lpstr>Discussion &amp; Future Work</vt:lpstr>
      <vt:lpstr>PowerPoint Presentation</vt:lpstr>
      <vt:lpstr>Structural Constraints</vt:lpstr>
      <vt:lpstr>More Related Work</vt:lpstr>
      <vt:lpstr>Grammar Mutations</vt:lpstr>
      <vt:lpstr>Semantics: Interpretation Function</vt:lpstr>
      <vt:lpstr>Semantics: Satisfaction Relation</vt:lpstr>
      <vt:lpstr>Semantics: Denotation of G</vt:lpstr>
      <vt:lpstr>Calculus</vt:lpstr>
      <vt:lpstr>Search Algorithm Pseudocode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Reasoning for Security Protocols</dc:title>
  <dc:creator/>
  <cp:lastModifiedBy>Lorch, Robert M</cp:lastModifiedBy>
  <cp:revision>1025</cp:revision>
  <dcterms:created xsi:type="dcterms:W3CDTF">2026-03-16T17:02:12Z</dcterms:created>
  <dcterms:modified xsi:type="dcterms:W3CDTF">2026-04-08T18:24:56Z</dcterms:modified>
</cp:coreProperties>
</file>