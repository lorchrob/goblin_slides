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9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385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340" r:id="rId36"/>
    <p:sldId id="341" r:id="rId37"/>
    <p:sldId id="342" r:id="rId38"/>
    <p:sldId id="344" r:id="rId39"/>
    <p:sldId id="345" r:id="rId40"/>
    <p:sldId id="333" r:id="rId41"/>
    <p:sldId id="346" r:id="rId42"/>
    <p:sldId id="347" r:id="rId43"/>
    <p:sldId id="348" r:id="rId44"/>
    <p:sldId id="349" r:id="rId45"/>
    <p:sldId id="350" r:id="rId46"/>
    <p:sldId id="334" r:id="rId47"/>
    <p:sldId id="351" r:id="rId48"/>
    <p:sldId id="356" r:id="rId49"/>
    <p:sldId id="357" r:id="rId50"/>
    <p:sldId id="358" r:id="rId51"/>
    <p:sldId id="359" r:id="rId52"/>
    <p:sldId id="360" r:id="rId53"/>
    <p:sldId id="361" r:id="rId54"/>
    <p:sldId id="362" r:id="rId55"/>
    <p:sldId id="363" r:id="rId56"/>
    <p:sldId id="364" r:id="rId57"/>
    <p:sldId id="365" r:id="rId58"/>
    <p:sldId id="393" r:id="rId59"/>
    <p:sldId id="394" r:id="rId60"/>
    <p:sldId id="401" r:id="rId61"/>
    <p:sldId id="366" r:id="rId62"/>
    <p:sldId id="367" r:id="rId63"/>
    <p:sldId id="399" r:id="rId64"/>
    <p:sldId id="352" r:id="rId65"/>
    <p:sldId id="336" r:id="rId66"/>
    <p:sldId id="353" r:id="rId67"/>
    <p:sldId id="337" r:id="rId68"/>
    <p:sldId id="355" r:id="rId69"/>
    <p:sldId id="300" r:id="rId70"/>
    <p:sldId id="317" r:id="rId71"/>
    <p:sldId id="370" r:id="rId72"/>
    <p:sldId id="371" r:id="rId73"/>
    <p:sldId id="372" r:id="rId74"/>
    <p:sldId id="373" r:id="rId75"/>
    <p:sldId id="374" r:id="rId76"/>
    <p:sldId id="375" r:id="rId77"/>
    <p:sldId id="376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76623"/>
  </p:normalViewPr>
  <p:slideViewPr>
    <p:cSldViewPr snapToGrid="0">
      <p:cViewPr>
        <p:scale>
          <a:sx n="124" d="100"/>
          <a:sy n="124" d="100"/>
        </p:scale>
        <p:origin x="9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22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0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2.png"/><Relationship Id="rId7" Type="http://schemas.openxmlformats.org/officeDocument/2006/relationships/image" Target="../media/image5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6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12" Type="http://schemas.openxmlformats.org/officeDocument/2006/relationships/image" Target="../media/image7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7.png"/><Relationship Id="rId5" Type="http://schemas.openxmlformats.org/officeDocument/2006/relationships/image" Target="../media/image71.pn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C4FD3E-A5C4-D874-7D10-1E37F833DA17}"/>
              </a:ext>
            </a:extLst>
          </p:cNvPr>
          <p:cNvSpPr/>
          <p:nvPr/>
        </p:nvSpPr>
        <p:spPr>
          <a:xfrm>
            <a:off x="1549400" y="5155639"/>
            <a:ext cx="9027730" cy="10219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Some software systems have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highly complex input formats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  <a:blipFill>
                <a:blip r:embed="rId2"/>
                <a:stretch>
                  <a:fillRect t="-2786" b="-3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  <a:p>
                <a:pPr algn="ctr"/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038020" y="2330728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746837" y="182562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607" y="3482616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241" y="353325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1592" y="3573188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424632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8A9FD16-A4B7-EF2B-DA1A-79E6694E7A13}"/>
              </a:ext>
            </a:extLst>
          </p:cNvPr>
          <p:cNvGrpSpPr/>
          <p:nvPr/>
        </p:nvGrpSpPr>
        <p:grpSpPr>
          <a:xfrm>
            <a:off x="558822" y="2424632"/>
            <a:ext cx="6263576" cy="4094635"/>
            <a:chOff x="1681748" y="2377721"/>
            <a:chExt cx="6263576" cy="4094635"/>
          </a:xfrm>
        </p:grpSpPr>
        <p:pic>
          <p:nvPicPr>
            <p:cNvPr id="15" name="Picture 14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D42F930F-D300-D98D-D5F9-4B48FF3C8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6" name="Content Placeholder 2">
              <a:extLst>
                <a:ext uri="{FF2B5EF4-FFF2-40B4-BE49-F238E27FC236}">
                  <a16:creationId xmlns:a16="http://schemas.microsoft.com/office/drawing/2014/main" id="{713B1DF9-ABB6-F2EC-6BFB-AC7075231B27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800" y="1790700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020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825625"/>
                <a:ext cx="12192000" cy="624555"/>
              </a:xfrm>
              <a:blipFill>
                <a:blip r:embed="rId3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7693-DBDC-C971-FF7C-70B04F340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9DC34F-83E3-8286-F30B-63B442B221BE}"/>
              </a:ext>
            </a:extLst>
          </p:cNvPr>
          <p:cNvCxnSpPr>
            <a:cxnSpLocks/>
            <a:stCxn id="13" idx="6"/>
            <a:endCxn id="6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E3B9C7-268D-A9CF-E733-26FCC2D488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FFFF65-FFFD-052C-EE9F-771328F10C4F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C339CD-9526-8259-3F76-5B62D9F6F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5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9391AC7-2107-DBEF-68E5-55798A9762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41FD27B-91E8-1D25-C92E-1BDB5EA3E998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E426F-47A8-0770-5BBB-310B9139230D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5EA64FA-2384-A014-5053-12AE09F49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08EB8ACF-C99F-17EA-1818-EC0CBF367CD3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4ED21C9-BC1B-78EC-DDC3-83100131FCA9}"/>
              </a:ext>
            </a:extLst>
          </p:cNvPr>
          <p:cNvSpPr/>
          <p:nvPr/>
        </p:nvSpPr>
        <p:spPr>
          <a:xfrm>
            <a:off x="7403417" y="4216486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2A1F9D1-CB08-7BC6-78AE-EC96FCF51271}"/>
              </a:ext>
            </a:extLst>
          </p:cNvPr>
          <p:cNvSpPr/>
          <p:nvPr/>
        </p:nvSpPr>
        <p:spPr>
          <a:xfrm>
            <a:off x="7391475" y="3043420"/>
            <a:ext cx="2804812" cy="806816"/>
          </a:xfrm>
          <a:prstGeom prst="roundRect">
            <a:avLst/>
          </a:prstGeom>
          <a:solidFill>
            <a:srgbClr val="E0E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4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514350" indent="-514350" algn="ctr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6" y="3316004"/>
                <a:ext cx="2804812" cy="15934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14142" y="5047266"/>
            <a:ext cx="268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Constraint-aware!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661132" y="2601212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8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71923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9705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882742" y="4682001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49593" y="4699516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98178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967544" y="441350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9" grpId="0"/>
      <p:bldP spid="20" grpId="0"/>
      <p:bldP spid="23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0203C09-1E39-A6C4-1F75-85612EDE60E9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9E3DF7-3783-3832-10F1-A03AC264E69E}"/>
              </a:ext>
            </a:extLst>
          </p:cNvPr>
          <p:cNvSpPr txBox="1">
            <a:spLocks/>
          </p:cNvSpPr>
          <p:nvPr/>
        </p:nvSpPr>
        <p:spPr>
          <a:xfrm>
            <a:off x="838200" y="6245604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constraints + SMT-LIB + dot notation = expressive!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306845"/>
            <a:ext cx="7772400" cy="1888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derivation tree 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an AST in progress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When closed, instantiate with concrete values</a:t>
                </a:r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2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3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699" y="3167134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50378" y="2842507"/>
            <a:ext cx="3969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2781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&lt;nt_2&gt;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&lt;a&gt;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&lt;b&gt;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086766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</p:cNvCxnSpPr>
          <p:nvPr/>
        </p:nvCxnSpPr>
        <p:spPr>
          <a:xfrm>
            <a:off x="1401345" y="4792717"/>
            <a:ext cx="131446" cy="210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56978" y="5372065"/>
            <a:ext cx="290304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4706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8202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8D75F5B-51EA-09FE-62BB-BE4278CDD4D6}"/>
              </a:ext>
            </a:extLst>
          </p:cNvPr>
          <p:cNvGrpSpPr/>
          <p:nvPr/>
        </p:nvGrpSpPr>
        <p:grpSpPr>
          <a:xfrm>
            <a:off x="9763964" y="4622997"/>
            <a:ext cx="1050288" cy="991061"/>
            <a:chOff x="9763964" y="4622997"/>
            <a:chExt cx="1050288" cy="991061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4F3D9B2-3369-EA70-AE8E-679EE5A27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55430" y="4622997"/>
              <a:ext cx="750494" cy="750494"/>
            </a:xfrm>
            <a:prstGeom prst="rect">
              <a:avLst/>
            </a:prstGeom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9E82E69-2892-075E-C676-9E30EDEFD018}"/>
                </a:ext>
              </a:extLst>
            </p:cNvPr>
            <p:cNvSpPr txBox="1"/>
            <p:nvPr/>
          </p:nvSpPr>
          <p:spPr>
            <a:xfrm>
              <a:off x="9763964" y="5244726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807061" y="262109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Abstraction-refinement algorithms?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9143</TotalTime>
  <Words>3702</Words>
  <Application>Microsoft Macintosh PowerPoint</Application>
  <PresentationFormat>Widescreen</PresentationFormat>
  <Paragraphs>698</Paragraphs>
  <Slides>77</Slides>
  <Notes>17</Notes>
  <HiddenSlides>28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3" baseType="lpstr">
      <vt:lpstr>American Typewriter</vt:lpstr>
      <vt:lpstr>Aptos</vt:lpstr>
      <vt:lpstr>Aptos Display</vt:lpstr>
      <vt:lpstr>Arial</vt:lpstr>
      <vt:lpstr>Avenir Next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946</cp:revision>
  <dcterms:created xsi:type="dcterms:W3CDTF">2026-03-16T17:02:12Z</dcterms:created>
  <dcterms:modified xsi:type="dcterms:W3CDTF">2026-04-07T23:38:45Z</dcterms:modified>
</cp:coreProperties>
</file>