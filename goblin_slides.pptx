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8"/>
  </p:notesMasterIdLst>
  <p:sldIdLst>
    <p:sldId id="256" r:id="rId2"/>
    <p:sldId id="379" r:id="rId3"/>
    <p:sldId id="382" r:id="rId4"/>
    <p:sldId id="318" r:id="rId5"/>
    <p:sldId id="383" r:id="rId6"/>
    <p:sldId id="324" r:id="rId7"/>
    <p:sldId id="384" r:id="rId8"/>
    <p:sldId id="402" r:id="rId9"/>
    <p:sldId id="385" r:id="rId10"/>
    <p:sldId id="386" r:id="rId11"/>
    <p:sldId id="395" r:id="rId12"/>
    <p:sldId id="387" r:id="rId13"/>
    <p:sldId id="398" r:id="rId14"/>
    <p:sldId id="397" r:id="rId15"/>
    <p:sldId id="332" r:id="rId16"/>
    <p:sldId id="331" r:id="rId17"/>
    <p:sldId id="389" r:id="rId18"/>
    <p:sldId id="390" r:id="rId19"/>
    <p:sldId id="388" r:id="rId20"/>
    <p:sldId id="391" r:id="rId21"/>
    <p:sldId id="322" r:id="rId22"/>
    <p:sldId id="323" r:id="rId23"/>
    <p:sldId id="325" r:id="rId24"/>
    <p:sldId id="326" r:id="rId25"/>
    <p:sldId id="327" r:id="rId26"/>
    <p:sldId id="368" r:id="rId27"/>
    <p:sldId id="369" r:id="rId28"/>
    <p:sldId id="377" r:id="rId29"/>
    <p:sldId id="328" r:id="rId30"/>
    <p:sldId id="329" r:id="rId31"/>
    <p:sldId id="321" r:id="rId32"/>
    <p:sldId id="338" r:id="rId33"/>
    <p:sldId id="339" r:id="rId34"/>
    <p:sldId id="340" r:id="rId35"/>
    <p:sldId id="341" r:id="rId36"/>
    <p:sldId id="342" r:id="rId37"/>
    <p:sldId id="344" r:id="rId38"/>
    <p:sldId id="345" r:id="rId39"/>
    <p:sldId id="333" r:id="rId40"/>
    <p:sldId id="346" r:id="rId41"/>
    <p:sldId id="347" r:id="rId42"/>
    <p:sldId id="348" r:id="rId43"/>
    <p:sldId id="349" r:id="rId44"/>
    <p:sldId id="350" r:id="rId45"/>
    <p:sldId id="334" r:id="rId46"/>
    <p:sldId id="351" r:id="rId47"/>
    <p:sldId id="356" r:id="rId48"/>
    <p:sldId id="357" r:id="rId49"/>
    <p:sldId id="358" r:id="rId50"/>
    <p:sldId id="359" r:id="rId51"/>
    <p:sldId id="360" r:id="rId52"/>
    <p:sldId id="361" r:id="rId53"/>
    <p:sldId id="362" r:id="rId54"/>
    <p:sldId id="363" r:id="rId55"/>
    <p:sldId id="364" r:id="rId56"/>
    <p:sldId id="365" r:id="rId57"/>
    <p:sldId id="393" r:id="rId58"/>
    <p:sldId id="394" r:id="rId59"/>
    <p:sldId id="401" r:id="rId60"/>
    <p:sldId id="366" r:id="rId61"/>
    <p:sldId id="367" r:id="rId62"/>
    <p:sldId id="399" r:id="rId63"/>
    <p:sldId id="352" r:id="rId64"/>
    <p:sldId id="336" r:id="rId65"/>
    <p:sldId id="353" r:id="rId66"/>
    <p:sldId id="337" r:id="rId67"/>
    <p:sldId id="355" r:id="rId68"/>
    <p:sldId id="300" r:id="rId69"/>
    <p:sldId id="317" r:id="rId70"/>
    <p:sldId id="370" r:id="rId71"/>
    <p:sldId id="371" r:id="rId72"/>
    <p:sldId id="372" r:id="rId73"/>
    <p:sldId id="373" r:id="rId74"/>
    <p:sldId id="374" r:id="rId75"/>
    <p:sldId id="375" r:id="rId76"/>
    <p:sldId id="376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0" autoAdjust="0"/>
    <p:restoredTop sz="76568"/>
  </p:normalViewPr>
  <p:slideViewPr>
    <p:cSldViewPr snapToGrid="0">
      <p:cViewPr>
        <p:scale>
          <a:sx n="101" d="100"/>
          <a:sy n="101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22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3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0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2.png"/><Relationship Id="rId7" Type="http://schemas.openxmlformats.org/officeDocument/2006/relationships/image" Target="../media/image5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6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C4FD3E-A5C4-D874-7D10-1E37F833DA17}"/>
              </a:ext>
            </a:extLst>
          </p:cNvPr>
          <p:cNvSpPr/>
          <p:nvPr/>
        </p:nvSpPr>
        <p:spPr>
          <a:xfrm>
            <a:off x="1549400" y="5155639"/>
            <a:ext cx="9027730" cy="10219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Some software systems have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highly complex input formats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  <a:blipFill>
                <a:blip r:embed="rId2"/>
                <a:stretch>
                  <a:fillRect l="-1206" t="-2786" b="-3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  <a:blipFill>
                <a:blip r:embed="rId2"/>
                <a:stretch>
                  <a:fillRect l="-1206" t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8101707" y="2458122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109650" y="182562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137" y="3019014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0390" y="3069655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360" y="3109585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883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8415" y="3447087"/>
            <a:ext cx="661423" cy="661423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0EF8C7A-2B0F-D041-A8EA-7A8F661152F9}"/>
              </a:ext>
            </a:extLst>
          </p:cNvPr>
          <p:cNvSpPr txBox="1">
            <a:spLocks/>
          </p:cNvSpPr>
          <p:nvPr/>
        </p:nvSpPr>
        <p:spPr>
          <a:xfrm>
            <a:off x="7842647" y="1825625"/>
            <a:ext cx="7988300" cy="552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E.g., XML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 E.g., XML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83E478-3D11-4C47-25DD-EA3DEF03851D}"/>
              </a:ext>
            </a:extLst>
          </p:cNvPr>
          <p:cNvSpPr txBox="1"/>
          <p:nvPr/>
        </p:nvSpPr>
        <p:spPr>
          <a:xfrm>
            <a:off x="6618779" y="2701214"/>
            <a:ext cx="56573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721" y="3498710"/>
            <a:ext cx="558800" cy="558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94E6674-22B4-8FC9-31CF-D8666433311D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12" name="Picture 11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0685046-B66F-97F8-DDCE-9140E7A305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B3334C-4E23-B804-D1CC-48D49239D241}"/>
              </a:ext>
            </a:extLst>
          </p:cNvPr>
          <p:cNvSpPr/>
          <p:nvPr/>
        </p:nvSpPr>
        <p:spPr>
          <a:xfrm>
            <a:off x="1193800" y="1790700"/>
            <a:ext cx="9867900" cy="7750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35924" y="1950834"/>
                <a:ext cx="9625776" cy="454803"/>
              </a:xfrm>
            </p:spPr>
            <p:txBody>
              <a:bodyPr vert="horz" lIns="91440" tIns="45720" rIns="91440" bIns="45720" rtlCol="0" anchor="t"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35924" y="1950834"/>
                <a:ext cx="9625776" cy="454803"/>
              </a:xfrm>
              <a:blipFill>
                <a:blip r:embed="rId3"/>
                <a:stretch>
                  <a:fillRect l="-1054" t="-27027" b="-1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input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blipFill>
                <a:blip r:embed="rId4"/>
                <a:stretch>
                  <a:fillRect l="-158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AA12139A-7D26-EF58-9D79-875E24309C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642EB-0B75-CA62-9C1B-795A3E82A28B}"/>
              </a:ext>
            </a:extLst>
          </p:cNvPr>
          <p:cNvCxnSpPr>
            <a:cxnSpLocks/>
            <a:stCxn id="40" idx="6"/>
            <a:endCxn id="38" idx="1"/>
          </p:cNvCxnSpPr>
          <p:nvPr/>
        </p:nvCxnSpPr>
        <p:spPr>
          <a:xfrm>
            <a:off x="2108762" y="3479172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B41B2DF-78BD-357F-E7B5-6911BBD5BDBD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val 41">
            <a:extLst>
              <a:ext uri="{FF2B5EF4-FFF2-40B4-BE49-F238E27FC236}">
                <a16:creationId xmlns:a16="http://schemas.microsoft.com/office/drawing/2014/main" id="{972D7A86-D1E6-493B-9205-B0EA439A86BE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21AA3A-7BDC-38CA-1A53-19D11CD1A511}"/>
              </a:ext>
            </a:extLst>
          </p:cNvPr>
          <p:cNvSpPr txBox="1"/>
          <p:nvPr/>
        </p:nvSpPr>
        <p:spPr>
          <a:xfrm>
            <a:off x="4113923" y="4174822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0" grpId="0" animBg="1"/>
      <p:bldP spid="41" grpId="0"/>
      <p:bldP spid="42" grpId="0" animBg="1"/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2320589" y="3479171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113923" y="4174822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97676" y="4359580"/>
                <a:ext cx="309375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76" y="4359580"/>
                <a:ext cx="3093753" cy="646331"/>
              </a:xfrm>
              <a:prstGeom prst="rect">
                <a:avLst/>
              </a:prstGeom>
              <a:blipFill>
                <a:blip r:embed="rId5"/>
                <a:stretch>
                  <a:fillRect l="-1633"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805432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1.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2.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  <a:blipFill>
                <a:blip r:embed="rId7"/>
                <a:stretch>
                  <a:fillRect l="-1908" t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669072" y="2622184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5846D3-9030-1BB1-3591-D75369CC194C}"/>
              </a:ext>
            </a:extLst>
          </p:cNvPr>
          <p:cNvSpPr/>
          <p:nvPr/>
        </p:nvSpPr>
        <p:spPr>
          <a:xfrm>
            <a:off x="6759744" y="3476531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6197149" y="3921182"/>
            <a:ext cx="268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Constraint-aware!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A70BC85-2ADC-B432-0772-B94FD37922D2}"/>
              </a:ext>
            </a:extLst>
          </p:cNvPr>
          <p:cNvSpPr/>
          <p:nvPr/>
        </p:nvSpPr>
        <p:spPr>
          <a:xfrm>
            <a:off x="8440420" y="2950524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761567" y="2433103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0" y="3612678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333500" y="4786890"/>
            <a:ext cx="7973225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/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200" y="3600385"/>
            <a:ext cx="382237" cy="38223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861934" y="4994208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0938" y="4986304"/>
            <a:ext cx="450996" cy="45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B15BD91-3389-103D-3BD9-4A4ABB60CA9A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C2C991-6A1D-EBF8-E9EB-CDE1FC6B4B18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6B30C0-BCF7-73BB-32C0-CB1022A57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12057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7351465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34223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608328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46200" y="4761530"/>
            <a:ext cx="9448800" cy="73757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947433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                            in widely-used software</a:t>
            </a:r>
          </a:p>
        </p:txBody>
      </p:sp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9E3DF7-3783-3832-10F1-A03AC264E69E}"/>
              </a:ext>
            </a:extLst>
          </p:cNvPr>
          <p:cNvSpPr txBox="1">
            <a:spLocks/>
          </p:cNvSpPr>
          <p:nvPr/>
        </p:nvSpPr>
        <p:spPr>
          <a:xfrm>
            <a:off x="838200" y="6245604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constraints + SMT-LIB + dot notation = expressive!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306845"/>
            <a:ext cx="7772400" cy="1888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457200" y="6063162"/>
            <a:ext cx="11290300" cy="49321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846EB-B03D-5CA2-1AF8-573D4734C97D}"/>
              </a:ext>
            </a:extLst>
          </p:cNvPr>
          <p:cNvSpPr txBox="1"/>
          <p:nvPr/>
        </p:nvSpPr>
        <p:spPr>
          <a:xfrm>
            <a:off x="50800" y="6094710"/>
            <a:ext cx="12115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derivation tree 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open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closed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When closed, instantiate with concrete values</a:t>
                </a:r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2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3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699" y="3167134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738407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1432875" y="4729220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65795" y="5372065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9253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1DF6A8C-DEA4-F391-22F7-B2240D38A25A}"/>
              </a:ext>
            </a:extLst>
          </p:cNvPr>
          <p:cNvSpPr/>
          <p:nvPr/>
        </p:nvSpPr>
        <p:spPr>
          <a:xfrm>
            <a:off x="1638913" y="5992768"/>
            <a:ext cx="9232287" cy="533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515600" cy="4612926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Compare directly with prior work: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SAECRED generator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FAF22-88EC-C935-A3B4-9CB4250A7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700" y="2324100"/>
            <a:ext cx="965200" cy="965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555FEB-424B-2505-B483-76466D5F3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351" y="2324100"/>
            <a:ext cx="965200" cy="96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DAEA30-BB25-151C-AA2F-34C9284CD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5002" y="2237477"/>
            <a:ext cx="1138445" cy="1138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389366-B24A-1DF7-498A-243BE6918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898" y="2243344"/>
            <a:ext cx="1126710" cy="11267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106368-D9DD-5F55-4C35-463E9C778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813" y="3829050"/>
            <a:ext cx="581374" cy="5813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09DE3D-45FF-4E48-B6AF-2D188A4650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639" y="4552397"/>
            <a:ext cx="563953" cy="5639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FD7AB-45EF-7CEB-2F5C-4F51E574BAB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639" y="5241718"/>
            <a:ext cx="581375" cy="5813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D272AB-DFE2-B8B7-2049-D1510D2BB0C0}"/>
              </a:ext>
            </a:extLst>
          </p:cNvPr>
          <p:cNvSpPr txBox="1"/>
          <p:nvPr/>
        </p:nvSpPr>
        <p:spPr>
          <a:xfrm>
            <a:off x="1822545" y="3956978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Efficiency (inputs generated / second)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E3AB74-ED80-B6DB-71D2-D6A78F689B34}"/>
                  </a:ext>
                </a:extLst>
              </p:cNvPr>
              <p:cNvSpPr txBox="1"/>
              <p:nvPr/>
            </p:nvSpPr>
            <p:spPr>
              <a:xfrm>
                <a:off x="1822545" y="4644342"/>
                <a:ext cx="29341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Diversity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-path coverage)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E3AB74-ED80-B6DB-71D2-D6A78F689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545" y="4644342"/>
                <a:ext cx="2934137" cy="369332"/>
              </a:xfrm>
              <a:prstGeom prst="rect">
                <a:avLst/>
              </a:prstGeom>
              <a:blipFill>
                <a:blip r:embed="rId10"/>
                <a:stretch>
                  <a:fillRect l="-1724" t="-6667" r="-862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855645A-1639-E7D7-6EC5-32DA32C40AE9}"/>
              </a:ext>
            </a:extLst>
          </p:cNvPr>
          <p:cNvSpPr txBox="1"/>
          <p:nvPr/>
        </p:nvSpPr>
        <p:spPr>
          <a:xfrm>
            <a:off x="1822545" y="5332998"/>
            <a:ext cx="554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Expressivity (% grammars accepted after mutations)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EE5DF1-C4D7-F2F0-E5E7-C7F50FDEC591}"/>
              </a:ext>
            </a:extLst>
          </p:cNvPr>
          <p:cNvSpPr txBox="1"/>
          <p:nvPr/>
        </p:nvSpPr>
        <p:spPr>
          <a:xfrm>
            <a:off x="1638912" y="6051175"/>
            <a:ext cx="9345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prior work by &gt;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~10—100%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all metrics, save for efficiency of CSV inputs</a:t>
            </a:r>
          </a:p>
          <a:p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D33349-80AE-CFC8-2EAD-D2287331F552}"/>
              </a:ext>
            </a:extLst>
          </p:cNvPr>
          <p:cNvSpPr txBox="1"/>
          <p:nvPr/>
        </p:nvSpPr>
        <p:spPr>
          <a:xfrm>
            <a:off x="951263" y="3342060"/>
            <a:ext cx="26388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 criteria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/>
      <p:bldP spid="13" grpId="0"/>
      <p:bldP spid="14" grpId="0"/>
      <p:bldP spid="16" grpId="0"/>
      <p:bldP spid="1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powerful type system (e.g., polymorphism)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CDCL-style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backjumping</a:t>
            </a: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9029</TotalTime>
  <Words>3644</Words>
  <Application>Microsoft Macintosh PowerPoint</Application>
  <PresentationFormat>Widescreen</PresentationFormat>
  <Paragraphs>676</Paragraphs>
  <Slides>76</Slides>
  <Notes>17</Notes>
  <HiddenSlides>28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90" baseType="lpstr">
      <vt:lpstr>American Typewriter</vt:lpstr>
      <vt:lpstr>Aptos</vt:lpstr>
      <vt:lpstr>Aptos Display</vt:lpstr>
      <vt:lpstr>Arial</vt:lpstr>
      <vt:lpstr>Avenir Next</vt:lpstr>
      <vt:lpstr>Book Antiqua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871</cp:revision>
  <dcterms:created xsi:type="dcterms:W3CDTF">2026-03-16T17:02:12Z</dcterms:created>
  <dcterms:modified xsi:type="dcterms:W3CDTF">2026-04-07T17:36:26Z</dcterms:modified>
</cp:coreProperties>
</file>