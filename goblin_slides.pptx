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0"/>
  </p:notesMasterIdLst>
  <p:sldIdLst>
    <p:sldId id="256" r:id="rId2"/>
    <p:sldId id="379" r:id="rId3"/>
    <p:sldId id="382" r:id="rId4"/>
    <p:sldId id="318" r:id="rId5"/>
    <p:sldId id="383" r:id="rId6"/>
    <p:sldId id="324" r:id="rId7"/>
    <p:sldId id="384" r:id="rId8"/>
    <p:sldId id="402" r:id="rId9"/>
    <p:sldId id="385" r:id="rId10"/>
    <p:sldId id="386" r:id="rId11"/>
    <p:sldId id="395" r:id="rId12"/>
    <p:sldId id="387" r:id="rId13"/>
    <p:sldId id="398" r:id="rId14"/>
    <p:sldId id="397" r:id="rId15"/>
    <p:sldId id="332" r:id="rId16"/>
    <p:sldId id="331" r:id="rId17"/>
    <p:sldId id="389" r:id="rId18"/>
    <p:sldId id="390" r:id="rId19"/>
    <p:sldId id="388" r:id="rId20"/>
    <p:sldId id="391" r:id="rId21"/>
    <p:sldId id="322" r:id="rId22"/>
    <p:sldId id="323" r:id="rId23"/>
    <p:sldId id="325" r:id="rId24"/>
    <p:sldId id="326" r:id="rId25"/>
    <p:sldId id="327" r:id="rId26"/>
    <p:sldId id="368" r:id="rId27"/>
    <p:sldId id="369" r:id="rId28"/>
    <p:sldId id="377" r:id="rId29"/>
    <p:sldId id="328" r:id="rId30"/>
    <p:sldId id="329" r:id="rId31"/>
    <p:sldId id="321" r:id="rId32"/>
    <p:sldId id="338" r:id="rId33"/>
    <p:sldId id="339" r:id="rId34"/>
    <p:sldId id="340" r:id="rId35"/>
    <p:sldId id="341" r:id="rId36"/>
    <p:sldId id="342" r:id="rId37"/>
    <p:sldId id="344" r:id="rId38"/>
    <p:sldId id="345" r:id="rId39"/>
    <p:sldId id="333" r:id="rId40"/>
    <p:sldId id="346" r:id="rId41"/>
    <p:sldId id="347" r:id="rId42"/>
    <p:sldId id="348" r:id="rId43"/>
    <p:sldId id="349" r:id="rId44"/>
    <p:sldId id="350" r:id="rId45"/>
    <p:sldId id="334" r:id="rId46"/>
    <p:sldId id="351" r:id="rId47"/>
    <p:sldId id="356" r:id="rId48"/>
    <p:sldId id="357" r:id="rId49"/>
    <p:sldId id="358" r:id="rId50"/>
    <p:sldId id="359" r:id="rId51"/>
    <p:sldId id="360" r:id="rId52"/>
    <p:sldId id="361" r:id="rId53"/>
    <p:sldId id="362" r:id="rId54"/>
    <p:sldId id="363" r:id="rId55"/>
    <p:sldId id="364" r:id="rId56"/>
    <p:sldId id="365" r:id="rId57"/>
    <p:sldId id="393" r:id="rId58"/>
    <p:sldId id="394" r:id="rId59"/>
    <p:sldId id="401" r:id="rId60"/>
    <p:sldId id="366" r:id="rId61"/>
    <p:sldId id="367" r:id="rId62"/>
    <p:sldId id="335" r:id="rId63"/>
    <p:sldId id="399" r:id="rId64"/>
    <p:sldId id="352" r:id="rId65"/>
    <p:sldId id="336" r:id="rId66"/>
    <p:sldId id="353" r:id="rId67"/>
    <p:sldId id="354" r:id="rId68"/>
    <p:sldId id="337" r:id="rId69"/>
    <p:sldId id="355" r:id="rId70"/>
    <p:sldId id="300" r:id="rId71"/>
    <p:sldId id="317" r:id="rId72"/>
    <p:sldId id="370" r:id="rId73"/>
    <p:sldId id="371" r:id="rId74"/>
    <p:sldId id="372" r:id="rId75"/>
    <p:sldId id="373" r:id="rId76"/>
    <p:sldId id="374" r:id="rId77"/>
    <p:sldId id="375" r:id="rId78"/>
    <p:sldId id="37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92" autoAdjust="0"/>
    <p:restoredTop sz="76568"/>
  </p:normalViewPr>
  <p:slideViewPr>
    <p:cSldViewPr snapToGrid="0">
      <p:cViewPr>
        <p:scale>
          <a:sx n="101" d="100"/>
          <a:sy n="101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3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3.png"/><Relationship Id="rId7" Type="http://schemas.openxmlformats.org/officeDocument/2006/relationships/image" Target="../media/image6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9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3.png"/><Relationship Id="rId7" Type="http://schemas.openxmlformats.org/officeDocument/2006/relationships/image" Target="../media/image5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61.png"/><Relationship Id="rId4" Type="http://schemas.openxmlformats.org/officeDocument/2006/relationships/image" Target="../media/image5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Parse this! Summoning Context-Sensitive Inputs with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Muhammad </a:t>
            </a:r>
            <a:r>
              <a:rPr lang="en-US" dirty="0" err="1">
                <a:latin typeface="Source Sans Pro"/>
                <a:ea typeface="Source Sans Pro"/>
              </a:rPr>
              <a:t>Daniyal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dirty="0" err="1">
                <a:latin typeface="Source Sans Pro"/>
                <a:ea typeface="Source Sans Pro"/>
              </a:rPr>
              <a:t>Pirwani</a:t>
            </a:r>
            <a:r>
              <a:rPr lang="en-US" dirty="0">
                <a:latin typeface="Source Sans Pro"/>
                <a:ea typeface="Source Sans Pro"/>
              </a:rPr>
              <a:t> Dar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, Cesare </a:t>
            </a:r>
            <a:r>
              <a:rPr lang="en-US" dirty="0" err="1">
                <a:latin typeface="Source Sans Pro"/>
                <a:ea typeface="Source Sans Pro"/>
              </a:rPr>
              <a:t>Tinelli</a:t>
            </a: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&amp; Omar Chowdhury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Source Sans Pro"/>
              <a:ea typeface="Source Sans Pro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April 17, 2026</a:t>
            </a:r>
            <a:endParaRPr lang="en-US" dirty="0">
              <a:latin typeface="Aptos" panose="02110004020202020204"/>
              <a:ea typeface="Source Sans Pro"/>
            </a:endParaRP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C4FD3E-A5C4-D874-7D10-1E37F833DA17}"/>
              </a:ext>
            </a:extLst>
          </p:cNvPr>
          <p:cNvSpPr/>
          <p:nvPr/>
        </p:nvSpPr>
        <p:spPr>
          <a:xfrm>
            <a:off x="1690536" y="5155639"/>
            <a:ext cx="8810513" cy="10219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Some software systems have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highly complex input formats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Automated testing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  <a:blipFill>
                <a:blip r:embed="rId2"/>
                <a:stretch>
                  <a:fillRect l="-1206" t="-2477" b="-3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41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09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74014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Automated testing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740149"/>
              </a:xfrm>
              <a:blipFill>
                <a:blip r:embed="rId2"/>
                <a:stretch>
                  <a:fillRect l="-1206" t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8101707" y="2458122"/>
            <a:ext cx="1845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8736061" y="1837519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137" y="3019014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0390" y="3069655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360" y="3109585"/>
            <a:ext cx="935245" cy="9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883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Where do CFG-based approaches struggle?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3" y="2377721"/>
            <a:ext cx="6263576" cy="409463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352562" y="3901819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8415" y="3447087"/>
            <a:ext cx="661423" cy="661423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0EF8C7A-2B0F-D041-A8EA-7A8F661152F9}"/>
              </a:ext>
            </a:extLst>
          </p:cNvPr>
          <p:cNvSpPr txBox="1">
            <a:spLocks/>
          </p:cNvSpPr>
          <p:nvPr/>
        </p:nvSpPr>
        <p:spPr>
          <a:xfrm>
            <a:off x="7265688" y="1825625"/>
            <a:ext cx="7988300" cy="5520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E.g., XML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Where do CFG-based approaches struggle? E.g., XML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83E478-3D11-4C47-25DD-EA3DEF03851D}"/>
              </a:ext>
            </a:extLst>
          </p:cNvPr>
          <p:cNvSpPr txBox="1"/>
          <p:nvPr/>
        </p:nvSpPr>
        <p:spPr>
          <a:xfrm>
            <a:off x="6618779" y="2701214"/>
            <a:ext cx="56573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721" y="3498710"/>
            <a:ext cx="558800" cy="558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94E6674-22B4-8FC9-31CF-D8666433311D}"/>
              </a:ext>
            </a:extLst>
          </p:cNvPr>
          <p:cNvSpPr txBox="1"/>
          <p:nvPr/>
        </p:nvSpPr>
        <p:spPr>
          <a:xfrm>
            <a:off x="8352562" y="3901819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12" name="Picture 11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0685046-B66F-97F8-DDCE-9140E7A305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3" y="2377721"/>
            <a:ext cx="6263576" cy="409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B3334C-4E23-B804-D1CC-48D49239D241}"/>
              </a:ext>
            </a:extLst>
          </p:cNvPr>
          <p:cNvSpPr/>
          <p:nvPr/>
        </p:nvSpPr>
        <p:spPr>
          <a:xfrm>
            <a:off x="1193800" y="1790700"/>
            <a:ext cx="9867900" cy="7781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82905" y="1944298"/>
                <a:ext cx="9625776" cy="624555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2905" y="1944298"/>
                <a:ext cx="9625776" cy="624555"/>
              </a:xfrm>
              <a:blipFill>
                <a:blip r:embed="rId3"/>
                <a:stretch>
                  <a:fillRect l="-1054" t="-16000" r="-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Why do we want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anyway?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  <a:blipFill>
                <a:blip r:embed="rId3"/>
                <a:stretch>
                  <a:fillRect l="-1912" t="-16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104" y="4237305"/>
                <a:ext cx="31829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Structured input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04" y="4237305"/>
                <a:ext cx="3182963" cy="369332"/>
              </a:xfrm>
              <a:prstGeom prst="rect">
                <a:avLst/>
              </a:prstGeom>
              <a:blipFill>
                <a:blip r:embed="rId4"/>
                <a:stretch>
                  <a:fillRect l="-1587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AA12139A-7D26-EF58-9D79-875E24309C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701" y="2826887"/>
            <a:ext cx="1325563" cy="1325563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642EB-0B75-CA62-9C1B-795A3E82A28B}"/>
              </a:ext>
            </a:extLst>
          </p:cNvPr>
          <p:cNvCxnSpPr>
            <a:cxnSpLocks/>
            <a:stCxn id="40" idx="6"/>
            <a:endCxn id="38" idx="1"/>
          </p:cNvCxnSpPr>
          <p:nvPr/>
        </p:nvCxnSpPr>
        <p:spPr>
          <a:xfrm>
            <a:off x="2108762" y="3479172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B41B2DF-78BD-357F-E7B5-6911BBD5BDBD}"/>
              </a:ext>
            </a:extLst>
          </p:cNvPr>
          <p:cNvSpPr/>
          <p:nvPr/>
        </p:nvSpPr>
        <p:spPr>
          <a:xfrm>
            <a:off x="1054454" y="2816276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9B5F9FA-CB7E-33EB-1D73-7CAB6781C20B}"/>
                  </a:ext>
                </a:extLst>
              </p:cNvPr>
              <p:cNvSpPr txBox="1"/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9B5F9FA-CB7E-33EB-1D73-7CAB6781C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Oval 41">
            <a:extLst>
              <a:ext uri="{FF2B5EF4-FFF2-40B4-BE49-F238E27FC236}">
                <a16:creationId xmlns:a16="http://schemas.microsoft.com/office/drawing/2014/main" id="{972D7A86-D1E6-493B-9205-B0EA439A86BE}"/>
              </a:ext>
            </a:extLst>
          </p:cNvPr>
          <p:cNvSpPr/>
          <p:nvPr/>
        </p:nvSpPr>
        <p:spPr>
          <a:xfrm>
            <a:off x="1329536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21AA3A-7BDC-38CA-1A53-19D11CD1A511}"/>
              </a:ext>
            </a:extLst>
          </p:cNvPr>
          <p:cNvSpPr txBox="1"/>
          <p:nvPr/>
        </p:nvSpPr>
        <p:spPr>
          <a:xfrm>
            <a:off x="4113923" y="4174822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SUT</a:t>
            </a:r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40" grpId="0" animBg="1"/>
      <p:bldP spid="41" grpId="0"/>
      <p:bldP spid="42" grpId="0" animBg="1"/>
      <p:bldP spid="4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/>
                    <a:ea typeface="Source Sans Pro"/>
                  </a:rPr>
                  <a:t>Why do we want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anyway?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  <a:blipFill>
                <a:blip r:embed="rId3"/>
                <a:stretch>
                  <a:fillRect l="-1912" t="-16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5701" y="2826887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2320589" y="3479171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113923" y="4174822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054454" y="2816276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97676" y="4359580"/>
                <a:ext cx="30937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76" y="4359580"/>
                <a:ext cx="3093753" cy="369332"/>
              </a:xfrm>
              <a:prstGeom prst="rect">
                <a:avLst/>
              </a:prstGeom>
              <a:blipFill>
                <a:blip r:embed="rId5"/>
                <a:stretch>
                  <a:fillRect l="-1633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764204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04" y="3075438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805432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94193" y="2894768"/>
                <a:ext cx="6633117" cy="129804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1.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𝑆𝑎𝑚𝑝𝑙𝑒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𝑀𝑢𝑡𝑎𝑡𝑒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2.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𝑀𝑢𝑡𝑎𝑡𝑒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𝑆𝑎𝑚𝑝𝑙𝑒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193" y="2894768"/>
                <a:ext cx="6633117" cy="1298045"/>
              </a:xfrm>
              <a:prstGeom prst="rect">
                <a:avLst/>
              </a:prstGeom>
              <a:blipFill>
                <a:blip r:embed="rId7"/>
                <a:stretch>
                  <a:fillRect l="-1908" t="-7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669072" y="2622184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1329536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5846D3-9030-1BB1-3591-D75369CC194C}"/>
              </a:ext>
            </a:extLst>
          </p:cNvPr>
          <p:cNvSpPr/>
          <p:nvPr/>
        </p:nvSpPr>
        <p:spPr>
          <a:xfrm>
            <a:off x="6759744" y="3476531"/>
            <a:ext cx="420029" cy="43030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6197149" y="3921182"/>
            <a:ext cx="26457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Constraint-aware!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A70BC85-2ADC-B432-0772-B94FD37922D2}"/>
              </a:ext>
            </a:extLst>
          </p:cNvPr>
          <p:cNvSpPr/>
          <p:nvPr/>
        </p:nvSpPr>
        <p:spPr>
          <a:xfrm>
            <a:off x="8440420" y="2950524"/>
            <a:ext cx="420029" cy="43030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761567" y="2433103"/>
            <a:ext cx="2418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Constraint-blind </a:t>
            </a:r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4156" cy="624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How to perform constraint-aware mutation?</a:t>
            </a: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11709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/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/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117094" cy="461665"/>
              </a:xfrm>
              <a:prstGeom prst="rect">
                <a:avLst/>
              </a:prstGeom>
              <a:blipFill>
                <a:blip r:embed="rId3"/>
                <a:stretch>
                  <a:fillRect l="-109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7000" y="3612678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4156" cy="624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How to perform constraint-aware mutation?</a:t>
            </a: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11709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/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/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117094" cy="461665"/>
              </a:xfrm>
              <a:prstGeom prst="rect">
                <a:avLst/>
              </a:prstGeom>
              <a:blipFill>
                <a:blip r:embed="rId3"/>
                <a:stretch>
                  <a:fillRect l="-109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/>
              <p:nvPr/>
            </p:nvSpPr>
            <p:spPr>
              <a:xfrm>
                <a:off x="1003300" y="3557056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3557056"/>
                <a:ext cx="34734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414463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4144635"/>
                <a:ext cx="3473450" cy="490199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6200" y="3600385"/>
            <a:ext cx="382237" cy="38223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861934" y="4994208"/>
            <a:ext cx="7233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0938" y="4986304"/>
            <a:ext cx="450996" cy="45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233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B15BD91-3389-103D-3BD9-4A4ABB60CA9A}"/>
              </a:ext>
            </a:extLst>
          </p:cNvPr>
          <p:cNvSpPr txBox="1"/>
          <p:nvPr/>
        </p:nvSpPr>
        <p:spPr>
          <a:xfrm>
            <a:off x="5870206" y="2477210"/>
            <a:ext cx="485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 `_ &lt;Length&gt; &lt;Value&gt;` in output: 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&lt;Length&gt; = </a:t>
            </a:r>
            <a:r>
              <a:rPr lang="en-US" sz="2000" dirty="0" err="1">
                <a:latin typeface="American Typewriter" panose="02090604020004020304" pitchFamily="18" charset="77"/>
              </a:rPr>
              <a:t>len</a:t>
            </a:r>
            <a:r>
              <a:rPr lang="en-US" sz="2000" dirty="0">
                <a:latin typeface="American Typewriter" panose="02090604020004020304" pitchFamily="18" charset="77"/>
              </a:rPr>
              <a:t>(&lt;Value&gt;)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4320" y="2184984"/>
            <a:ext cx="363161" cy="36316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233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C2C991-6A1D-EBF8-E9EB-CDE1FC6B4B18}"/>
              </a:ext>
            </a:extLst>
          </p:cNvPr>
          <p:cNvSpPr txBox="1"/>
          <p:nvPr/>
        </p:nvSpPr>
        <p:spPr>
          <a:xfrm>
            <a:off x="5870206" y="2477210"/>
            <a:ext cx="485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 `_ &lt;Length&gt; &lt;Value&gt;` in output: 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&lt;Length&gt; = </a:t>
            </a:r>
            <a:r>
              <a:rPr lang="en-US" sz="2000" dirty="0" err="1">
                <a:latin typeface="American Typewriter" panose="02090604020004020304" pitchFamily="18" charset="77"/>
              </a:rPr>
              <a:t>len</a:t>
            </a:r>
            <a:r>
              <a:rPr lang="en-US" sz="2000" dirty="0">
                <a:latin typeface="American Typewriter" panose="02090604020004020304" pitchFamily="18" charset="77"/>
              </a:rPr>
              <a:t>(&lt;Value&gt;)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6B30C0-BCF7-73BB-32C0-CB1022A573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4320" y="2184984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48128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Language 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Local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is largely inspired by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Language 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Local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is largely inspired by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/>
              <a:t>,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/>
              <a:t>, 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Language 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Local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is largely inspired by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Language 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Local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monotonicity </a:t>
            </a:r>
            <a:r>
              <a:rPr lang="en-US" sz="2400" dirty="0">
                <a:latin typeface="Source Sans Pro"/>
                <a:ea typeface="Source Sans Pro"/>
              </a:rPr>
              <a:t>of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511300" y="4761530"/>
            <a:ext cx="9118600" cy="73757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Language 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Local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Goblin has already been used to help discover novel semantic bugs                             in widely-used software</a:t>
            </a:r>
          </a:p>
        </p:txBody>
      </p:sp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production rules </a:t>
            </a:r>
            <a:r>
              <a:rPr lang="en-US" sz="2400" dirty="0">
                <a:latin typeface="Source Sans Pro"/>
                <a:ea typeface="Source Sans Pro"/>
              </a:rPr>
              <a:t>as in CFGs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symbolic terminals </a:t>
            </a:r>
            <a:r>
              <a:rPr lang="en-US" sz="2400" dirty="0">
                <a:latin typeface="Source Sans Pro"/>
                <a:ea typeface="Source Sans Pro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Source Sans Pro"/>
                <a:ea typeface="Source Sans Pro"/>
              </a:rPr>
              <a:t>teal</a:t>
            </a:r>
            <a:r>
              <a:rPr lang="en-US" sz="2400" dirty="0">
                <a:latin typeface="Source Sans Pro"/>
                <a:ea typeface="Source Sans Pro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annotations </a:t>
            </a:r>
            <a:r>
              <a:rPr lang="en-US" sz="2400" dirty="0">
                <a:latin typeface="Source Sans Pro"/>
                <a:ea typeface="Source Sans Pro"/>
              </a:rPr>
              <a:t>rather than concrete terminals. Capture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</a:t>
            </a:r>
            <a:r>
              <a:rPr lang="en-US" sz="2400" dirty="0">
                <a:latin typeface="Source Sans Pro"/>
                <a:ea typeface="Source Sans Pro"/>
              </a:rPr>
              <a:t>, not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concrete syntax 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Semantic Constraints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 constraints</a:t>
            </a:r>
            <a:r>
              <a:rPr lang="en-US" sz="2400" dirty="0">
                <a:latin typeface="Source Sans Pro"/>
                <a:ea typeface="Source Sans Pro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SMT-LIB</a:t>
            </a:r>
            <a:r>
              <a:rPr lang="en-US" sz="2400" dirty="0">
                <a:latin typeface="Source Sans Pro"/>
                <a:ea typeface="Source Sans Pro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9E3DF7-3783-3832-10F1-A03AC264E69E}"/>
              </a:ext>
            </a:extLst>
          </p:cNvPr>
          <p:cNvSpPr txBox="1">
            <a:spLocks/>
          </p:cNvSpPr>
          <p:nvPr/>
        </p:nvSpPr>
        <p:spPr>
          <a:xfrm>
            <a:off x="838200" y="6245604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Source Sans Pro"/>
                <a:ea typeface="Source Sans Pro"/>
              </a:rPr>
              <a:t>Local constraints + dot notation = expressive!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 solver </a:t>
            </a:r>
            <a:r>
              <a:rPr lang="en-US" dirty="0">
                <a:latin typeface="Source Sans Pro"/>
                <a:ea typeface="Source Sans Pro"/>
              </a:rPr>
              <a:t>reasoning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  <a:cs typeface="Menlo" panose="020B0609030804020204" pitchFamily="49" charset="0"/>
              </a:rPr>
              <a:t>)</a:t>
            </a:r>
            <a:r>
              <a:rPr lang="en-US" dirty="0">
                <a:latin typeface="Source Sans Pro"/>
                <a:ea typeface="Source Sans Pro"/>
              </a:rPr>
              <a:t> denote directly computable nonterminals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306845"/>
            <a:ext cx="7772400" cy="1888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 trees </a:t>
            </a:r>
            <a:r>
              <a:rPr lang="en-US" sz="2400" dirty="0">
                <a:latin typeface="Source Sans Pro"/>
                <a:ea typeface="Source Sans Pro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ADT terms</a:t>
            </a:r>
            <a:r>
              <a:rPr lang="en-US" sz="2400" dirty="0">
                <a:latin typeface="Source Sans Pro"/>
                <a:ea typeface="Source Sans Pro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457200" y="6063162"/>
            <a:ext cx="11290300" cy="49321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846EB-B03D-5CA2-1AF8-573D4734C97D}"/>
              </a:ext>
            </a:extLst>
          </p:cNvPr>
          <p:cNvSpPr txBox="1"/>
          <p:nvPr/>
        </p:nvSpPr>
        <p:spPr>
          <a:xfrm>
            <a:off x="50800" y="6094710"/>
            <a:ext cx="12115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The ADT view allows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51263" y="1546292"/>
            <a:ext cx="9942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ADT term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derivation tree </a:t>
                </a:r>
                <a:r>
                  <a:rPr lang="en-US" sz="2400" dirty="0">
                    <a:latin typeface="Source Sans Pro"/>
                    <a:ea typeface="Source Sans Pro"/>
                  </a:rPr>
                  <a:t>is an AST that may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open</a:t>
                </a:r>
                <a:r>
                  <a:rPr lang="en-US" sz="2400" dirty="0">
                    <a:latin typeface="Source Sans Pro"/>
                    <a:ea typeface="Source Sans Pro"/>
                  </a:rPr>
                  <a:t> (or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closed</a:t>
                </a:r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via random walk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Make decisions and backtrack when stuck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When closed, instantiate with concrete values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&lt;0&gt;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08219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Infeasible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082190" cy="1200329"/>
              </a:xfrm>
              <a:prstGeom prst="rect">
                <a:avLst/>
              </a:prstGeom>
              <a:blipFill>
                <a:blip r:embed="rId2"/>
                <a:stretch>
                  <a:fillRect l="-2058" t="-2105" r="-823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08219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082190" cy="1200329"/>
              </a:xfrm>
              <a:prstGeom prst="rect">
                <a:avLst/>
              </a:prstGeom>
              <a:blipFill>
                <a:blip r:embed="rId3"/>
                <a:stretch>
                  <a:fillRect l="-1646" t="-2105" r="-823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188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59700" y="3167134"/>
            <a:ext cx="165100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08219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Infeasible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082190" cy="1200329"/>
              </a:xfrm>
              <a:prstGeom prst="rect">
                <a:avLst/>
              </a:prstGeom>
              <a:blipFill>
                <a:blip r:embed="rId2"/>
                <a:stretch>
                  <a:fillRect l="-2058" t="-2105" r="-823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08219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082190" cy="1200329"/>
              </a:xfrm>
              <a:prstGeom prst="rect">
                <a:avLst/>
              </a:prstGeom>
              <a:blipFill>
                <a:blip r:embed="rId3"/>
                <a:stretch>
                  <a:fillRect l="-1646" t="-2105" r="-823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75280" y="3449743"/>
            <a:ext cx="16651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320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Infeasibility was due to early commitment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34E745-9239-EA9B-B141-937153B62FDF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Eager instantiation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8C7074-65C4-C9BB-2ECD-A38DDB846423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Lazy instantiation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713B43A-E48F-37CB-BB82-9AECA8466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6E77333-E260-EB14-268C-E23E6D83B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&lt;0&gt;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8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08219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Infeasible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082190" cy="1200329"/>
              </a:xfrm>
              <a:prstGeom prst="rect">
                <a:avLst/>
              </a:prstGeom>
              <a:blipFill>
                <a:blip r:embed="rId2"/>
                <a:stretch>
                  <a:fillRect l="-2058" t="-2105" r="-823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08219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082190" cy="1200329"/>
              </a:xfrm>
              <a:prstGeom prst="rect">
                <a:avLst/>
              </a:prstGeom>
              <a:blipFill>
                <a:blip r:embed="rId3"/>
                <a:stretch>
                  <a:fillRect l="-1646" t="-2105" r="-823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738407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1432875" y="4729220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65795" y="5372065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49164" y="3192534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524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But, eager instantiation enables non-chronological backtracking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34E745-9239-EA9B-B141-937153B62FDF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Eager instantiation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8C7074-65C4-C9BB-2ECD-A38DDB846423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Lazy instantiation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713B43A-E48F-37CB-BB82-9AECA84663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6E77333-E260-EB14-268C-E23E6D83B7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734647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the paper (full version), we formalize the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soundness</a:t>
            </a:r>
            <a:r>
              <a:rPr lang="en-US" sz="2400" dirty="0">
                <a:latin typeface="Source Sans Pro"/>
                <a:ea typeface="Source Sans Pro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refutation soundness</a:t>
            </a:r>
            <a:r>
              <a:rPr lang="en-US" sz="2400" dirty="0">
                <a:latin typeface="Source Sans Pro"/>
                <a:ea typeface="Source Sans Pro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Case study 1, 2, 3: Compare directly with prior work,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ISLa</a:t>
                </a:r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XML,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ScriptSize</a:t>
                </a:r>
                <a:r>
                  <a:rPr lang="en-US" sz="2400" dirty="0">
                    <a:latin typeface="Source Sans Pro"/>
                    <a:ea typeface="Source Sans Pro"/>
                  </a:rPr>
                  <a:t> C, and CSV input generation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Matching tags, definition before use, and column count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Measure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24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2400" dirty="0">
                    <a:latin typeface="Source Sans Pro"/>
                    <a:ea typeface="Source Sans Pro"/>
                  </a:rPr>
                  <a:t> in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24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Outperform prior work by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~10—100% </a:t>
                </a:r>
                <a:r>
                  <a:rPr lang="en-US" sz="2400" dirty="0">
                    <a:latin typeface="Source Sans Pro"/>
                    <a:ea typeface="Source Sans Pro"/>
                  </a:rPr>
                  <a:t>in all metrics, save for efficiency of CSV inputs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Case study 4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WiFi</a:t>
            </a:r>
            <a:r>
              <a:rPr lang="en-US" sz="2400" dirty="0">
                <a:latin typeface="Source Sans Pro"/>
                <a:ea typeface="Source Sans Pro"/>
              </a:rPr>
              <a:t> SAE packet input generation (SAECRED’s </a:t>
            </a:r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engine)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Handle bit vector SMT constraints not expressible in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latin typeface="Source Sans Pro"/>
              <a:ea typeface="Source Sans Pro"/>
            </a:endParaRPr>
          </a:p>
          <a:p>
            <a:r>
              <a:rPr lang="en-US" sz="2400" dirty="0">
                <a:latin typeface="Source Sans Pro"/>
                <a:ea typeface="Source Sans Pro"/>
              </a:rPr>
              <a:t>36x improvement in efficiency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Able to produce outputs for more than twice the number of grammars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(~24,000 / ~97,000</a:t>
            </a:r>
            <a:r>
              <a:rPr lang="en-US" sz="2400" dirty="0">
                <a:latin typeface="Source Sans Pro"/>
                <a:ea typeface="Source Sans Pro"/>
              </a:rPr>
              <a:t> up to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~49,000 / ~97,000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88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User-facing language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Synthesized</a:t>
            </a:r>
            <a:r>
              <a:rPr lang="en-US" sz="2000" dirty="0">
                <a:latin typeface="Source Sans Pro"/>
                <a:ea typeface="Source Sans Pro"/>
              </a:rPr>
              <a:t> and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inherited attributes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User-defined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recursive functions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Built-ins like polymorphic </a:t>
            </a: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length(.) </a:t>
            </a:r>
            <a:r>
              <a:rPr lang="en-US" sz="2000" dirty="0">
                <a:latin typeface="Source Sans Pro"/>
                <a:ea typeface="Source Sans Pro"/>
              </a:rPr>
              <a:t>function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powerful type system (e.g.,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polymorphism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CDCL-style </a:t>
            </a:r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backjumping</a:t>
            </a:r>
            <a:endParaRPr lang="en-US" sz="2400" dirty="0">
              <a:latin typeface="Source Sans Pro"/>
              <a:ea typeface="Source Sans Pro"/>
            </a:endParaRPr>
          </a:p>
          <a:p>
            <a:r>
              <a:rPr lang="en-US" sz="2400" dirty="0">
                <a:latin typeface="Source Sans Pro"/>
                <a:ea typeface="Source Sans Pro"/>
              </a:rPr>
              <a:t>More search engines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AI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abstraction/refinement </a:t>
            </a:r>
            <a:r>
              <a:rPr lang="en-US" sz="2000" dirty="0">
                <a:latin typeface="Source Sans Pro"/>
                <a:ea typeface="Source Sans Pro"/>
              </a:rPr>
              <a:t>algorithms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Divide and conquer</a:t>
            </a:r>
            <a:r>
              <a:rPr lang="en-US" sz="2000" dirty="0">
                <a:latin typeface="Source Sans Pro"/>
                <a:ea typeface="Source Sans Pro"/>
              </a:rPr>
              <a:t> and/or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parallel</a:t>
            </a:r>
            <a:r>
              <a:rPr lang="en-US" sz="2000" dirty="0">
                <a:latin typeface="Source Sans Pro"/>
                <a:ea typeface="Source Sans Pro"/>
              </a:rPr>
              <a:t> approaches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CLP </a:t>
            </a:r>
            <a:r>
              <a:rPr lang="en-US" sz="2000" dirty="0">
                <a:latin typeface="Source Sans Pro"/>
                <a:ea typeface="Source Sans Pro"/>
              </a:rPr>
              <a:t>and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SMT-level finite model finding </a:t>
            </a:r>
            <a:r>
              <a:rPr lang="en-US" sz="2000" dirty="0">
                <a:latin typeface="Source Sans Pro"/>
                <a:ea typeface="Source Sans Pro"/>
              </a:rPr>
              <a:t>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7881</TotalTime>
  <Words>3700</Words>
  <Application>Microsoft Macintosh PowerPoint</Application>
  <PresentationFormat>Widescreen</PresentationFormat>
  <Paragraphs>687</Paragraphs>
  <Slides>78</Slides>
  <Notes>14</Notes>
  <HiddenSlides>29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1" baseType="lpstr">
      <vt:lpstr>American Typewriter</vt:lpstr>
      <vt:lpstr>Aptos</vt:lpstr>
      <vt:lpstr>Aptos Display</vt:lpstr>
      <vt:lpstr>Arial</vt:lpstr>
      <vt:lpstr>Avenir Next</vt:lpstr>
      <vt:lpstr>Book Antiqua</vt:lpstr>
      <vt:lpstr>Calibri</vt:lpstr>
      <vt:lpstr>Cambria Math</vt:lpstr>
      <vt:lpstr>Menlo</vt:lpstr>
      <vt:lpstr>Monaco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PowerPoint Presentation</vt:lpstr>
      <vt:lpstr>Formal Guarantees</vt:lpstr>
      <vt:lpstr>PowerPoint Presentation</vt:lpstr>
      <vt:lpstr>Evaluation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841</cp:revision>
  <dcterms:created xsi:type="dcterms:W3CDTF">2026-03-16T17:02:12Z</dcterms:created>
  <dcterms:modified xsi:type="dcterms:W3CDTF">2026-04-06T22:28:04Z</dcterms:modified>
</cp:coreProperties>
</file>