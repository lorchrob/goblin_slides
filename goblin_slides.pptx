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80"/>
  </p:notesMasterIdLst>
  <p:sldIdLst>
    <p:sldId id="256" r:id="rId2"/>
    <p:sldId id="379" r:id="rId3"/>
    <p:sldId id="382" r:id="rId4"/>
    <p:sldId id="403" r:id="rId5"/>
    <p:sldId id="318" r:id="rId6"/>
    <p:sldId id="383" r:id="rId7"/>
    <p:sldId id="324" r:id="rId8"/>
    <p:sldId id="384" r:id="rId9"/>
    <p:sldId id="402" r:id="rId10"/>
    <p:sldId id="385" r:id="rId11"/>
    <p:sldId id="386" r:id="rId12"/>
    <p:sldId id="395" r:id="rId13"/>
    <p:sldId id="387" r:id="rId14"/>
    <p:sldId id="398" r:id="rId15"/>
    <p:sldId id="397" r:id="rId16"/>
    <p:sldId id="332" r:id="rId17"/>
    <p:sldId id="331" r:id="rId18"/>
    <p:sldId id="389" r:id="rId19"/>
    <p:sldId id="390" r:id="rId20"/>
    <p:sldId id="388" r:id="rId21"/>
    <p:sldId id="391" r:id="rId22"/>
    <p:sldId id="322" r:id="rId23"/>
    <p:sldId id="323" r:id="rId24"/>
    <p:sldId id="325" r:id="rId25"/>
    <p:sldId id="326" r:id="rId26"/>
    <p:sldId id="327" r:id="rId27"/>
    <p:sldId id="368" r:id="rId28"/>
    <p:sldId id="369" r:id="rId29"/>
    <p:sldId id="377" r:id="rId30"/>
    <p:sldId id="328" r:id="rId31"/>
    <p:sldId id="329" r:id="rId32"/>
    <p:sldId id="321" r:id="rId33"/>
    <p:sldId id="338" r:id="rId34"/>
    <p:sldId id="339" r:id="rId35"/>
    <p:sldId id="404" r:id="rId36"/>
    <p:sldId id="405" r:id="rId37"/>
    <p:sldId id="406" r:id="rId38"/>
    <p:sldId id="344" r:id="rId39"/>
    <p:sldId id="407" r:id="rId40"/>
    <p:sldId id="345" r:id="rId41"/>
    <p:sldId id="333" r:id="rId42"/>
    <p:sldId id="346" r:id="rId43"/>
    <p:sldId id="347" r:id="rId44"/>
    <p:sldId id="348" r:id="rId45"/>
    <p:sldId id="349" r:id="rId46"/>
    <p:sldId id="350" r:id="rId47"/>
    <p:sldId id="334" r:id="rId48"/>
    <p:sldId id="351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64" r:id="rId58"/>
    <p:sldId id="365" r:id="rId59"/>
    <p:sldId id="393" r:id="rId60"/>
    <p:sldId id="394" r:id="rId61"/>
    <p:sldId id="401" r:id="rId62"/>
    <p:sldId id="366" r:id="rId63"/>
    <p:sldId id="367" r:id="rId64"/>
    <p:sldId id="399" r:id="rId65"/>
    <p:sldId id="352" r:id="rId66"/>
    <p:sldId id="336" r:id="rId67"/>
    <p:sldId id="353" r:id="rId68"/>
    <p:sldId id="337" r:id="rId69"/>
    <p:sldId id="355" r:id="rId70"/>
    <p:sldId id="300" r:id="rId71"/>
    <p:sldId id="317" r:id="rId72"/>
    <p:sldId id="370" r:id="rId73"/>
    <p:sldId id="371" r:id="rId74"/>
    <p:sldId id="372" r:id="rId75"/>
    <p:sldId id="373" r:id="rId76"/>
    <p:sldId id="374" r:id="rId77"/>
    <p:sldId id="375" r:id="rId78"/>
    <p:sldId id="376" r:id="rId7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0EFFF"/>
    <a:srgbClr val="008080"/>
    <a:srgbClr val="15BBC0"/>
    <a:srgbClr val="60E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73" autoAdjust="0"/>
    <p:restoredTop sz="76623"/>
  </p:normalViewPr>
  <p:slideViewPr>
    <p:cSldViewPr snapToGrid="0">
      <p:cViewPr>
        <p:scale>
          <a:sx n="124" d="100"/>
          <a:sy n="124" d="100"/>
        </p:scale>
        <p:origin x="992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10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496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081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0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749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8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96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4693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9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153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34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0491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63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1567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496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=3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𝑘=3</a:t>
                </a:r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3966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4 – CLP, SMT datatype finite model finding, AI abstraction/refinement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256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6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4" Type="http://schemas.openxmlformats.org/officeDocument/2006/relationships/image" Target="../media/image29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50.png"/><Relationship Id="rId7" Type="http://schemas.openxmlformats.org/officeDocument/2006/relationships/image" Target="../media/image52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10" Type="http://schemas.openxmlformats.org/officeDocument/2006/relationships/image" Target="../media/image57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59.png"/><Relationship Id="rId7" Type="http://schemas.openxmlformats.org/officeDocument/2006/relationships/image" Target="../media/image6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54.png"/><Relationship Id="rId10" Type="http://schemas.openxmlformats.org/officeDocument/2006/relationships/image" Target="../media/image49.png"/><Relationship Id="rId4" Type="http://schemas.openxmlformats.org/officeDocument/2006/relationships/image" Target="../media/image58.png"/><Relationship Id="rId9" Type="http://schemas.openxmlformats.org/officeDocument/2006/relationships/image" Target="../media/image56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61.png"/><Relationship Id="rId7" Type="http://schemas.openxmlformats.org/officeDocument/2006/relationships/image" Target="../media/image6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63.png"/><Relationship Id="rId10" Type="http://schemas.openxmlformats.org/officeDocument/2006/relationships/image" Target="../media/image49.png"/><Relationship Id="rId4" Type="http://schemas.openxmlformats.org/officeDocument/2006/relationships/image" Target="../media/image62.png"/><Relationship Id="rId9" Type="http://schemas.openxmlformats.org/officeDocument/2006/relationships/image" Target="../media/image5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12" Type="http://schemas.openxmlformats.org/officeDocument/2006/relationships/image" Target="../media/image7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7.png"/><Relationship Id="rId5" Type="http://schemas.openxmlformats.org/officeDocument/2006/relationships/image" Target="../media/image7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890" y="860877"/>
            <a:ext cx="8416954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Parse this! Summoning Context-Sensitive Inputs with Goblin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754944"/>
            <a:ext cx="12178018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Rob Lorch</a:t>
            </a:r>
            <a:r>
              <a:rPr lang="en-US" b="1" baseline="300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Muhammad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Daniyal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Pirwani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Dar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Cesare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Tinelli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&amp; Omar Chowdhury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University of Iowa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Stony Brook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April 17, 2026</a:t>
            </a:r>
          </a:p>
        </p:txBody>
      </p:sp>
      <p:pic>
        <p:nvPicPr>
          <p:cNvPr id="1026" name="Picture 2" descr="Stony Brook University - AEE East | Energy Conference &amp; Expo">
            <a:extLst>
              <a:ext uri="{FF2B5EF4-FFF2-40B4-BE49-F238E27FC236}">
                <a16:creationId xmlns:a16="http://schemas.microsoft.com/office/drawing/2014/main" id="{67E61FAC-85FF-7D6E-3FD5-6755D886C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154" y="4174055"/>
            <a:ext cx="2474956" cy="2474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yellow and black logo&#10;&#10;Description automatically generated">
            <a:extLst>
              <a:ext uri="{FF2B5EF4-FFF2-40B4-BE49-F238E27FC236}">
                <a16:creationId xmlns:a16="http://schemas.microsoft.com/office/drawing/2014/main" id="{D147DA91-98FA-6EF7-80B3-0C149FA110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7"/>
          <a:stretch/>
        </p:blipFill>
        <p:spPr>
          <a:xfrm>
            <a:off x="1604891" y="4615061"/>
            <a:ext cx="2357510" cy="18177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Notes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15 minute slot (including Q+A!)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Want to give a taste/ad for the approach and focus on what distinguishes us from prior 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I should hit on (1) ADT view, (2) incremental solving, (3) local constraints, (4) minimality/compile target, (5) correctness, (maybe 6) language emptiness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Remove/heavily cut other stuff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77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Story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 in L problem, L can be context-free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XML example, shortcomings of context-free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address shortcoming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 constraint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Global approach, </a:t>
            </a:r>
            <a:r>
              <a:rPr lang="en-US" dirty="0" err="1">
                <a:latin typeface="Avenir Next" panose="020B0503020202020204" pitchFamily="34" charset="0"/>
                <a:ea typeface="Source Sans Pro"/>
              </a:rPr>
              <a:t>ISLa</a:t>
            </a:r>
            <a:r>
              <a:rPr lang="en-US" dirty="0">
                <a:latin typeface="Avenir Next" panose="020B0503020202020204" pitchFamily="34" charset="0"/>
                <a:ea typeface="Source Sans Pro"/>
              </a:rPr>
              <a:t>,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Local approach, costs and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Then that’s not the only difference, this is an overview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Fandango different philosophy, mutation-guided (not enough time), sometimes doesn’t converge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don’t focus on usability; user-facing language is future work (minimality is a virtue for us)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Now we talk about some features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have used in our group for some success in practice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Less text</a:t>
            </a: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068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FA084-8710-CC77-0DF3-3BD1E552C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5000"/>
                    <a:lumOff val="25000"/>
                  </a:schemeClr>
                </a:solidFill>
                <a:latin typeface="Avenir Next" panose="020B0503020202020204" pitchFamily="34" charset="0"/>
              </a:rPr>
              <a:t>Automated Testing and Security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974ADA-09BE-1C13-E065-C052B4CE8899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507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3C4FD3E-A5C4-D874-7D10-1E37F833DA17}"/>
                  </a:ext>
                </a:extLst>
              </p:cNvPr>
              <p:cNvSpPr/>
              <p:nvPr/>
            </p:nvSpPr>
            <p:spPr>
              <a:xfrm>
                <a:off x="1549400" y="5155639"/>
                <a:ext cx="9027730" cy="102197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8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8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3C4FD3E-A5C4-D874-7D10-1E37F833DA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400" y="5155639"/>
                <a:ext cx="9027730" cy="10219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31571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Some software systems have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highly complex input formats</a:t>
            </a:r>
          </a:p>
          <a:p>
            <a:pPr marL="0" indent="0" algn="ctr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3EEA2D-F9BD-BF81-C301-4B02D0118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536" y="2848161"/>
            <a:ext cx="1284941" cy="12849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9C2E0-A707-0EEA-9BC8-082FFB744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7549" y="2848161"/>
            <a:ext cx="1284941" cy="12849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3997B6-3381-0532-1030-CB0FE4AC9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042" y="2848161"/>
            <a:ext cx="1284941" cy="1284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47F9CA-1D8F-6395-5BC4-592AB2423026}"/>
              </a:ext>
            </a:extLst>
          </p:cNvPr>
          <p:cNvSpPr txBox="1"/>
          <p:nvPr/>
        </p:nvSpPr>
        <p:spPr>
          <a:xfrm>
            <a:off x="1722422" y="4305854"/>
            <a:ext cx="1221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Compilers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020749-6177-6FB8-6A9C-5E56F5BE6871}"/>
              </a:ext>
            </a:extLst>
          </p:cNvPr>
          <p:cNvSpPr txBox="1"/>
          <p:nvPr/>
        </p:nvSpPr>
        <p:spPr>
          <a:xfrm>
            <a:off x="5119042" y="4305854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File renderers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7248BB-8215-C990-FC49-2872D4DEA71C}"/>
              </a:ext>
            </a:extLst>
          </p:cNvPr>
          <p:cNvSpPr txBox="1"/>
          <p:nvPr/>
        </p:nvSpPr>
        <p:spPr>
          <a:xfrm>
            <a:off x="7885367" y="4305854"/>
            <a:ext cx="269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Network protocol stacks</a:t>
            </a:r>
          </a:p>
        </p:txBody>
      </p:sp>
    </p:spTree>
    <p:extLst>
      <p:ext uri="{BB962C8B-B14F-4D97-AF65-F5344CB8AC3E}">
        <p14:creationId xmlns:p14="http://schemas.microsoft.com/office/powerpoint/2010/main" val="176792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/>
      <p:bldP spid="10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  <a:blipFill>
                <a:blip r:embed="rId2"/>
                <a:stretch>
                  <a:fillRect t="-21951" b="-268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0DB44-1BC3-0F53-4986-676B89E3EEE9}"/>
              </a:ext>
            </a:extLst>
          </p:cNvPr>
          <p:cNvSpPr txBox="1"/>
          <p:nvPr/>
        </p:nvSpPr>
        <p:spPr>
          <a:xfrm>
            <a:off x="9151036" y="2298610"/>
            <a:ext cx="1872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Context-free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E5A173C-5929-8B3B-9654-5611D5ABD283}"/>
              </a:ext>
            </a:extLst>
          </p:cNvPr>
          <p:cNvSpPr/>
          <p:nvPr/>
        </p:nvSpPr>
        <p:spPr>
          <a:xfrm>
            <a:off x="9859853" y="1836954"/>
            <a:ext cx="454997" cy="45499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5827328-322F-3548-D958-E7BDCBC54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897" y="3112745"/>
            <a:ext cx="1116387" cy="11163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68BEB7-6722-E469-0DFE-B1BD781601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12" y="3163387"/>
            <a:ext cx="1015104" cy="10151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456E43E-E56F-6655-09B1-BB6C1BF500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8037" y="4239406"/>
            <a:ext cx="935245" cy="93524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57A5238-6196-E3F3-AD26-6A3095B77936}"/>
              </a:ext>
            </a:extLst>
          </p:cNvPr>
          <p:cNvSpPr/>
          <p:nvPr/>
        </p:nvSpPr>
        <p:spPr>
          <a:xfrm>
            <a:off x="4416478" y="3515709"/>
            <a:ext cx="6515226" cy="13255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work shows context-free input generation often works in practice!</a:t>
            </a:r>
          </a:p>
        </p:txBody>
      </p:sp>
    </p:spTree>
    <p:extLst>
      <p:ext uri="{BB962C8B-B14F-4D97-AF65-F5344CB8AC3E}">
        <p14:creationId xmlns:p14="http://schemas.microsoft.com/office/powerpoint/2010/main" val="213121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F69EFD-4436-3500-65BE-601485D43C31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DF50D7-EB5F-3F79-D75F-CB0416C17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6166" y="3468109"/>
            <a:ext cx="661423" cy="66142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812A314-EDC7-0233-6FA3-220DFFEDE2EA}"/>
              </a:ext>
            </a:extLst>
          </p:cNvPr>
          <p:cNvGrpSpPr/>
          <p:nvPr/>
        </p:nvGrpSpPr>
        <p:grpSpPr>
          <a:xfrm>
            <a:off x="558822" y="2197266"/>
            <a:ext cx="6263576" cy="4094635"/>
            <a:chOff x="1681748" y="2377721"/>
            <a:chExt cx="6263576" cy="4094635"/>
          </a:xfrm>
        </p:grpSpPr>
        <p:pic>
          <p:nvPicPr>
            <p:cNvPr id="7" name="Picture 6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8E94A421-C755-47DC-7043-F75A9DDCF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C0EF8C7A-2B0F-D041-A8EA-7A8F661152F9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5999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EAE2D54-E6B2-A25B-70C4-C0618A2C3953}"/>
              </a:ext>
            </a:extLst>
          </p:cNvPr>
          <p:cNvGrpSpPr/>
          <p:nvPr/>
        </p:nvGrpSpPr>
        <p:grpSpPr>
          <a:xfrm>
            <a:off x="558822" y="2197266"/>
            <a:ext cx="6263576" cy="4094635"/>
            <a:chOff x="1681748" y="2377721"/>
            <a:chExt cx="6263576" cy="4094635"/>
          </a:xfrm>
        </p:grpSpPr>
        <p:pic>
          <p:nvPicPr>
            <p:cNvPr id="21" name="Picture 20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ADD973F0-4743-0781-A8E0-98D72E19DB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22" name="Content Placeholder 2">
              <a:extLst>
                <a:ext uri="{FF2B5EF4-FFF2-40B4-BE49-F238E27FC236}">
                  <a16:creationId xmlns:a16="http://schemas.microsoft.com/office/drawing/2014/main" id="{D0365468-C33B-084A-720C-FF33BE1D5D2E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198017-F6C1-155B-43ED-96A6DE07A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1455" y="3530240"/>
            <a:ext cx="558800" cy="55880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4D84DDC-3470-44A2-0430-22A0CC5A2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FAAF84-A056-0989-33F3-7110D0B1F8C4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0E74E04-FDC8-55C3-909E-327AD02B6E78}"/>
              </a:ext>
            </a:extLst>
          </p:cNvPr>
          <p:cNvSpPr/>
          <p:nvPr/>
        </p:nvSpPr>
        <p:spPr>
          <a:xfrm>
            <a:off x="6745109" y="263587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</p:spTree>
    <p:extLst>
      <p:ext uri="{BB962C8B-B14F-4D97-AF65-F5344CB8AC3E}">
        <p14:creationId xmlns:p14="http://schemas.microsoft.com/office/powerpoint/2010/main" val="4125671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/>
              <p:nvPr/>
            </p:nvSpPr>
            <p:spPr>
              <a:xfrm>
                <a:off x="1193800" y="1790700"/>
                <a:ext cx="9867900" cy="61493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Goblin’s problem definition: Given context-sensitive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3800" y="1790700"/>
                <a:ext cx="9867900" cy="614937"/>
              </a:xfrm>
              <a:prstGeom prst="rect">
                <a:avLst/>
              </a:prstGeom>
              <a:blipFill>
                <a:blip r:embed="rId3"/>
                <a:stretch>
                  <a:fillRect b="-1020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103523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825625"/>
                <a:ext cx="12192000" cy="624555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825625"/>
                <a:ext cx="12192000" cy="624555"/>
              </a:xfrm>
              <a:blipFill>
                <a:blip r:embed="rId3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947693-DBDC-C971-FF7C-70B04F340A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9DC34F-83E3-8286-F30B-63B442B221BE}"/>
              </a:ext>
            </a:extLst>
          </p:cNvPr>
          <p:cNvCxnSpPr>
            <a:cxnSpLocks/>
            <a:stCxn id="13" idx="6"/>
            <a:endCxn id="6" idx="1"/>
          </p:cNvCxnSpPr>
          <p:nvPr/>
        </p:nvCxnSpPr>
        <p:spPr>
          <a:xfrm>
            <a:off x="3121972" y="3725748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6E3B9C7-268D-A9CF-E733-26FCC2D488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0FFFF65-FFFD-052C-EE9F-771328F10C4F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C339CD-9526-8259-3F76-5B62D9F6F327}"/>
                  </a:ext>
                </a:extLst>
              </p:cNvPr>
              <p:cNvSpPr txBox="1"/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C339CD-9526-8259-3F76-5B62D9F6F3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blipFill>
                <a:blip r:embed="rId5"/>
                <a:stretch>
                  <a:fillRect l="-136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391AC7-2107-DBEF-68E5-55798A9762F5}"/>
                  </a:ext>
                </a:extLst>
              </p:cNvPr>
              <p:cNvSpPr txBox="1"/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391AC7-2107-DBEF-68E5-55798A9762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141FD27B-91E8-1D25-C92E-1BDB5EA3E998}"/>
              </a:ext>
            </a:extLst>
          </p:cNvPr>
          <p:cNvSpPr/>
          <p:nvPr/>
        </p:nvSpPr>
        <p:spPr>
          <a:xfrm>
            <a:off x="1606815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C9E426F-47A8-0770-5BBB-310B9139230D}"/>
              </a:ext>
            </a:extLst>
          </p:cNvPr>
          <p:cNvSpPr/>
          <p:nvPr/>
        </p:nvSpPr>
        <p:spPr>
          <a:xfrm>
            <a:off x="1470455" y="2868761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5EA64FA-2384-A014-5053-12AE09F4984E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5EA64FA-2384-A014-5053-12AE09F498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Oval 14">
            <a:extLst>
              <a:ext uri="{FF2B5EF4-FFF2-40B4-BE49-F238E27FC236}">
                <a16:creationId xmlns:a16="http://schemas.microsoft.com/office/drawing/2014/main" id="{08EB8ACF-C99F-17EA-1818-EC0CBF367CD3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993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4ED21C9-BC1B-78EC-DDC3-83100131FCA9}"/>
              </a:ext>
            </a:extLst>
          </p:cNvPr>
          <p:cNvSpPr/>
          <p:nvPr/>
        </p:nvSpPr>
        <p:spPr>
          <a:xfrm>
            <a:off x="7403417" y="4216486"/>
            <a:ext cx="2804812" cy="806816"/>
          </a:xfrm>
          <a:prstGeom prst="roundRect">
            <a:avLst/>
          </a:prstGeom>
          <a:solidFill>
            <a:srgbClr val="E0E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E2A1F9D1-CB08-7BC6-78AE-EC96FCF51271}"/>
              </a:ext>
            </a:extLst>
          </p:cNvPr>
          <p:cNvSpPr/>
          <p:nvPr/>
        </p:nvSpPr>
        <p:spPr>
          <a:xfrm>
            <a:off x="7391475" y="3043420"/>
            <a:ext cx="2804812" cy="806816"/>
          </a:xfrm>
          <a:prstGeom prst="roundRect">
            <a:avLst/>
          </a:prstGeom>
          <a:solidFill>
            <a:srgbClr val="E0E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9" idx="6"/>
            <a:endCxn id="8" idx="1"/>
          </p:cNvCxnSpPr>
          <p:nvPr/>
        </p:nvCxnSpPr>
        <p:spPr>
          <a:xfrm>
            <a:off x="3121972" y="3725748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blipFill>
                <a:blip r:embed="rId4"/>
                <a:stretch>
                  <a:fillRect l="-136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/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A4E1ADE6-B837-A6A6-FEEB-E51FBDC51154}"/>
              </a:ext>
            </a:extLst>
          </p:cNvPr>
          <p:cNvSpPr/>
          <p:nvPr/>
        </p:nvSpPr>
        <p:spPr>
          <a:xfrm>
            <a:off x="1606815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391476" y="3316004"/>
                <a:ext cx="2804812" cy="1593496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514350" indent="-514350" algn="ctr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sSup>
                      <m:sSup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76" y="3316004"/>
                <a:ext cx="2804812" cy="15934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Oval 28">
            <a:extLst>
              <a:ext uri="{FF2B5EF4-FFF2-40B4-BE49-F238E27FC236}">
                <a16:creationId xmlns:a16="http://schemas.microsoft.com/office/drawing/2014/main" id="{3CD48054-789C-4089-64DB-54E4FF2B8A0F}"/>
              </a:ext>
            </a:extLst>
          </p:cNvPr>
          <p:cNvSpPr/>
          <p:nvPr/>
        </p:nvSpPr>
        <p:spPr>
          <a:xfrm>
            <a:off x="1470455" y="2868761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F6DF8-21DE-12FC-8A8C-BB1E228205DF}"/>
              </a:ext>
            </a:extLst>
          </p:cNvPr>
          <p:cNvSpPr txBox="1"/>
          <p:nvPr/>
        </p:nvSpPr>
        <p:spPr>
          <a:xfrm>
            <a:off x="7514142" y="5047266"/>
            <a:ext cx="2600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Constraint-aware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9A901-9D17-FABE-4D28-9EC3111D34B7}"/>
              </a:ext>
            </a:extLst>
          </p:cNvPr>
          <p:cNvSpPr txBox="1"/>
          <p:nvPr/>
        </p:nvSpPr>
        <p:spPr>
          <a:xfrm>
            <a:off x="7661132" y="2601212"/>
            <a:ext cx="24609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Constraint-blind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  <a:blipFill>
                <a:blip r:embed="rId8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C245915-F3F7-9DB7-8B3B-27DE4A8D0059}"/>
              </a:ext>
            </a:extLst>
          </p:cNvPr>
          <p:cNvSpPr txBox="1"/>
          <p:nvPr/>
        </p:nvSpPr>
        <p:spPr>
          <a:xfrm>
            <a:off x="7825114" y="3080814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DB51C2-7C4B-CE1A-23FE-38EF7DDBD85C}"/>
              </a:ext>
            </a:extLst>
          </p:cNvPr>
          <p:cNvSpPr txBox="1"/>
          <p:nvPr/>
        </p:nvSpPr>
        <p:spPr>
          <a:xfrm>
            <a:off x="8755689" y="3080814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178D76-18C9-B5FA-AD72-CF59AFFCB1A3}"/>
              </a:ext>
            </a:extLst>
          </p:cNvPr>
          <p:cNvSpPr txBox="1"/>
          <p:nvPr/>
        </p:nvSpPr>
        <p:spPr>
          <a:xfrm>
            <a:off x="7882742" y="4690758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0CD2DC-3D6B-62FA-102B-CE69D67A5C65}"/>
              </a:ext>
            </a:extLst>
          </p:cNvPr>
          <p:cNvSpPr txBox="1"/>
          <p:nvPr/>
        </p:nvSpPr>
        <p:spPr>
          <a:xfrm>
            <a:off x="8849593" y="4690758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4185EF1-F490-34FF-D4DF-46829B1C317A}"/>
              </a:ext>
            </a:extLst>
          </p:cNvPr>
          <p:cNvSpPr/>
          <p:nvPr/>
        </p:nvSpPr>
        <p:spPr>
          <a:xfrm>
            <a:off x="8829045" y="3398178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92CD5A-D40E-4D6A-19A1-74C4CE5EEDCA}"/>
              </a:ext>
            </a:extLst>
          </p:cNvPr>
          <p:cNvSpPr/>
          <p:nvPr/>
        </p:nvSpPr>
        <p:spPr>
          <a:xfrm>
            <a:off x="7967544" y="4413505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267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9" grpId="0"/>
      <p:bldP spid="20" grpId="0"/>
      <p:bldP spid="23" grpId="0"/>
      <p:bldP spid="2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blipFill>
                <a:blip r:embed="rId3"/>
                <a:stretch>
                  <a:fillRect l="-1054" t="-10526" r="-151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0203C09-1E39-A6C4-1F75-85612EDE60E9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/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676326B-10E2-B23E-27F2-CFD884AF5338}"/>
              </a:ext>
            </a:extLst>
          </p:cNvPr>
          <p:cNvSpPr txBox="1"/>
          <p:nvPr/>
        </p:nvSpPr>
        <p:spPr>
          <a:xfrm>
            <a:off x="3541338" y="3790973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/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blipFill>
                <a:blip r:embed="rId5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1C64464-9F14-94B1-6CF8-6983804B0715}"/>
              </a:ext>
            </a:extLst>
          </p:cNvPr>
          <p:cNvSpPr txBox="1"/>
          <p:nvPr/>
        </p:nvSpPr>
        <p:spPr>
          <a:xfrm>
            <a:off x="7728755" y="3780129"/>
            <a:ext cx="957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25AEC0-29EF-CEAD-45E8-BF7A6B05870D}"/>
              </a:ext>
            </a:extLst>
          </p:cNvPr>
          <p:cNvSpPr txBox="1"/>
          <p:nvPr/>
        </p:nvSpPr>
        <p:spPr>
          <a:xfrm>
            <a:off x="2202738" y="3963593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4DD88F-DF21-27FA-90A3-A075C8B3B59A}"/>
              </a:ext>
            </a:extLst>
          </p:cNvPr>
          <p:cNvSpPr txBox="1"/>
          <p:nvPr/>
        </p:nvSpPr>
        <p:spPr>
          <a:xfrm>
            <a:off x="5993919" y="3952749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85ACFC-9578-83B3-539E-340C3D7059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0672" y="3637278"/>
            <a:ext cx="630942" cy="630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057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5AF4EB60-0F98-D35F-1F34-52003CC39B34}"/>
              </a:ext>
            </a:extLst>
          </p:cNvPr>
          <p:cNvSpPr/>
          <p:nvPr/>
        </p:nvSpPr>
        <p:spPr>
          <a:xfrm>
            <a:off x="1249656" y="5227813"/>
            <a:ext cx="9906824" cy="8763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59236F1A-83D2-B4FA-1021-588808FBF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0687" y="2964219"/>
            <a:ext cx="636855" cy="6368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2939" y="5425720"/>
            <a:ext cx="450996" cy="45099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6B6AFCD-91B2-9DB5-5715-EDCBE177347D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/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/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/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blipFill>
                <a:blip r:embed="rId8"/>
                <a:stretch>
                  <a:fillRect l="-2691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809FDC2-42F6-C07B-FB40-6EF71D238AC2}"/>
              </a:ext>
            </a:extLst>
          </p:cNvPr>
          <p:cNvSpPr txBox="1"/>
          <p:nvPr/>
        </p:nvSpPr>
        <p:spPr>
          <a:xfrm>
            <a:off x="1839287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BEBE37-4F93-7186-2E0A-8769F48E0EFB}"/>
              </a:ext>
            </a:extLst>
          </p:cNvPr>
          <p:cNvSpPr txBox="1"/>
          <p:nvPr/>
        </p:nvSpPr>
        <p:spPr>
          <a:xfrm>
            <a:off x="5503702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91E4B5-60D0-63F5-E5F0-7111103C86E6}"/>
              </a:ext>
            </a:extLst>
          </p:cNvPr>
          <p:cNvSpPr txBox="1"/>
          <p:nvPr/>
        </p:nvSpPr>
        <p:spPr>
          <a:xfrm>
            <a:off x="9681835" y="3625252"/>
            <a:ext cx="957313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0C3DAE-1D4C-8BC6-8399-F56FF6138499}"/>
              </a:ext>
            </a:extLst>
          </p:cNvPr>
          <p:cNvSpPr txBox="1"/>
          <p:nvPr/>
        </p:nvSpPr>
        <p:spPr>
          <a:xfrm>
            <a:off x="476685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802573-06BF-16C8-B96E-0F9912A99C6D}"/>
              </a:ext>
            </a:extLst>
          </p:cNvPr>
          <p:cNvSpPr txBox="1"/>
          <p:nvPr/>
        </p:nvSpPr>
        <p:spPr>
          <a:xfrm>
            <a:off x="415482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A9DFFB-3DEC-61A8-410F-0E7419BC948B}"/>
              </a:ext>
            </a:extLst>
          </p:cNvPr>
          <p:cNvSpPr txBox="1"/>
          <p:nvPr/>
        </p:nvSpPr>
        <p:spPr>
          <a:xfrm>
            <a:off x="786381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788877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B6AE49-2914-BCAA-438C-146F3340750B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C0987E7-023A-F38C-23EE-89494107021E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2DB15AE-93E5-CA80-A2D8-6513C938FD32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27189F-A622-C23A-163D-308E80DE6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17353" y="2248377"/>
            <a:ext cx="363161" cy="36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211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&lt;Type&gt; &lt;Length&gt;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&lt;Length&gt; &lt;Type&gt;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2436FE8-0F6D-E87D-11C2-6B590A502966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EF5AF4-6D6E-76D4-D3E1-512D2F6D22B7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54D4292-968C-E798-5419-9AC6C3A64583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</p:spTree>
    <p:extLst>
      <p:ext uri="{BB962C8B-B14F-4D97-AF65-F5344CB8AC3E}">
        <p14:creationId xmlns:p14="http://schemas.microsoft.com/office/powerpoint/2010/main" val="1854743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40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6" name="Table 8">
            <a:extLst>
              <a:ext uri="{FF2B5EF4-FFF2-40B4-BE49-F238E27FC236}">
                <a16:creationId xmlns:a16="http://schemas.microsoft.com/office/drawing/2014/main" id="{5FED09C4-8A83-A452-0AE5-1E1175B133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325522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7748B4FF-27A1-1B14-2354-79CC05C4DB02}"/>
              </a:ext>
            </a:extLst>
          </p:cNvPr>
          <p:cNvSpPr/>
          <p:nvPr/>
        </p:nvSpPr>
        <p:spPr>
          <a:xfrm>
            <a:off x="2857500" y="2425700"/>
            <a:ext cx="22098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888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7726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4965700" y="2393950"/>
            <a:ext cx="22352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DDCB7-4185-A659-1BFE-F8D708837AA5}"/>
              </a:ext>
            </a:extLst>
          </p:cNvPr>
          <p:cNvSpPr txBox="1"/>
          <p:nvPr/>
        </p:nvSpPr>
        <p:spPr>
          <a:xfrm>
            <a:off x="4191000" y="1836188"/>
            <a:ext cx="40352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before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American Typewriter" panose="02090604020004020304" pitchFamily="18" charset="77"/>
              </a:rPr>
              <a:t>after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pattern matching, …</a:t>
            </a:r>
          </a:p>
        </p:txBody>
      </p:sp>
    </p:spTree>
    <p:extLst>
      <p:ext uri="{BB962C8B-B14F-4D97-AF65-F5344CB8AC3E}">
        <p14:creationId xmlns:p14="http://schemas.microsoft.com/office/powerpoint/2010/main" val="3627545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4411718C-E5A1-FD06-1385-C76930B78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090117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9182100" y="2392144"/>
            <a:ext cx="2284763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49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153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Fandango’s performance depends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monotonicity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of constraints</a:t>
            </a: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CD0BD16D-41B1-71D0-024B-C231CB94D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142891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D378602-9FC7-F16F-2021-ACBBCD6B33C8}"/>
              </a:ext>
            </a:extLst>
          </p:cNvPr>
          <p:cNvSpPr/>
          <p:nvPr/>
        </p:nvSpPr>
        <p:spPr>
          <a:xfrm>
            <a:off x="7035800" y="2407023"/>
            <a:ext cx="22860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778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9E04DC-863A-6AD4-9FAD-A64A58F96C36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has already been used to help discover novel semantic bugs in widely-used software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1F30335D-5030-38BF-6693-CA819C9498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7821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701A92F-1A79-07C6-4460-3C6AF9A61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838649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8094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Use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grammars </a:t>
                </a:r>
                <a:r>
                  <a:rPr lang="en-US" dirty="0">
                    <a:latin typeface="Source Sans Pro"/>
                    <a:ea typeface="Source Sans Pro"/>
                  </a:rPr>
                  <a:t>(CFGs) to capture input structure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HTTP requests, DNS packets, </a:t>
                </a:r>
                <a:r>
                  <a:rPr lang="en-US" dirty="0" err="1">
                    <a:latin typeface="Source Sans Pro"/>
                    <a:ea typeface="Source Sans Pro"/>
                  </a:rPr>
                  <a:t>LangFuzz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Can only handle context-free aspects of the spec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Consider packet format with fields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dirty="0" err="1">
                    <a:latin typeface="Source Sans Pro"/>
                    <a:ea typeface="Source Sans Pro"/>
                  </a:rPr>
                  <a:t>s.t.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Tools tailor-made for the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system under test </a:t>
                </a:r>
                <a:r>
                  <a:rPr lang="en-US" dirty="0">
                    <a:latin typeface="Source Sans Pro"/>
                    <a:ea typeface="Source Sans Pro"/>
                  </a:rPr>
                  <a:t>(SUT)</a:t>
                </a:r>
              </a:p>
              <a:p>
                <a:pPr lvl="1"/>
                <a:r>
                  <a:rPr lang="en-US" dirty="0" err="1">
                    <a:latin typeface="Source Sans Pro"/>
                    <a:ea typeface="Source Sans Pro"/>
                  </a:rPr>
                  <a:t>CSmith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Lacks generality!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Coverage-guided mutation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How to generate an initial corpus?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What if no access to coverage information?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Mutations still blind to specification constraints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  <a:blipFill>
                <a:blip r:embed="rId2"/>
                <a:stretch>
                  <a:fillRect l="-1086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4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117FD7E-21BA-CBA0-9F15-68A43DEFEA78}"/>
              </a:ext>
            </a:extLst>
          </p:cNvPr>
          <p:cNvSpPr/>
          <p:nvPr/>
        </p:nvSpPr>
        <p:spPr>
          <a:xfrm>
            <a:off x="951263" y="3733101"/>
            <a:ext cx="10402537" cy="12247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Source Sans Pro"/>
                <a:ea typeface="Source Sans Pro"/>
              </a:rPr>
              <a:t>Refine CFG-based approaches to be more expressive, while maintaining their generality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Wishlist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34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An input generation approach that gives…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Generality of CFG-based approaches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Expressiveness and performance of tailor-made </a:t>
            </a:r>
            <a:r>
              <a:rPr lang="en-US" dirty="0" err="1">
                <a:latin typeface="Source Sans Pro"/>
                <a:ea typeface="Source Sans Pro"/>
              </a:rPr>
              <a:t>fuzzers</a:t>
            </a:r>
            <a:endParaRPr lang="en-US" dirty="0"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Termination? Well-formed inputs?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56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Introducing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AppleGothic" pitchFamily="2" charset="-127"/>
                <a:cs typeface="Courier New" panose="02070309020205020404" pitchFamily="49" charset="0"/>
              </a:rPr>
              <a:t>Goblin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Presenting </a:t>
                </a:r>
                <a:r>
                  <a:rPr lang="en-US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 input generation</a:t>
                </a:r>
                <a:r>
                  <a:rPr lang="en-US" dirty="0">
                    <a:latin typeface="Source Sans Pro"/>
                    <a:ea typeface="Source Sans Pro"/>
                  </a:rPr>
                  <a:t> tool, supported by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DSL</a:t>
                </a:r>
                <a:r>
                  <a:rPr lang="en-US" dirty="0">
                    <a:latin typeface="Source Sans Pro"/>
                    <a:ea typeface="Source Sans Pro"/>
                  </a:rPr>
                  <a:t> with a formal semantics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 </a:t>
                </a:r>
                <a:r>
                  <a:rPr lang="en-US" dirty="0">
                    <a:latin typeface="Source Sans Pro"/>
                    <a:ea typeface="Source Sans Pro"/>
                  </a:rPr>
                  <a:t>to address the underlying problem 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Supporting constraint solving over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arbitrary SMT theories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And evaluated in the context of real fuzzing workflows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Given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</a:t>
                </a:r>
                <a:r>
                  <a:rPr lang="en-US" dirty="0">
                    <a:latin typeface="Source Sans Pro"/>
                    <a:ea typeface="Source Sans Pro"/>
                  </a:rPr>
                  <a:t> grammar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What is a context-sensitive grammar? See ANTLR, </a:t>
                </a:r>
                <a:r>
                  <a:rPr lang="en-US" dirty="0" err="1">
                    <a:latin typeface="Source Sans Pro"/>
                    <a:ea typeface="Source Sans Pro"/>
                  </a:rPr>
                  <a:t>yacc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  <a:blipFill>
                <a:blip r:embed="rId2"/>
                <a:stretch>
                  <a:fillRect l="-1086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D435E02-A2DA-EB69-8ADB-735BFFEF0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5219267"/>
            <a:ext cx="7772400" cy="152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is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 dirty="0">
                <a:latin typeface="Source Sans Pro"/>
                <a:ea typeface="Source Sans Pro"/>
              </a:rPr>
              <a:t>, but not a (complete)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0638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DE158FE-9908-5EBD-F7BC-21851D607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5538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57D1C8-1195-8059-CB1A-CDB8B535175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049588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707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720438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595879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3601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Some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structure-aware mutations 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ATFuzz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, SAECRED)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8581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1269878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Production Rules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474" y="1683199"/>
            <a:ext cx="10515600" cy="446074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grammars have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production rules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as in CFGs</a:t>
            </a:r>
          </a:p>
          <a:p>
            <a:pPr marL="0" indent="0" algn="ctr">
              <a:buNone/>
            </a:pP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353BBB5-1BD8-E8E4-694F-A2E668785E21}"/>
              </a:ext>
            </a:extLst>
          </p:cNvPr>
          <p:cNvSpPr/>
          <p:nvPr/>
        </p:nvSpPr>
        <p:spPr>
          <a:xfrm>
            <a:off x="2806152" y="2508832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::= &lt;Type&gt; &lt;Aux&gt; &lt;Payload&gt;;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54B7C08-04ED-1D33-F71C-6859F5EA0BC2}"/>
              </a:ext>
            </a:extLst>
          </p:cNvPr>
          <p:cNvSpPr/>
          <p:nvPr/>
        </p:nvSpPr>
        <p:spPr>
          <a:xfrm>
            <a:off x="2795671" y="3641283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 ::= &lt;Field_1&gt; &lt;Field_2&gt; &lt;Bytes&gt;;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E423B08-21DF-070F-F343-7C2B7F49BF84}"/>
              </a:ext>
            </a:extLst>
          </p:cNvPr>
          <p:cNvSpPr/>
          <p:nvPr/>
        </p:nvSpPr>
        <p:spPr>
          <a:xfrm>
            <a:off x="2795670" y="4773734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&lt;Bytes&gt; ::= &lt;Byte&gt; &lt;Bytes&gt; | &lt;Byte&gt;;</a:t>
            </a:r>
          </a:p>
        </p:txBody>
      </p:sp>
    </p:spTree>
    <p:extLst>
      <p:ext uri="{BB962C8B-B14F-4D97-AF65-F5344CB8AC3E}">
        <p14:creationId xmlns:p14="http://schemas.microsoft.com/office/powerpoint/2010/main" val="26569219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Type Annotations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9750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symbolic terminals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(in </a:t>
            </a:r>
            <a:r>
              <a:rPr lang="en-US" sz="2400" dirty="0">
                <a:solidFill>
                  <a:srgbClr val="00808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teal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type annotations                               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rather than concrete terminals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06152" y="2591024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&lt;Field_1&gt;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541C77-0BDE-B60B-BFE0-6D1D757B482F}"/>
              </a:ext>
            </a:extLst>
          </p:cNvPr>
          <p:cNvSpPr/>
          <p:nvPr/>
        </p:nvSpPr>
        <p:spPr>
          <a:xfrm>
            <a:off x="2795671" y="3723475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&lt;Field_2&gt;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46AC10-EF23-17B3-8C9C-B456C6BBE005}"/>
              </a:ext>
            </a:extLst>
          </p:cNvPr>
          <p:cNvSpPr/>
          <p:nvPr/>
        </p:nvSpPr>
        <p:spPr>
          <a:xfrm>
            <a:off x="2795670" y="4855926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(8);</a:t>
            </a:r>
          </a:p>
        </p:txBody>
      </p:sp>
    </p:spTree>
    <p:extLst>
      <p:ext uri="{BB962C8B-B14F-4D97-AF65-F5344CB8AC3E}">
        <p14:creationId xmlns:p14="http://schemas.microsoft.com/office/powerpoint/2010/main" val="5389536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Refinement Types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06152" y="2591024"/>
            <a:ext cx="6600243" cy="70788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&lt;Field_1&gt; :: </a:t>
            </a:r>
            <a:r>
              <a:rPr lang="en-US" sz="24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541C77-0BDE-B60B-BFE0-6D1D757B482F}"/>
              </a:ext>
            </a:extLst>
          </p:cNvPr>
          <p:cNvSpPr/>
          <p:nvPr/>
        </p:nvSpPr>
        <p:spPr>
          <a:xfrm>
            <a:off x="2795671" y="3723475"/>
            <a:ext cx="6600243" cy="70788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&lt;Field_2&gt; :: </a:t>
            </a:r>
            <a:r>
              <a:rPr lang="en-US" sz="24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46AC10-EF23-17B3-8C9C-B456C6BBE005}"/>
              </a:ext>
            </a:extLst>
          </p:cNvPr>
          <p:cNvSpPr/>
          <p:nvPr/>
        </p:nvSpPr>
        <p:spPr>
          <a:xfrm>
            <a:off x="2795670" y="4855926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bvulte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0x88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};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E931099-BC56-9B94-D162-AA86127D4FE0}"/>
              </a:ext>
            </a:extLst>
          </p:cNvPr>
          <p:cNvSpPr txBox="1">
            <a:spLocks/>
          </p:cNvSpPr>
          <p:nvPr/>
        </p:nvSpPr>
        <p:spPr>
          <a:xfrm>
            <a:off x="838200" y="1683928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 symbolic terminals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refinement types</a:t>
            </a:r>
          </a:p>
          <a:p>
            <a:pPr marL="514350" indent="-514350" algn="ctr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062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Semantic Constraints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16426" y="2815525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&lt;Type&gt; =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0x01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=&gt;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&lt;Payload&gt;.&lt;Bytes&gt;.&lt;Byte&gt;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bvugt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0x20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2AFD94F-152C-B660-A756-F56C8FB419D6}"/>
              </a:ext>
            </a:extLst>
          </p:cNvPr>
          <p:cNvSpPr txBox="1">
            <a:spLocks/>
          </p:cNvSpPr>
          <p:nvPr/>
        </p:nvSpPr>
        <p:spPr>
          <a:xfrm>
            <a:off x="838200" y="159073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Attach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 constraints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to production rules; 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 types/functions/predicates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SMT-LIB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analogues</a:t>
            </a:r>
          </a:p>
          <a:p>
            <a:pPr marL="514350" indent="-514350" algn="ctr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0609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Reference child nonterminals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dot notation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&lt;Payload&gt;.&lt;Field_1&gt; </a:t>
            </a:r>
            <a:r>
              <a:rPr lang="en-US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D91244-29EE-20C8-08F0-C3A7D6D48FAA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Using local constraints, dot notation and SMT-LIB are enough to be as expressive as prior work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159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&lt;Aux&gt; &lt;- 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&lt;Payload&gt;.&lt;Field_1&gt;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798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&lt;Payload&gt;.&lt;Field_1&gt;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AD68E-49BE-08F0-1238-6ACCA014571A}"/>
              </a:ext>
            </a:extLst>
          </p:cNvPr>
          <p:cNvSpPr/>
          <p:nvPr/>
        </p:nvSpPr>
        <p:spPr>
          <a:xfrm>
            <a:off x="0" y="2837497"/>
            <a:ext cx="12198423" cy="20689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</a:rPr>
              <a:t>Reminder: Goblin is inherently minimal, as it is designed to be a compile target (not user-facing)</a:t>
            </a:r>
            <a:endParaRPr lang="en-US" dirty="0">
              <a:latin typeface="Avenir Next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49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Operators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=</a:t>
            </a:r>
            <a:r>
              <a:rPr lang="en-US" dirty="0">
                <a:latin typeface="Source Sans Pro"/>
                <a:ea typeface="Source Sans Pro"/>
              </a:rPr>
              <a:t> are semantically interchangeable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But try telling an SMT solver to find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x </a:t>
            </a:r>
            <a:r>
              <a:rPr lang="en-US" dirty="0">
                <a:latin typeface="Source Sans Pro"/>
                <a:ea typeface="Source Sans Pro"/>
              </a:rPr>
              <a:t>such that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hash(x) = y</a:t>
            </a:r>
            <a:r>
              <a:rPr lang="en-US" dirty="0">
                <a:latin typeface="Source Sans Pro"/>
                <a:ea typeface="Source Sans Pro"/>
              </a:rPr>
              <a:t>…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690688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4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5249037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77C1CA99-0B9C-8249-94C9-1CAAB8412E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52" y="2429452"/>
            <a:ext cx="7465296" cy="363371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semantically generates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 syntax trees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denoting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ADT terms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not strings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 a string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0x0106020321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EC37CF-BF49-D091-1D11-E8563E714281}"/>
              </a:ext>
            </a:extLst>
          </p:cNvPr>
          <p:cNvSpPr/>
          <p:nvPr/>
        </p:nvSpPr>
        <p:spPr>
          <a:xfrm>
            <a:off x="-207" y="5897265"/>
            <a:ext cx="12192000" cy="83651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ADT view allows Goblin to natively support constraints over arbitrary SMT theories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6293321-1E58-F318-93E1-CA0F6238B309}"/>
              </a:ext>
            </a:extLst>
          </p:cNvPr>
          <p:cNvSpPr/>
          <p:nvPr/>
        </p:nvSpPr>
        <p:spPr>
          <a:xfrm>
            <a:off x="-206" y="3171217"/>
            <a:ext cx="12192000" cy="107509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Britannic Bold" panose="020B0903060703020204" pitchFamily="34" charset="77"/>
              </a:rPr>
              <a:t>This also signifies that one should explicitly perform a separate serialization step to obtain a serialized string</a:t>
            </a:r>
          </a:p>
        </p:txBody>
      </p:sp>
    </p:spTree>
    <p:extLst>
      <p:ext uri="{BB962C8B-B14F-4D97-AF65-F5344CB8AC3E}">
        <p14:creationId xmlns:p14="http://schemas.microsoft.com/office/powerpoint/2010/main" val="31222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3" grpId="0" uiExpand="1" build="p"/>
      <p:bldP spid="3" grpId="1" uiExpand="1" build="p"/>
      <p:bldP spid="8" grpId="0" animBg="1"/>
      <p:bldP spid="8" grpId="1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0575"/>
            <a:ext cx="10515600" cy="32088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semantically frame 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 </a:t>
            </a:r>
            <a:r>
              <a:rPr lang="en-US" sz="2400" dirty="0">
                <a:latin typeface="Source Sans Pro"/>
                <a:ea typeface="Source Sans Pro"/>
              </a:rPr>
              <a:t>as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algebraic data type </a:t>
            </a:r>
            <a:r>
              <a:rPr lang="en-US" sz="2400" dirty="0">
                <a:latin typeface="Source Sans Pro"/>
                <a:ea typeface="Source Sans Pro"/>
              </a:rPr>
              <a:t>(ADT) term generator</a:t>
            </a:r>
          </a:p>
          <a:p>
            <a:r>
              <a:rPr lang="en-US" sz="2400" dirty="0">
                <a:latin typeface="Source Sans Pro"/>
                <a:ea typeface="Source Sans Pro"/>
              </a:rPr>
              <a:t>Without the ADT view, (SMT-based) prior work natively only supports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string constraints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The ADT view allows </a:t>
            </a:r>
            <a:r>
              <a:rPr lang="en-US" sz="2400" b="1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b="1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2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semantics</a:t>
                </a:r>
                <a:r>
                  <a:rPr lang="en-US" sz="2400" dirty="0">
                    <a:latin typeface="Source Sans Pro"/>
                    <a:ea typeface="Source Sans Pro"/>
                  </a:rPr>
                  <a:t>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are the set of ASTs that respect (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</a:t>
                </a:r>
                <a:r>
                  <a:rPr lang="en-US" sz="2400" dirty="0">
                    <a:latin typeface="Source Sans Pro"/>
                    <a:ea typeface="Source Sans Pro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context-free syntactic constraints and (ii)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context-sensitive semantic constraints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𝐴𝑆𝑇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𝐺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 = {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|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</a:t>
                </a:r>
                <a:r>
                  <a:rPr lang="en-US" b="0" dirty="0"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rooted at the start symbol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𝑣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is either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with children representing a production rule application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representing a type annotation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 or 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well-typed leaf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satisfies the constraints at every production rule application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0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DD73FF5-13E2-FE39-1D80-90BD1C98A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021921"/>
            <a:ext cx="7772400" cy="1816142"/>
          </a:xfrm>
          <a:prstGeom prst="rect">
            <a:avLst/>
          </a:prstGeom>
        </p:spPr>
      </p:pic>
      <p:pic>
        <p:nvPicPr>
          <p:cNvPr id="10" name="Picture 9" descr="A diagram of a algorithm&#10;&#10;Description automatically generated">
            <a:extLst>
              <a:ext uri="{FF2B5EF4-FFF2-40B4-BE49-F238E27FC236}">
                <a16:creationId xmlns:a16="http://schemas.microsoft.com/office/drawing/2014/main" id="{523DD31D-7B60-4EB5-53BE-EF3568327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799" y="3838063"/>
            <a:ext cx="5992401" cy="2724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EAA655-922A-B6C6-78E9-2A1504E6FC23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446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white rectangular object with red and blue text&#10;&#10;Description automatically generated">
            <a:extLst>
              <a:ext uri="{FF2B5EF4-FFF2-40B4-BE49-F238E27FC236}">
                <a16:creationId xmlns:a16="http://schemas.microsoft.com/office/drawing/2014/main" id="{E83891BD-834C-9668-1E66-E5EDEAF5E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943066"/>
            <a:ext cx="7772400" cy="1394610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98B5A5AF-B9A1-D290-AE0C-10BE9E1A9E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1046" y="3155866"/>
            <a:ext cx="6849494" cy="3388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A2AF8C-19AD-65CA-D7A9-BE489D68365B}"/>
              </a:ext>
            </a:extLst>
          </p:cNvPr>
          <p:cNvSpPr txBox="1"/>
          <p:nvPr/>
        </p:nvSpPr>
        <p:spPr>
          <a:xfrm>
            <a:off x="900463" y="1546292"/>
            <a:ext cx="89514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can mechanically verify that a given ADT term satisfies all the constraints</a:t>
            </a:r>
          </a:p>
        </p:txBody>
      </p:sp>
    </p:spTree>
    <p:extLst>
      <p:ext uri="{BB962C8B-B14F-4D97-AF65-F5344CB8AC3E}">
        <p14:creationId xmlns:p14="http://schemas.microsoft.com/office/powerpoint/2010/main" val="34482462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  <a:endParaRPr lang="en-US" b="1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018585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 Workflow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How does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find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𝐴𝑆𝑇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General workflow: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Context-free well-formedness and other syntactic checks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Type checking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Desugar refinement types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Disambiguate constraints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Abstract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Main search algorithm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Compute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Serialize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3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Well-formedness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Context-free language emptiness (e.g.,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 is a modeling issue, stemming from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non-well-founded recursion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perform a more general check denoted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Until reaching a fixpoint, iteratively expand a set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of nonterminals known to be able to produce finite derivations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Check every reachable nonterminal is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-up of a computer code&#10;&#10;Description automatically generated">
            <a:extLst>
              <a:ext uri="{FF2B5EF4-FFF2-40B4-BE49-F238E27FC236}">
                <a16:creationId xmlns:a16="http://schemas.microsoft.com/office/drawing/2014/main" id="{5BC2318A-CD71-9290-BF40-FEF1A129E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4225751"/>
            <a:ext cx="7772400" cy="188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0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Derived Field Checks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Derived fields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must be computable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without constraint solving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cyclic dependencies </a:t>
                </a:r>
                <a:r>
                  <a:rPr lang="en-US" sz="2400" dirty="0">
                    <a:latin typeface="Source Sans Pro"/>
                    <a:ea typeface="Source Sans Pro"/>
                  </a:rPr>
                  <a:t>(e.g.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;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[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derived fields in semantic constraints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Two stages of computation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E.g.,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&gt;0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derived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7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Abstract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remove derived fields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before the main search; compute them after constraint solving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4BEE1D04-DF94-7CA1-99C6-4A74B0DD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324" y="3277999"/>
            <a:ext cx="77724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2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46396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derivation tree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 an AST in progress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560768"/>
            <a:ext cx="7772400" cy="334680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852B122-3341-BDA7-BABC-6A7593A642CE}"/>
                  </a:ext>
                </a:extLst>
              </p:cNvPr>
              <p:cNvSpPr/>
              <p:nvPr/>
            </p:nvSpPr>
            <p:spPr>
              <a:xfrm>
                <a:off x="3211521" y="2140503"/>
                <a:ext cx="5768543" cy="12593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1. Build candidate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via random walk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2. Make decisions and backtrack when stuck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3. When closed, instantiate with concrete values</a:t>
                </a:r>
                <a:endParaRPr lang="en-US" sz="2000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852B122-3341-BDA7-BABC-6A7593A642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1521" y="2140503"/>
                <a:ext cx="5768543" cy="12593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701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Choosing an expansion is called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Decisions are recorded in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 stack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Version control helps you undo mistakes!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4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Some decisions are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forced</a:t>
                </a:r>
                <a:r>
                  <a:rPr lang="en-US" sz="2400" dirty="0">
                    <a:latin typeface="Source Sans Pro"/>
                    <a:ea typeface="Source Sans Pro"/>
                  </a:rPr>
                  <a:t> (see solid arrows): symbolic terminals and nonterminals with exactly one production rule option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Those are called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normalization steps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are not stored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Termination is not guaranteed…</a:t>
            </a: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Idea: Bound search depth with IDS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9C43BBE-9ECC-82AC-2A0B-EFD805289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74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Pick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depth limit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associate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depth </a:t>
                </a:r>
                <a:r>
                  <a:rPr lang="en-US" sz="2400" dirty="0">
                    <a:latin typeface="Source Sans Pro"/>
                    <a:ea typeface="Source Sans Pro"/>
                  </a:rPr>
                  <a:t>with each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Backtrack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exceeded by popping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Record visited expansions and do not revisit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Restart</a:t>
                </a:r>
                <a:r>
                  <a:rPr lang="en-US" sz="2400" dirty="0">
                    <a:latin typeface="Source Sans Pro"/>
                    <a:ea typeface="Source Sans Pro"/>
                  </a:rPr>
                  <a:t> and increment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 backtracking and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=[]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91500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2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78787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extend the context-free algorithm to handle constraints?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Insight: use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incremental SMT </a:t>
            </a:r>
            <a:r>
              <a:rPr lang="en-US" sz="2400" dirty="0">
                <a:latin typeface="Source Sans Pro"/>
                <a:ea typeface="Source Sans Pro"/>
              </a:rPr>
              <a:t>backend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Solver interface: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(assert c)</a:t>
            </a:r>
            <a:r>
              <a:rPr lang="en-US" sz="2400" dirty="0">
                <a:latin typeface="Source Sans Pro"/>
                <a:ea typeface="Source Sans Pro"/>
              </a:rPr>
              <a:t>: assert a constraint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(push 1)</a:t>
            </a:r>
            <a:r>
              <a:rPr lang="en-US" sz="2400" dirty="0">
                <a:latin typeface="Source Sans Pro"/>
                <a:ea typeface="Source Sans Pro"/>
              </a:rPr>
              <a:t>: push an assertion level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(pop 1)</a:t>
            </a:r>
            <a:r>
              <a:rPr lang="en-US" sz="2400" dirty="0">
                <a:latin typeface="Source Sans Pro"/>
                <a:ea typeface="Source Sans Pro"/>
              </a:rPr>
              <a:t>: undo assertions in the last level (backtrack)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(check-sat)</a:t>
            </a:r>
            <a:r>
              <a:rPr lang="en-US" sz="2400" dirty="0">
                <a:latin typeface="Source Sans Pro"/>
                <a:ea typeface="Source Sans Pro"/>
              </a:rPr>
              <a:t>: check if conjunction of active assertions is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SAT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(get-model)</a:t>
            </a:r>
            <a:r>
              <a:rPr lang="en-US" sz="2400" dirty="0">
                <a:latin typeface="Source Sans Pro"/>
                <a:ea typeface="Source Sans Pro"/>
              </a:rPr>
              <a:t>: retrieve a concrete model</a:t>
            </a: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Principles of constraint handling</a:t>
                </a:r>
              </a:p>
              <a:p>
                <a:pPr marL="0" indent="0" algn="ctr">
                  <a:buNone/>
                </a:pPr>
                <a:r>
                  <a:rPr lang="en-US" sz="2400" b="1" dirty="0">
                    <a:latin typeface="Source Sans Pro"/>
                    <a:ea typeface="Source Sans Pro"/>
                  </a:rPr>
                  <a:t>Idea: Use incrementality of the SMT engine to repair flawed candidate solutions (fear of commitment)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Push an assertion frame at every decision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At each decision,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assert</a:t>
                </a:r>
                <a:r>
                  <a:rPr lang="en-US" sz="2400" dirty="0">
                    <a:latin typeface="Source Sans Pro"/>
                    <a:ea typeface="Source Sans Pro"/>
                  </a:rPr>
                  <a:t> all constraints associated with the expanded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node and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Backtrack and pop an assertion level if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  <a:r>
                  <a:rPr lang="en-US" sz="2400" dirty="0">
                    <a:latin typeface="Source Sans Pro"/>
                    <a:ea typeface="Source Sans Pro"/>
                  </a:rPr>
                  <a:t> yields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UNSAT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Do not commit to concrete values;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get-model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closed; then instantiate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87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521CBC-41D3-165C-02C4-3435942E079E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521CBC-41D3-165C-02C4-3435942E07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30072-9A1C-3A25-1070-60BB06CC16E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3E867-196F-FB39-5B7D-3A7A0355A6B2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3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/>
              <p:nvPr/>
            </p:nvSpPr>
            <p:spPr>
              <a:xfrm>
                <a:off x="7896803" y="2612880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6803" y="2612880"/>
                <a:ext cx="3190297" cy="369332"/>
              </a:xfrm>
              <a:prstGeom prst="rect">
                <a:avLst/>
              </a:prstGeom>
              <a:blipFill>
                <a:blip r:embed="rId4"/>
                <a:stretch>
                  <a:fillRect l="-1581" t="-6667" r="-395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4D2266C-5E8B-9AAA-C59A-1FAC50BBD41E}"/>
              </a:ext>
            </a:extLst>
          </p:cNvPr>
          <p:cNvSpPr txBox="1"/>
          <p:nvPr/>
        </p:nvSpPr>
        <p:spPr>
          <a:xfrm>
            <a:off x="5077363" y="4498998"/>
            <a:ext cx="4314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Candidate solution stored in solver state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5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D86A31E-8779-54F5-47B7-9942B6458516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blipFill>
                <a:blip r:embed="rId6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3613A6E-4EAA-3CB6-384B-718546658152}"/>
              </a:ext>
            </a:extLst>
          </p:cNvPr>
          <p:cNvSpPr/>
          <p:nvPr/>
        </p:nvSpPr>
        <p:spPr>
          <a:xfrm>
            <a:off x="7796215" y="3321043"/>
            <a:ext cx="262602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B4AD4C0-D227-9D17-76D6-799566FE2B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5641" y="4303704"/>
            <a:ext cx="839205" cy="83920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2668C17-BFE3-9D46-94A0-73DA9A381311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43D3FF-76A2-F70E-111F-5E755543BB49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5023715-7864-E05A-3882-A8148CFA27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3E6657C-AC5B-C64E-F00E-1B5347A580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393F09F3-2E40-BE5A-19EA-75CBC0481C07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393F09F3-2E40-BE5A-19EA-75CBC0481C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10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9878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29" grpId="0" animBg="1"/>
      <p:bldP spid="31" grpId="0"/>
      <p:bldP spid="3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89400" y="3583897"/>
            <a:ext cx="2716320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445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Infeasibility was due to early commitment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57CEC56-E804-B067-5311-408C484B11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2600" y="4278265"/>
            <a:ext cx="725388" cy="72538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C14C0F3-4879-5401-956E-825CCD03BDD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755507-AF7A-E7C8-3EF7-B70F8770674A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5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7FB8064F-083F-9876-412A-2008729C048B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6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7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FDF9A705-D40F-344B-73CB-5E7F97382842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593F2C-0ECE-317C-E395-A725D03FE9B1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5B5076C-EF85-CF60-0992-0EBED0D8E3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E5C5C50-D1B3-E599-980B-5FE17BD2E8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10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49228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850378" y="2842507"/>
            <a:ext cx="396904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278106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DCAD2-445D-6A5F-178E-08EE92577A2B}"/>
              </a:ext>
            </a:extLst>
          </p:cNvPr>
          <p:cNvSpPr txBox="1"/>
          <p:nvPr/>
        </p:nvSpPr>
        <p:spPr>
          <a:xfrm>
            <a:off x="1104900" y="5003653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&lt;nt_2&gt;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D00AF-B531-52AD-28BC-9A6AF99AD70B}"/>
              </a:ext>
            </a:extLst>
          </p:cNvPr>
          <p:cNvSpPr txBox="1"/>
          <p:nvPr/>
        </p:nvSpPr>
        <p:spPr>
          <a:xfrm>
            <a:off x="684307" y="5722092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&lt;a&gt;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9335A6-6585-FBFA-DAFE-DB2EF22CADD3}"/>
              </a:ext>
            </a:extLst>
          </p:cNvPr>
          <p:cNvSpPr txBox="1"/>
          <p:nvPr/>
        </p:nvSpPr>
        <p:spPr>
          <a:xfrm>
            <a:off x="1750335" y="5722092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&lt;b&gt;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048E5C-A31E-4F26-461C-4A17207869AC}"/>
              </a:ext>
            </a:extLst>
          </p:cNvPr>
          <p:cNvSpPr txBox="1"/>
          <p:nvPr/>
        </p:nvSpPr>
        <p:spPr>
          <a:xfrm>
            <a:off x="1086766" y="4364407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FF7618-BEFB-E8CB-66EE-92D17487EB45}"/>
              </a:ext>
            </a:extLst>
          </p:cNvPr>
          <p:cNvCxnSpPr>
            <a:cxnSpLocks/>
          </p:cNvCxnSpPr>
          <p:nvPr/>
        </p:nvCxnSpPr>
        <p:spPr>
          <a:xfrm>
            <a:off x="1401345" y="4792717"/>
            <a:ext cx="131446" cy="210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3DA94E7-04A8-FF62-1001-E7A1FA9CABB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956978" y="5372065"/>
            <a:ext cx="290304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F2BE39B-1F14-F4FB-A20F-69725118A655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638300" y="5372065"/>
            <a:ext cx="384706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/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900E0CD-2C03-BB3B-42C2-C74A69C04A17}"/>
              </a:ext>
            </a:extLst>
          </p:cNvPr>
          <p:cNvSpPr/>
          <p:nvPr/>
        </p:nvSpPr>
        <p:spPr>
          <a:xfrm>
            <a:off x="365460" y="4222449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62580" y="3329813"/>
            <a:ext cx="255419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6688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But, eager instantiation enables non-chronological backtracking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7C199E-6CFC-5693-54FA-1B75DA66C2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4219" y="4358914"/>
            <a:ext cx="584288" cy="5842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6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7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537CD775-A645-05DB-E2EE-E40588ABB45E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05E83D-C379-2AB4-C6F1-FD1ADAE29E18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8A94FFC-1920-AC9E-68A3-ACEFC953AE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EF9A4AB-FF7D-4BB2-90C9-4A72404107F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054E2984-3F20-5D15-A429-2F97E6E1889E}"/>
              </a:ext>
            </a:extLst>
          </p:cNvPr>
          <p:cNvCxnSpPr>
            <a:stCxn id="28" idx="3"/>
            <a:endCxn id="27" idx="3"/>
          </p:cNvCxnSpPr>
          <p:nvPr/>
        </p:nvCxnSpPr>
        <p:spPr>
          <a:xfrm>
            <a:off x="2919653" y="2896367"/>
            <a:ext cx="12700" cy="2529558"/>
          </a:xfrm>
          <a:prstGeom prst="curvedConnector3">
            <a:avLst>
              <a:gd name="adj1" fmla="val 535862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10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1024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But wait, there’s more…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Constraints must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disambiguated</a:t>
                </a:r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universalized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𝑝𝑎𝑐𝑘𝑒𝑡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𝑝𝑎𝑦𝑙𝑜𝑎𝑑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𝑏𝑦𝑡𝑒𝑠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𝑜𝑝𝑡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&gt;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𝑏𝑣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0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EE6762AD-CC04-BABD-BFA6-B1078BE25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0801"/>
            <a:ext cx="7772400" cy="1576397"/>
          </a:xfrm>
          <a:prstGeom prst="rect">
            <a:avLst/>
          </a:prstGeom>
        </p:spPr>
      </p:pic>
      <p:pic>
        <p:nvPicPr>
          <p:cNvPr id="8" name="Picture 7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FE15DC0D-DB95-02FF-A55F-7955ECDBE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582" y="4253376"/>
            <a:ext cx="3468498" cy="25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1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There are wrinkles…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2. This constraint is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applicable!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Can it be applicable after a future decision?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Extra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store applicable constraints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Remove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when backtracking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/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𝑝𝑎𝑐𝑘𝑒𝑡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𝑝𝑎𝑦𝑙𝑜𝑎𝑑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𝑏𝑦𝑡𝑒𝑠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𝑜𝑝𝑡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&gt;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𝑏𝑣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0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D56AFF0E-E8D1-9BD3-A9FA-9A9598B14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059" y="3533585"/>
            <a:ext cx="4009265" cy="321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4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36156210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Formal Guarantees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263864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 the paper (full version), we formalize the Goblin search procedure as a calculus comprised of 11 inference rules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prove the calculus satisfies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refutation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completeness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1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721213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2186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7F2FE15-2CD5-75CB-0748-8CC41AB17F1A}"/>
              </a:ext>
            </a:extLst>
          </p:cNvPr>
          <p:cNvSpPr/>
          <p:nvPr/>
        </p:nvSpPr>
        <p:spPr>
          <a:xfrm>
            <a:off x="3589506" y="1254884"/>
            <a:ext cx="501298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Two major objectives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0CE37ED-F8FF-898C-CB68-5D0AFB9E8BA9}"/>
              </a:ext>
            </a:extLst>
          </p:cNvPr>
          <p:cNvSpPr/>
          <p:nvPr/>
        </p:nvSpPr>
        <p:spPr>
          <a:xfrm>
            <a:off x="129702" y="2087579"/>
            <a:ext cx="4007795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Fixed Benchmarks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507DB72-2984-47C8-0641-66BE4847AF9C}"/>
              </a:ext>
            </a:extLst>
          </p:cNvPr>
          <p:cNvSpPr/>
          <p:nvPr/>
        </p:nvSpPr>
        <p:spPr>
          <a:xfrm>
            <a:off x="7798976" y="2087579"/>
            <a:ext cx="433305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Fuzzer</a:t>
            </a:r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 integration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C8D0E52-D001-DA08-52F3-F9FE9FD420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017" y="2667070"/>
            <a:ext cx="965200" cy="9652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2D4B172-C559-64D5-559C-FA9CEFB35B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1380" y="2667070"/>
            <a:ext cx="965200" cy="965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C07B151-F6AD-9E1C-FBD4-09E6BAD62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4743" y="2580447"/>
            <a:ext cx="1138445" cy="113844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AA4B857-5F46-FCB7-DC44-4E95CB1210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4279" y="2505560"/>
            <a:ext cx="1126710" cy="1126710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40259-D1ED-139A-A9B3-78FDD2B32DF6}"/>
              </a:ext>
            </a:extLst>
          </p:cNvPr>
          <p:cNvGrpSpPr/>
          <p:nvPr/>
        </p:nvGrpSpPr>
        <p:grpSpPr>
          <a:xfrm>
            <a:off x="195359" y="3613881"/>
            <a:ext cx="3910519" cy="1630845"/>
            <a:chOff x="51881" y="3622091"/>
            <a:chExt cx="3910519" cy="163084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DD32052-C5C0-FD34-741A-EAD180A63605}"/>
                </a:ext>
              </a:extLst>
            </p:cNvPr>
            <p:cNvSpPr/>
            <p:nvPr/>
          </p:nvSpPr>
          <p:spPr>
            <a:xfrm>
              <a:off x="51881" y="3899166"/>
              <a:ext cx="3910519" cy="135377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52BE9E7-5F42-A8A8-4AC4-FDB030068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67876" y="3899166"/>
              <a:ext cx="581374" cy="581374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130D8D8C-44CE-5E1E-AEA1-90E1A42DB1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9702" y="4622513"/>
              <a:ext cx="563953" cy="563953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614A037-9B2B-EA94-D1F0-CC71B368F1E5}"/>
                </a:ext>
              </a:extLst>
            </p:cNvPr>
            <p:cNvSpPr txBox="1"/>
            <p:nvPr/>
          </p:nvSpPr>
          <p:spPr>
            <a:xfrm>
              <a:off x="947608" y="4027094"/>
              <a:ext cx="2884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Efficiency (inputs/second)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/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Diversity (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a14:m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-path coverage)</a:t>
                  </a: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1293" t="-6667" r="-862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379B8FE-4B34-F7AE-9714-C564FC0CB4CF}"/>
                </a:ext>
              </a:extLst>
            </p:cNvPr>
            <p:cNvSpPr txBox="1"/>
            <p:nvPr/>
          </p:nvSpPr>
          <p:spPr>
            <a:xfrm>
              <a:off x="1557433" y="3622091"/>
              <a:ext cx="9300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Metrics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83CE2D1-5DEA-D248-FB5B-6F52DC0B190A}"/>
              </a:ext>
            </a:extLst>
          </p:cNvPr>
          <p:cNvGrpSpPr/>
          <p:nvPr/>
        </p:nvGrpSpPr>
        <p:grpSpPr>
          <a:xfrm>
            <a:off x="1054099" y="5416790"/>
            <a:ext cx="2159000" cy="1138445"/>
            <a:chOff x="51881" y="5433210"/>
            <a:chExt cx="2159000" cy="1138445"/>
          </a:xfrm>
        </p:grpSpPr>
        <p:pic>
          <p:nvPicPr>
            <p:cNvPr id="37" name="Picture 36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8CBAFDFD-9BB5-C3AF-97C8-89D2B332D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81" y="5433210"/>
              <a:ext cx="2159000" cy="863600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0563DB7-1665-0409-547A-34940DC0F4B4}"/>
                </a:ext>
              </a:extLst>
            </p:cNvPr>
            <p:cNvSpPr txBox="1"/>
            <p:nvPr/>
          </p:nvSpPr>
          <p:spPr>
            <a:xfrm>
              <a:off x="451092" y="6202323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D4FCE81-85EF-4CE9-C0EA-DC2375E29312}"/>
              </a:ext>
            </a:extLst>
          </p:cNvPr>
          <p:cNvSpPr txBox="1"/>
          <p:nvPr/>
        </p:nvSpPr>
        <p:spPr>
          <a:xfrm>
            <a:off x="10340502" y="2745749"/>
            <a:ext cx="1739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latin typeface="Britannic Bold" panose="020B0903060703020204" pitchFamily="34" charset="77"/>
              </a:rPr>
              <a:t>Saecred</a:t>
            </a:r>
            <a:r>
              <a:rPr lang="en-US" dirty="0">
                <a:latin typeface="Britannic Bold" panose="020B0903060703020204" pitchFamily="34" charset="77"/>
              </a:rPr>
              <a:t> </a:t>
            </a:r>
            <a:br>
              <a:rPr lang="en-US" dirty="0">
                <a:latin typeface="Britannic Bold" panose="020B0903060703020204" pitchFamily="34" charset="77"/>
              </a:rPr>
            </a:br>
            <a:r>
              <a:rPr lang="en-US" dirty="0">
                <a:latin typeface="Britannic Bold" panose="020B0903060703020204" pitchFamily="34" charset="77"/>
              </a:rPr>
              <a:t>IEEE S&amp;P 2025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B16B09B-C43E-8143-A217-303B3621B53E}"/>
              </a:ext>
            </a:extLst>
          </p:cNvPr>
          <p:cNvGrpSpPr/>
          <p:nvPr/>
        </p:nvGrpSpPr>
        <p:grpSpPr>
          <a:xfrm>
            <a:off x="7798976" y="3507534"/>
            <a:ext cx="4341143" cy="1114979"/>
            <a:chOff x="7798976" y="3507534"/>
            <a:chExt cx="4341143" cy="111497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B79C3C5-D409-408C-B6C8-92412B559309}"/>
                </a:ext>
              </a:extLst>
            </p:cNvPr>
            <p:cNvSpPr/>
            <p:nvPr/>
          </p:nvSpPr>
          <p:spPr>
            <a:xfrm>
              <a:off x="7798976" y="3806757"/>
              <a:ext cx="4341143" cy="81575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FE7E3A4-ED52-766A-4E34-AFF6B9586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996136" y="3899166"/>
              <a:ext cx="581375" cy="581375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584CCC4-43A9-D64C-03A3-E35C912527B5}"/>
                </a:ext>
              </a:extLst>
            </p:cNvPr>
            <p:cNvSpPr txBox="1"/>
            <p:nvPr/>
          </p:nvSpPr>
          <p:spPr>
            <a:xfrm>
              <a:off x="8788101" y="3866687"/>
              <a:ext cx="288572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Expressivity (% grammars </a:t>
              </a:r>
              <a:b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</a:br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accepted after mutations)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319DEC0-E211-6964-CFC3-6095FFD4087F}"/>
                </a:ext>
              </a:extLst>
            </p:cNvPr>
            <p:cNvSpPr txBox="1"/>
            <p:nvPr/>
          </p:nvSpPr>
          <p:spPr>
            <a:xfrm>
              <a:off x="9717053" y="3507534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8D75F5B-51EA-09FE-62BB-BE4278CDD4D6}"/>
              </a:ext>
            </a:extLst>
          </p:cNvPr>
          <p:cNvGrpSpPr/>
          <p:nvPr/>
        </p:nvGrpSpPr>
        <p:grpSpPr>
          <a:xfrm>
            <a:off x="9763964" y="4622997"/>
            <a:ext cx="1050288" cy="991061"/>
            <a:chOff x="9763964" y="4622997"/>
            <a:chExt cx="1050288" cy="991061"/>
          </a:xfrm>
        </p:grpSpPr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54F3D9B2-3369-EA70-AE8E-679EE5A272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55430" y="4622997"/>
              <a:ext cx="750494" cy="750494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9E82E69-2892-075E-C676-9E30EDEFD018}"/>
                </a:ext>
              </a:extLst>
            </p:cNvPr>
            <p:cNvSpPr txBox="1"/>
            <p:nvPr/>
          </p:nvSpPr>
          <p:spPr>
            <a:xfrm>
              <a:off x="9763964" y="5244726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01F5A5EE-F859-5CCA-23BE-ED9936AAA1A1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 rot="5400000">
            <a:off x="3944887" y="-63535"/>
            <a:ext cx="339827" cy="39624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2E2F0F51-CA3E-0B8C-821B-C2EC3274D8E0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 rot="16200000" flipH="1">
            <a:off x="7860839" y="-17088"/>
            <a:ext cx="339827" cy="386950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852F8A5-7089-FA54-6075-4AD9C1CF4515}"/>
              </a:ext>
            </a:extLst>
          </p:cNvPr>
          <p:cNvSpPr/>
          <p:nvPr/>
        </p:nvSpPr>
        <p:spPr>
          <a:xfrm>
            <a:off x="129702" y="2621091"/>
            <a:ext cx="4007795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Goblin outperforms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ISLa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 by 10-100% in all metrics, save for CSV efficiency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7B9D83-58DD-21E1-2310-D2021FD7B86F}"/>
              </a:ext>
            </a:extLst>
          </p:cNvPr>
          <p:cNvSpPr/>
          <p:nvPr/>
        </p:nvSpPr>
        <p:spPr>
          <a:xfrm>
            <a:off x="7807061" y="2621091"/>
            <a:ext cx="4333058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Goblin outperforms the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</a:rPr>
              <a:t>SyGuS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-based baseline by over 100%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19F787-2E03-15EB-069B-A2267C1F633D}"/>
              </a:ext>
            </a:extLst>
          </p:cNvPr>
          <p:cNvSpPr/>
          <p:nvPr/>
        </p:nvSpPr>
        <p:spPr>
          <a:xfrm>
            <a:off x="4277700" y="3149669"/>
            <a:ext cx="3389157" cy="2095057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Avenir Next Condensed" panose="020B0506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More details in the paper!</a:t>
            </a:r>
          </a:p>
        </p:txBody>
      </p:sp>
    </p:spTree>
    <p:extLst>
      <p:ext uri="{BB962C8B-B14F-4D97-AF65-F5344CB8AC3E}">
        <p14:creationId xmlns:p14="http://schemas.microsoft.com/office/powerpoint/2010/main" val="400973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39" grpId="0"/>
      <p:bldP spid="49" grpId="0" animBg="1"/>
      <p:bldP spid="50" grpId="0" animBg="1"/>
      <p:bldP spid="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11902251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Discussion &amp; Future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7859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User-facing language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More search engines!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generator?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Goblin spec?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input directly?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Abstraction-refinement algorithms?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6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pPr marL="0" indent="0" algn="ctr">
              <a:buNone/>
            </a:pPr>
            <a:endParaRPr lang="en-US" sz="6000" dirty="0">
              <a:latin typeface="Avenir Next" panose="020B0503020202020204" pitchFamily="34" charset="0"/>
              <a:ea typeface="Source Sans Pro"/>
            </a:endParaRPr>
          </a:p>
          <a:p>
            <a:pPr marL="0" indent="0" algn="ctr">
              <a:buNone/>
            </a:pP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https://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github.com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lorchrob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/Goblin</a:t>
            </a:r>
          </a:p>
          <a:p>
            <a:pPr marL="0" indent="0" algn="ctr">
              <a:buNone/>
            </a:pP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robert-lorch@uiowa.edu</a:t>
            </a:r>
            <a:endParaRPr lang="en-US" sz="4800" dirty="0">
              <a:latin typeface="American Typewriter" panose="02090604020004020304" pitchFamily="18" charset="77"/>
              <a:ea typeface="Source Sans Pro"/>
            </a:endParaRP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Structural Constraints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Every element of the second list is present in the first list</a:t>
            </a:r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DB920BF8-4D61-9CD8-09EB-2AEB8A700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699" y="2082189"/>
            <a:ext cx="7713005" cy="473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More Related Work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025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Parser generator libraries (e.g. ANTLR, </a:t>
            </a:r>
            <a:r>
              <a:rPr lang="en-US" sz="2400" dirty="0" err="1">
                <a:latin typeface="Source Sans Pro"/>
                <a:ea typeface="Source Sans Pro"/>
              </a:rPr>
              <a:t>yacc</a:t>
            </a:r>
            <a:r>
              <a:rPr lang="en-US" sz="2400" dirty="0">
                <a:latin typeface="Source Sans Pro"/>
                <a:ea typeface="Source Sans Pro"/>
              </a:rPr>
              <a:t>) handle context sensitivity but are for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rather than generation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Attribute grammars handle context sensitivity but work focuses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and theoretical results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Property-based testing does not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general</a:t>
            </a:r>
            <a:r>
              <a:rPr lang="en-US" sz="2400" dirty="0">
                <a:latin typeface="Source Sans Pro"/>
                <a:ea typeface="Source Sans Pro"/>
              </a:rPr>
              <a:t>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 constraints </a:t>
            </a:r>
            <a:r>
              <a:rPr lang="en-US" sz="2400" dirty="0">
                <a:latin typeface="Source Sans Pro"/>
                <a:ea typeface="Source Sans Pro"/>
              </a:rPr>
              <a:t>over inputs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does not natively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constraints over non-top-level nonterminals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CLP engines do not currently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theory combination </a:t>
            </a:r>
            <a:r>
              <a:rPr lang="en-US" sz="2400" dirty="0">
                <a:latin typeface="Source Sans Pro"/>
                <a:ea typeface="Source Sans Pro"/>
              </a:rPr>
              <a:t>at the level of generality required for practical applications</a:t>
            </a:r>
          </a:p>
          <a:p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5613551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Grammar Mutations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structure-aware mutations on context-sensitive grammars?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RG_LIST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Local constraints </a:t>
            </a:r>
            <a:r>
              <a:rPr lang="en-US" sz="2400" dirty="0">
                <a:latin typeface="Source Sans Pro"/>
                <a:ea typeface="Source Sans Pro"/>
              </a:rPr>
              <a:t>are easier to maintain</a:t>
            </a:r>
          </a:p>
        </p:txBody>
      </p:sp>
      <p:pic>
        <p:nvPicPr>
          <p:cNvPr id="5" name="Picture 4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90417CE-FA34-B923-2C5A-45707301C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158930"/>
            <a:ext cx="7772400" cy="369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60457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Interpretation Function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Interpretation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outputs denotation of term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in 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𝑡𝑟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also maps function and predicate symbols to their fixed interpretations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3FEDFB-159E-B538-3CAE-849C22E661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295960"/>
            <a:ext cx="7772400" cy="1733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28542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Satisfaction Relation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Satisfaction relation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⊨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captures whether or not a given constraint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satisfied by a given AST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math problem&#10;&#10;Description automatically generated">
            <a:extLst>
              <a:ext uri="{FF2B5EF4-FFF2-40B4-BE49-F238E27FC236}">
                <a16:creationId xmlns:a16="http://schemas.microsoft.com/office/drawing/2014/main" id="{AF3A4B51-F9F7-3AE1-CAE7-9CBE5B1E5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034015"/>
            <a:ext cx="7772400" cy="2410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24032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>
                    <a:solidFill>
                      <a:schemeClr val="tx2">
                        <a:lumMod val="76000"/>
                        <a:lumOff val="24000"/>
                      </a:schemeClr>
                    </a:solidFill>
                    <a:latin typeface="Source Sans Pro"/>
                    <a:ea typeface="Source Sans Pro"/>
                  </a:rPr>
                  <a:t>Semantics: Denotation of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solidFill>
                          <a:schemeClr val="tx2">
                            <a:lumMod val="76000"/>
                            <a:lumOff val="24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Semantics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the set of syntactically valid ASTs which satisfy all the constraints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3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word&#10;&#10;Description automatically generated">
            <a:extLst>
              <a:ext uri="{FF2B5EF4-FFF2-40B4-BE49-F238E27FC236}">
                <a16:creationId xmlns:a16="http://schemas.microsoft.com/office/drawing/2014/main" id="{1BB3D5EE-0013-1762-5D92-753C77098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440" y="3195879"/>
            <a:ext cx="8541119" cy="12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35100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Calculus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Can be conceptualized as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guarded rewrite rules </a:t>
            </a:r>
            <a:r>
              <a:rPr lang="en-US" sz="2400" dirty="0">
                <a:latin typeface="Source Sans Pro"/>
                <a:ea typeface="Source Sans Pro"/>
              </a:rPr>
              <a:t>on global state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Example rule expands a symbolic terminal </a:t>
            </a:r>
          </a:p>
        </p:txBody>
      </p:sp>
      <p:pic>
        <p:nvPicPr>
          <p:cNvPr id="5" name="Picture 4" descr="A close-up of a math formula&#10;&#10;Description automatically generated">
            <a:extLst>
              <a:ext uri="{FF2B5EF4-FFF2-40B4-BE49-F238E27FC236}">
                <a16:creationId xmlns:a16="http://schemas.microsoft.com/office/drawing/2014/main" id="{18B44BB8-4588-7EC4-F1E1-3185BAD33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0789"/>
            <a:ext cx="7772400" cy="128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6545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 Pseudocode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aper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692976BE-59BF-0956-BED3-4215CE8E4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4" y="1526869"/>
            <a:ext cx="3765592" cy="529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9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10066</TotalTime>
  <Words>4027</Words>
  <Application>Microsoft Macintosh PowerPoint</Application>
  <PresentationFormat>Widescreen</PresentationFormat>
  <Paragraphs>742</Paragraphs>
  <Slides>78</Slides>
  <Notes>18</Notes>
  <HiddenSlides>28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95" baseType="lpstr">
      <vt:lpstr>American Typewriter</vt:lpstr>
      <vt:lpstr>Aptos</vt:lpstr>
      <vt:lpstr>Aptos Display</vt:lpstr>
      <vt:lpstr>Arial</vt:lpstr>
      <vt:lpstr>Avenir Next</vt:lpstr>
      <vt:lpstr>Avenir Next Condensed</vt:lpstr>
      <vt:lpstr>Avenir Next Condensed Medium</vt:lpstr>
      <vt:lpstr>Book Antiqua</vt:lpstr>
      <vt:lpstr>Britannic Bold</vt:lpstr>
      <vt:lpstr>Calibri</vt:lpstr>
      <vt:lpstr>Cambria Math</vt:lpstr>
      <vt:lpstr>Menlo</vt:lpstr>
      <vt:lpstr>Monaco</vt:lpstr>
      <vt:lpstr>Roboto</vt:lpstr>
      <vt:lpstr>Source Sans Pro</vt:lpstr>
      <vt:lpstr>Wingdings</vt:lpstr>
      <vt:lpstr>Office Theme</vt:lpstr>
      <vt:lpstr>Parse this! Summoning Context-Sensitive Inputs with Goblin</vt:lpstr>
      <vt:lpstr>Notes</vt:lpstr>
      <vt:lpstr>Story</vt:lpstr>
      <vt:lpstr>Automated Testing and Security</vt:lpstr>
      <vt:lpstr>Problem Introduction</vt:lpstr>
      <vt:lpstr>Problem Introduction</vt:lpstr>
      <vt:lpstr>Context-Free Input Generation</vt:lpstr>
      <vt:lpstr>Context-Free Input Generation</vt:lpstr>
      <vt:lpstr>Context-Sensitive Input Generation</vt:lpstr>
      <vt:lpstr>Context-Sensitive Input Generation</vt:lpstr>
      <vt:lpstr>Context-Sensitive Input Generation</vt:lpstr>
      <vt:lpstr>Context-Sensitive Mutation</vt:lpstr>
      <vt:lpstr>Context-Sensitive Mutation</vt:lpstr>
      <vt:lpstr>Context-Sensitive Mutation</vt:lpstr>
      <vt:lpstr>Context-Sensitive Mutation</vt:lpstr>
      <vt:lpstr>Roadmap</vt:lpstr>
      <vt:lpstr>Prior Work</vt:lpstr>
      <vt:lpstr>Prior Work</vt:lpstr>
      <vt:lpstr>Prior Work</vt:lpstr>
      <vt:lpstr>Prior Work</vt:lpstr>
      <vt:lpstr>Prior Work</vt:lpstr>
      <vt:lpstr>Prior Work</vt:lpstr>
      <vt:lpstr>Wishlist</vt:lpstr>
      <vt:lpstr>Context-Free Input Generation</vt:lpstr>
      <vt:lpstr>Introducing Goblin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PowerPoint Presentation</vt:lpstr>
      <vt:lpstr>Language Features: Production Rules</vt:lpstr>
      <vt:lpstr>Language Features: Type Annotations</vt:lpstr>
      <vt:lpstr>Language Features: Refinement Types</vt:lpstr>
      <vt:lpstr>Language Features: Semantic Constraints</vt:lpstr>
      <vt:lpstr>Language Features: Dot notation</vt:lpstr>
      <vt:lpstr>Language Features: Derived Fields</vt:lpstr>
      <vt:lpstr>Language Features: Derived Fields</vt:lpstr>
      <vt:lpstr>Language Features: Derived Fields</vt:lpstr>
      <vt:lpstr>PowerPoint Presentation</vt:lpstr>
      <vt:lpstr>Semantics: Abstract Syntax Trees</vt:lpstr>
      <vt:lpstr>Semantics: Abstract Syntax Trees</vt:lpstr>
      <vt:lpstr>Semantics</vt:lpstr>
      <vt:lpstr>Semantics: Constraint Satisfaction</vt:lpstr>
      <vt:lpstr>Semantics: Constraint Satisfaction</vt:lpstr>
      <vt:lpstr>PowerPoint Presentation</vt:lpstr>
      <vt:lpstr>Goblin Workflow</vt:lpstr>
      <vt:lpstr>Context-free Well-formedness</vt:lpstr>
      <vt:lpstr>Derived Field Checks</vt:lpstr>
      <vt:lpstr>Abstract Derived Fields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PowerPoint Presentation</vt:lpstr>
      <vt:lpstr>Formal Guarantees</vt:lpstr>
      <vt:lpstr>PowerPoint Presentation</vt:lpstr>
      <vt:lpstr>Evaluation</vt:lpstr>
      <vt:lpstr>PowerPoint Presentation</vt:lpstr>
      <vt:lpstr>Discussion &amp; Future Work</vt:lpstr>
      <vt:lpstr>PowerPoint Presentation</vt:lpstr>
      <vt:lpstr>Structural Constraints</vt:lpstr>
      <vt:lpstr>More Related Work</vt:lpstr>
      <vt:lpstr>Grammar Mutations</vt:lpstr>
      <vt:lpstr>Semantics: Interpretation Function</vt:lpstr>
      <vt:lpstr>Semantics: Satisfaction Relation</vt:lpstr>
      <vt:lpstr>Semantics: Denotation of G</vt:lpstr>
      <vt:lpstr>Calculus</vt:lpstr>
      <vt:lpstr>Search Algorithm Pseudocode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974</cp:revision>
  <dcterms:created xsi:type="dcterms:W3CDTF">2026-03-16T17:02:12Z</dcterms:created>
  <dcterms:modified xsi:type="dcterms:W3CDTF">2026-04-08T15:01:27Z</dcterms:modified>
</cp:coreProperties>
</file>