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56"/>
  </p:notesMasterIdLst>
  <p:sldIdLst>
    <p:sldId id="256" r:id="rId2"/>
    <p:sldId id="318" r:id="rId3"/>
    <p:sldId id="319" r:id="rId4"/>
    <p:sldId id="332" r:id="rId5"/>
    <p:sldId id="322" r:id="rId6"/>
    <p:sldId id="323" r:id="rId7"/>
    <p:sldId id="324" r:id="rId8"/>
    <p:sldId id="325" r:id="rId9"/>
    <p:sldId id="326" r:id="rId10"/>
    <p:sldId id="327" r:id="rId11"/>
    <p:sldId id="368" r:id="rId12"/>
    <p:sldId id="369" r:id="rId13"/>
    <p:sldId id="328" r:id="rId14"/>
    <p:sldId id="329" r:id="rId15"/>
    <p:sldId id="330" r:id="rId16"/>
    <p:sldId id="331" r:id="rId17"/>
    <p:sldId id="321" r:id="rId18"/>
    <p:sldId id="338" r:id="rId19"/>
    <p:sldId id="339" r:id="rId20"/>
    <p:sldId id="340" r:id="rId21"/>
    <p:sldId id="341" r:id="rId22"/>
    <p:sldId id="342" r:id="rId23"/>
    <p:sldId id="343" r:id="rId24"/>
    <p:sldId id="344" r:id="rId25"/>
    <p:sldId id="345" r:id="rId26"/>
    <p:sldId id="333" r:id="rId27"/>
    <p:sldId id="346" r:id="rId28"/>
    <p:sldId id="347" r:id="rId29"/>
    <p:sldId id="348" r:id="rId30"/>
    <p:sldId id="349" r:id="rId31"/>
    <p:sldId id="350" r:id="rId32"/>
    <p:sldId id="334" r:id="rId33"/>
    <p:sldId id="351" r:id="rId34"/>
    <p:sldId id="356" r:id="rId35"/>
    <p:sldId id="357" r:id="rId36"/>
    <p:sldId id="358" r:id="rId37"/>
    <p:sldId id="359" r:id="rId38"/>
    <p:sldId id="360" r:id="rId39"/>
    <p:sldId id="361" r:id="rId40"/>
    <p:sldId id="362" r:id="rId41"/>
    <p:sldId id="363" r:id="rId42"/>
    <p:sldId id="364" r:id="rId43"/>
    <p:sldId id="365" r:id="rId44"/>
    <p:sldId id="366" r:id="rId45"/>
    <p:sldId id="367" r:id="rId46"/>
    <p:sldId id="335" r:id="rId47"/>
    <p:sldId id="352" r:id="rId48"/>
    <p:sldId id="336" r:id="rId49"/>
    <p:sldId id="353" r:id="rId50"/>
    <p:sldId id="354" r:id="rId51"/>
    <p:sldId id="337" r:id="rId52"/>
    <p:sldId id="355" r:id="rId53"/>
    <p:sldId id="300" r:id="rId54"/>
    <p:sldId id="317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BBC0"/>
    <a:srgbClr val="60E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416" autoAdjust="0"/>
    <p:restoredTop sz="94719"/>
  </p:normalViewPr>
  <p:slideViewPr>
    <p:cSldViewPr snapToGrid="0">
      <p:cViewPr varScale="1">
        <p:scale>
          <a:sx n="141" d="100"/>
          <a:sy n="141" d="100"/>
        </p:scale>
        <p:origin x="192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3/18/26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8416954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Parse this! Summoning Context-Sensitive Inputs with 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982" y="3786596"/>
            <a:ext cx="12178018" cy="201858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Rob Lorch</a:t>
            </a:r>
            <a:r>
              <a:rPr lang="en-US" b="1" baseline="300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*</a:t>
            </a:r>
            <a:r>
              <a:rPr lang="en-US" dirty="0">
                <a:latin typeface="Source Sans Pro"/>
                <a:ea typeface="Source Sans Pro"/>
              </a:rPr>
              <a:t>, Muhammad </a:t>
            </a:r>
            <a:r>
              <a:rPr lang="en-US" dirty="0" err="1">
                <a:latin typeface="Source Sans Pro"/>
                <a:ea typeface="Source Sans Pro"/>
              </a:rPr>
              <a:t>Daniyal</a:t>
            </a:r>
            <a:r>
              <a:rPr lang="en-US" dirty="0">
                <a:latin typeface="Source Sans Pro"/>
                <a:ea typeface="Source Sans Pro"/>
              </a:rPr>
              <a:t> </a:t>
            </a:r>
            <a:r>
              <a:rPr lang="en-US" dirty="0" err="1">
                <a:latin typeface="Source Sans Pro"/>
                <a:ea typeface="Source Sans Pro"/>
              </a:rPr>
              <a:t>Pirwani</a:t>
            </a:r>
            <a:r>
              <a:rPr lang="en-US" dirty="0">
                <a:latin typeface="Source Sans Pro"/>
                <a:ea typeface="Source Sans Pro"/>
              </a:rPr>
              <a:t> Dar</a:t>
            </a:r>
            <a:r>
              <a:rPr lang="en-US" baseline="30000" dirty="0">
                <a:latin typeface="Source Sans Pro"/>
                <a:ea typeface="Source Sans Pro"/>
              </a:rPr>
              <a:t>†</a:t>
            </a:r>
            <a:r>
              <a:rPr lang="en-US" dirty="0">
                <a:latin typeface="Source Sans Pro"/>
                <a:ea typeface="Source Sans Pro"/>
              </a:rPr>
              <a:t>, Cesare </a:t>
            </a:r>
            <a:r>
              <a:rPr lang="en-US" dirty="0" err="1">
                <a:latin typeface="Source Sans Pro"/>
                <a:ea typeface="Source Sans Pro"/>
              </a:rPr>
              <a:t>Tinelli</a:t>
            </a:r>
            <a:r>
              <a:rPr lang="en-US" baseline="30000" dirty="0">
                <a:latin typeface="Source Sans Pro"/>
                <a:ea typeface="Source Sans Pro"/>
              </a:rPr>
              <a:t>*</a:t>
            </a:r>
            <a:r>
              <a:rPr lang="en-US" dirty="0">
                <a:latin typeface="Source Sans Pro"/>
                <a:ea typeface="Source Sans Pro"/>
              </a:rPr>
              <a:t>, &amp; Omar Chowdhury</a:t>
            </a:r>
            <a:r>
              <a:rPr lang="en-US" baseline="30000" dirty="0">
                <a:latin typeface="Source Sans Pro"/>
                <a:ea typeface="Source Sans Pro"/>
              </a:rPr>
              <a:t>†</a:t>
            </a:r>
            <a:r>
              <a:rPr lang="en-US" dirty="0">
                <a:latin typeface="Source Sans Pro"/>
                <a:ea typeface="Source Sans Pro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Source Sans Pro"/>
                <a:ea typeface="Source Sans Pro"/>
              </a:rPr>
              <a:t>*</a:t>
            </a:r>
            <a:r>
              <a:rPr lang="en-US" dirty="0">
                <a:latin typeface="Source Sans Pro"/>
                <a:ea typeface="Source Sans Pro"/>
              </a:rPr>
              <a:t>The University of Iowa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Source Sans Pro"/>
                <a:ea typeface="Source Sans Pro"/>
              </a:rPr>
              <a:t>†</a:t>
            </a:r>
            <a:r>
              <a:rPr lang="en-US" dirty="0">
                <a:latin typeface="Source Sans Pro"/>
                <a:ea typeface="Source Sans Pro"/>
              </a:rPr>
              <a:t>Stony Brook University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Source Sans Pro"/>
              <a:ea typeface="Source Sans Pro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Source Sans Pro"/>
                <a:ea typeface="Source Sans Pro"/>
              </a:rPr>
              <a:t>DATE</a:t>
            </a:r>
            <a:endParaRPr lang="en-US" dirty="0">
              <a:latin typeface="Aptos" panose="02110004020202020204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Some software systems have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highly complex input formats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Compilers, file renderers, network protocol stacks</a:t>
            </a:r>
          </a:p>
          <a:p>
            <a:r>
              <a:rPr lang="en-US" dirty="0">
                <a:latin typeface="Source Sans Pro"/>
                <a:ea typeface="Source Sans Pro"/>
              </a:rPr>
              <a:t>Complex input formats are difficult for testing, especially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automated testing</a:t>
            </a:r>
          </a:p>
          <a:p>
            <a:r>
              <a:rPr lang="en-US" dirty="0">
                <a:latin typeface="Source Sans Pro"/>
                <a:ea typeface="Source Sans Pro"/>
              </a:rPr>
              <a:t>We will discuss techniques for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automated input generation </a:t>
            </a:r>
            <a:r>
              <a:rPr lang="en-US" dirty="0">
                <a:latin typeface="Source Sans Pro"/>
                <a:ea typeface="Source Sans Pro"/>
              </a:rPr>
              <a:t>of software with complex input formats</a:t>
            </a:r>
          </a:p>
          <a:p>
            <a:r>
              <a:rPr lang="en-US" dirty="0">
                <a:latin typeface="Source Sans Pro"/>
                <a:ea typeface="Source Sans Pro"/>
              </a:rPr>
              <a:t>Given an input specification, how to generate inputs?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920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Well-formedness checks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Derived fields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Main 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3018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Well-formedness checks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Derived fields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Main 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640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Use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grammars </a:t>
                </a:r>
                <a:r>
                  <a:rPr lang="en-US" dirty="0">
                    <a:latin typeface="Source Sans Pro"/>
                    <a:ea typeface="Source Sans Pro"/>
                  </a:rPr>
                  <a:t>(CFGs) to capture input structure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HTTP requests, DNS packets, </a:t>
                </a:r>
                <a:r>
                  <a:rPr lang="en-US" dirty="0" err="1">
                    <a:latin typeface="Source Sans Pro"/>
                    <a:ea typeface="Source Sans Pro"/>
                  </a:rPr>
                  <a:t>LangFuzz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Can only handle context-free aspects of the spec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Consider packet format with fields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:r>
                  <a:rPr lang="en-US" dirty="0" err="1">
                    <a:latin typeface="Source Sans Pro"/>
                    <a:ea typeface="Source Sans Pro"/>
                  </a:rPr>
                  <a:t>s.t.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Tools tailor-made for the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system under test </a:t>
                </a:r>
                <a:r>
                  <a:rPr lang="en-US" dirty="0">
                    <a:latin typeface="Source Sans Pro"/>
                    <a:ea typeface="Source Sans Pro"/>
                  </a:rPr>
                  <a:t>(SUT)</a:t>
                </a:r>
              </a:p>
              <a:p>
                <a:pPr lvl="1"/>
                <a:r>
                  <a:rPr lang="en-US" dirty="0" err="1">
                    <a:latin typeface="Source Sans Pro"/>
                    <a:ea typeface="Source Sans Pro"/>
                  </a:rPr>
                  <a:t>CSmith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Lacks generality!</a:t>
                </a:r>
              </a:p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Coverage-guided mutation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How to generate an initial corpus?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What if no access to coverage information?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Mutations still blind to specification constraints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  <a:blipFill>
                <a:blip r:embed="rId2"/>
                <a:stretch>
                  <a:fillRect l="-1086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4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117FD7E-21BA-CBA0-9F15-68A43DEFEA78}"/>
              </a:ext>
            </a:extLst>
          </p:cNvPr>
          <p:cNvSpPr/>
          <p:nvPr/>
        </p:nvSpPr>
        <p:spPr>
          <a:xfrm>
            <a:off x="951263" y="3733101"/>
            <a:ext cx="10402537" cy="1224792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Source Sans Pro"/>
                <a:ea typeface="Source Sans Pro"/>
              </a:rPr>
              <a:t>Refine CFG-based approaches to be more expressive, while maintaining their generality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Wishlist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34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An input generation approach that gives…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Generality of CFG-based approaches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Expressiveness and performance of tailor-made </a:t>
            </a:r>
            <a:r>
              <a:rPr lang="en-US" dirty="0" err="1">
                <a:latin typeface="Source Sans Pro"/>
                <a:ea typeface="Source Sans Pro"/>
              </a:rPr>
              <a:t>fuzzers</a:t>
            </a:r>
            <a:endParaRPr lang="en-US" dirty="0"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51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First, a CFG-based input generation example: XML!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501" y="2306233"/>
            <a:ext cx="6880998" cy="44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99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Termination? Well-formed inputs?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501" y="2306233"/>
            <a:ext cx="6880998" cy="44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56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Introducing 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AppleGothic" pitchFamily="2" charset="-127"/>
                <a:cs typeface="Courier New" panose="02070309020205020404" pitchFamily="49" charset="0"/>
              </a:rPr>
              <a:t>Goblin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Presenting </a:t>
                </a:r>
                <a:r>
                  <a:rPr lang="en-US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 input generation</a:t>
                </a:r>
                <a:r>
                  <a:rPr lang="en-US" dirty="0">
                    <a:latin typeface="Source Sans Pro"/>
                    <a:ea typeface="Source Sans Pro"/>
                  </a:rPr>
                  <a:t> tool, supported by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DSL</a:t>
                </a:r>
                <a:r>
                  <a:rPr lang="en-US" dirty="0">
                    <a:latin typeface="Source Sans Pro"/>
                    <a:ea typeface="Source Sans Pro"/>
                  </a:rPr>
                  <a:t> with a formal semantics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 </a:t>
                </a:r>
                <a:r>
                  <a:rPr lang="en-US" dirty="0">
                    <a:latin typeface="Source Sans Pro"/>
                    <a:ea typeface="Source Sans Pro"/>
                  </a:rPr>
                  <a:t>to address the underlying problem 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Supporting constraint solving over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arbitrary SMT theories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And evaluated in the context of real fuzzing workflows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Given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</a:t>
                </a:r>
                <a:r>
                  <a:rPr lang="en-US" dirty="0">
                    <a:latin typeface="Source Sans Pro"/>
                    <a:ea typeface="Source Sans Pro"/>
                  </a:rPr>
                  <a:t> grammar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find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What is a context-sensitive grammar? See ANTLR, </a:t>
                </a:r>
                <a:r>
                  <a:rPr lang="en-US" dirty="0" err="1">
                    <a:latin typeface="Source Sans Pro"/>
                    <a:ea typeface="Source Sans Pro"/>
                  </a:rPr>
                  <a:t>yacc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  <a:blipFill>
                <a:blip r:embed="rId2"/>
                <a:stretch>
                  <a:fillRect l="-1086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D435E02-A2DA-EB69-8ADB-735BFFEF0F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5219267"/>
            <a:ext cx="7772400" cy="152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8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is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 dirty="0">
                <a:latin typeface="Source Sans Pro"/>
                <a:ea typeface="Source Sans Pro"/>
              </a:rPr>
              <a:t>, but not a (complete)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063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Most tools perform mutations at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byte level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49588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Most tools perform mutations at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byte level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20438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Most tools perform mutations at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byte level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3601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Some tools perform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structure-aware mutations 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ATFuzz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, SAECRED)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38581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Structure-Aware Mutations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perform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context-sensitive, structure-aware </a:t>
            </a:r>
            <a:r>
              <a:rPr lang="en-US" sz="2400" dirty="0">
                <a:latin typeface="Source Sans Pro"/>
                <a:ea typeface="Source Sans Pro"/>
              </a:rPr>
              <a:t>mutations?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Crossover mutation </a:t>
            </a:r>
            <a:r>
              <a:rPr lang="en-US" sz="2400" dirty="0">
                <a:latin typeface="Source Sans Pro"/>
                <a:ea typeface="Source Sans Pro"/>
              </a:rPr>
              <a:t>swapping </a:t>
            </a:r>
            <a:r>
              <a:rPr lang="en-US" sz="2400" dirty="0">
                <a:solidFill>
                  <a:srgbClr val="15BBC0"/>
                </a:solidFill>
                <a:latin typeface="Source Sans Pro"/>
                <a:ea typeface="Source Sans Pro"/>
              </a:rPr>
              <a:t>GROUP_ID </a:t>
            </a:r>
            <a:r>
              <a:rPr lang="en-US" sz="2400" dirty="0">
                <a:latin typeface="Source Sans Pro"/>
                <a:ea typeface="Source Sans Pro"/>
              </a:rPr>
              <a:t>and </a:t>
            </a:r>
            <a:r>
              <a:rPr lang="en-US" sz="2400" dirty="0">
                <a:solidFill>
                  <a:srgbClr val="15BBC0"/>
                </a:solidFill>
                <a:latin typeface="Source Sans Pro"/>
                <a:ea typeface="Source Sans Pro"/>
              </a:rPr>
              <a:t>RG_LIST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white screen with blue and green text&#10;&#10;Description automatically generated">
            <a:extLst>
              <a:ext uri="{FF2B5EF4-FFF2-40B4-BE49-F238E27FC236}">
                <a16:creationId xmlns:a16="http://schemas.microsoft.com/office/drawing/2014/main" id="{340286BA-49C0-26D5-B6FD-9D085D0A03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469508"/>
            <a:ext cx="7772400" cy="38204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53BA619-C5A4-0792-CAA2-9FC467DC78EA}"/>
              </a:ext>
            </a:extLst>
          </p:cNvPr>
          <p:cNvSpPr txBox="1"/>
          <p:nvPr/>
        </p:nvSpPr>
        <p:spPr>
          <a:xfrm>
            <a:off x="-207" y="6231265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Source Sans Pro"/>
                <a:ea typeface="Source Sans Pro"/>
              </a:rPr>
              <a:t>Prior work cannot tie 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global constraints </a:t>
            </a:r>
            <a:r>
              <a:rPr lang="en-US" sz="2800" b="1" dirty="0">
                <a:latin typeface="Source Sans Pro"/>
                <a:ea typeface="Source Sans Pro"/>
              </a:rPr>
              <a:t>to mutations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574807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632795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Tool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Constraint type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Philosophy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Search algorithm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Native theories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ook Antiqua" panose="02040602050305030304" pitchFamily="18" charset="0"/>
                        </a:rPr>
                        <a:t>Goblin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Fandango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Minimalist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Constraint solving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All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Fandango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Fandango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Maximalist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Constraint solving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Strings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ISLa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Fandango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Maximalist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Genetic algorithm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All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96798A0-0675-BE2D-E6E5-F67CDE23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263" y="473660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Source Sans Pro"/>
                <a:ea typeface="Source Sans Pro"/>
              </a:rPr>
              <a:t>Fandango constraints may be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non-monotonic</a:t>
            </a:r>
            <a:r>
              <a:rPr lang="en-US" sz="2400" dirty="0">
                <a:latin typeface="Source Sans Pro"/>
                <a:ea typeface="Source Sans Pro"/>
              </a:rPr>
              <a:t> (no monotonically decreasing notion of distance for constraint satisfaction) and time out for simple examples (equality, set membership)</a:t>
            </a:r>
            <a:endParaRPr lang="en-US" sz="2400" dirty="0">
              <a:solidFill>
                <a:srgbClr val="15BBC0"/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496588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Well-formedness checks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Derived fields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Main 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1269878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Production Rules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grammars have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production rules </a:t>
            </a:r>
            <a:r>
              <a:rPr lang="en-US" sz="2400" dirty="0">
                <a:latin typeface="Source Sans Pro"/>
                <a:ea typeface="Source Sans Pro"/>
              </a:rPr>
              <a:t>as in CFGs</a:t>
            </a:r>
            <a:endParaRPr lang="en-US" sz="2400" dirty="0">
              <a:solidFill>
                <a:srgbClr val="15BBC0"/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BCCB0CFF-07BD-0840-9185-61A50394B5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39588"/>
            <a:ext cx="7772400" cy="3606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9219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Type Annotations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Use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symbolic terminals </a:t>
            </a:r>
            <a:r>
              <a:rPr lang="en-US" sz="2400" dirty="0">
                <a:latin typeface="Source Sans Pro"/>
                <a:ea typeface="Source Sans Pro"/>
              </a:rPr>
              <a:t>(in </a:t>
            </a:r>
            <a:r>
              <a:rPr lang="en-US" sz="2400" dirty="0">
                <a:solidFill>
                  <a:srgbClr val="15BBC0"/>
                </a:solidFill>
                <a:latin typeface="Source Sans Pro"/>
                <a:ea typeface="Source Sans Pro"/>
              </a:rPr>
              <a:t>teal</a:t>
            </a:r>
            <a:r>
              <a:rPr lang="en-US" sz="2400" dirty="0">
                <a:latin typeface="Source Sans Pro"/>
                <a:ea typeface="Source Sans Pro"/>
              </a:rPr>
              <a:t>)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type annotations </a:t>
            </a:r>
            <a:r>
              <a:rPr lang="en-US" sz="2400" dirty="0">
                <a:latin typeface="Source Sans Pro"/>
                <a:ea typeface="Source Sans Pro"/>
              </a:rPr>
              <a:t>rather than concrete terminals. Capture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abstract syntax</a:t>
            </a:r>
            <a:r>
              <a:rPr lang="en-US" sz="2400" dirty="0">
                <a:latin typeface="Source Sans Pro"/>
                <a:ea typeface="Source Sans Pro"/>
              </a:rPr>
              <a:t>, not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concrete syntax 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6FD0D61-6BFB-84A5-A427-A958D57371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65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9536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Refinement Types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Constrain symbolic terminals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refinement types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 shot of a computer code&#10;&#10;Description automatically generated">
            <a:extLst>
              <a:ext uri="{FF2B5EF4-FFF2-40B4-BE49-F238E27FC236}">
                <a16:creationId xmlns:a16="http://schemas.microsoft.com/office/drawing/2014/main" id="{51896D37-324B-212D-C5BA-AA1871A850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3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5891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Semantic Constraints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Attach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semantic constraints</a:t>
            </a:r>
            <a:r>
              <a:rPr lang="en-US" sz="2400" dirty="0">
                <a:latin typeface="Source Sans Pro"/>
                <a:ea typeface="Source Sans Pro"/>
              </a:rPr>
              <a:t> to production rules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Support types/functions/predicates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SMT-LIB</a:t>
            </a:r>
            <a:r>
              <a:rPr lang="en-US" sz="2400" dirty="0">
                <a:latin typeface="Source Sans Pro"/>
                <a:ea typeface="Source Sans Pro"/>
              </a:rPr>
              <a:t> analogues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EA4EECF6-CE18-6089-4E85-8CA494077B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2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2045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Dot Notation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Reference child nonterminals with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 dot notation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AA5B3167-0DDC-B422-161E-C12A5EA698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2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5368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Dot Notation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Dot notation is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partial</a:t>
            </a:r>
            <a:r>
              <a:rPr lang="en-US" sz="2400" dirty="0">
                <a:latin typeface="Source Sans Pro"/>
                <a:ea typeface="Source Sans Pro"/>
              </a:rPr>
              <a:t> and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implicitly universally quantified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AA5B3167-0DDC-B422-161E-C12A5EA698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2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5992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Many constraints are not amenable 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automated constraint solving </a:t>
            </a:r>
            <a:r>
              <a:rPr lang="en-US" dirty="0">
                <a:latin typeface="Source Sans Pro"/>
                <a:ea typeface="Source Sans Pro"/>
              </a:rPr>
              <a:t>with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SMT engine</a:t>
            </a: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 </a:t>
            </a:r>
            <a:r>
              <a:rPr lang="en-US" dirty="0">
                <a:latin typeface="Source Sans Pro"/>
                <a:ea typeface="Source Sans Pro"/>
              </a:rPr>
              <a:t>with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denote nonterminals that are directly computable, enforced syntactically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Cryptographic hashes, checksums, or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any computable function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738645"/>
            <a:ext cx="7772400" cy="18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4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 </a:t>
            </a:r>
            <a:r>
              <a:rPr lang="en-US" dirty="0">
                <a:latin typeface="Source Sans Pro"/>
                <a:ea typeface="Source Sans Pro"/>
              </a:rPr>
              <a:t>with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denote nonterminals that are directly computable, enforced syntactically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Operators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=</a:t>
            </a:r>
            <a:r>
              <a:rPr lang="en-US" dirty="0">
                <a:latin typeface="Source Sans Pro"/>
                <a:ea typeface="Source Sans Pro"/>
              </a:rPr>
              <a:t> are semantically interchangeable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But try telling an SMT solver to find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x </a:t>
            </a:r>
            <a:r>
              <a:rPr lang="en-US" dirty="0">
                <a:latin typeface="Source Sans Pro"/>
                <a:ea typeface="Source Sans Pro"/>
              </a:rPr>
              <a:t>such that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hash(x) = y</a:t>
            </a:r>
            <a:r>
              <a:rPr lang="en-US" dirty="0">
                <a:latin typeface="Source Sans Pro"/>
                <a:ea typeface="Source Sans Pro"/>
              </a:rPr>
              <a:t>…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690688"/>
            <a:ext cx="7772400" cy="18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04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Well-formedness checks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Derived fields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Main 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5249037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What are the semantics of a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grammar?</a:t>
            </a:r>
          </a:p>
          <a:p>
            <a:pPr marL="0" indent="0">
              <a:buNone/>
            </a:pP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generates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abstract syntax trees</a:t>
            </a:r>
            <a:r>
              <a:rPr lang="en-US" sz="2400" dirty="0">
                <a:latin typeface="Source Sans Pro"/>
                <a:ea typeface="Source Sans Pro"/>
              </a:rPr>
              <a:t>, not strings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Not a string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0x0106020321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77C1CA99-0B9C-8249-94C9-1CAAB8412E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52" y="2429452"/>
            <a:ext cx="7465296" cy="3633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2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0575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Without the AST view, (SMT-based) prior work natively only supports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string constraints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AST semantics position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as a generator of constraint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algebraic data type </a:t>
            </a:r>
            <a:r>
              <a:rPr lang="en-US" sz="2400" dirty="0">
                <a:latin typeface="Source Sans Pro"/>
                <a:ea typeface="Source Sans Pro"/>
              </a:rPr>
              <a:t>(ADT) terms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The ADT view allows </a:t>
            </a:r>
            <a:r>
              <a:rPr lang="en-US" sz="2400" b="1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b="1" dirty="0">
                <a:latin typeface="Source Sans Pro"/>
                <a:ea typeface="Source Sans Pro"/>
              </a:rPr>
              <a:t> to natively support constraints over arbitrary SMT theories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424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semantics</a:t>
                </a:r>
                <a:r>
                  <a:rPr lang="en-US" sz="2400" dirty="0">
                    <a:latin typeface="Source Sans Pro"/>
                    <a:ea typeface="Source Sans Pro"/>
                  </a:rPr>
                  <a:t>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are the set of ASTs that respect (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</a:t>
                </a:r>
                <a:r>
                  <a:rPr lang="en-US" sz="2400" dirty="0">
                    <a:latin typeface="Source Sans Pro"/>
                    <a:ea typeface="Source Sans Pro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context-free syntactic constraints and (ii)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context-sensitive semantic constraints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𝐴𝑆𝑇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𝐺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 = {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|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</a:t>
                </a:r>
                <a:r>
                  <a:rPr lang="en-US" b="0" dirty="0"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rooted at the start symbol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Each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𝑣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𝑉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is either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with children representing a production rule application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representing a type annotation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 or 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well-typed leaf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satisfies the constraints at every production rule application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}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480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9DD73FF5-13E2-FE39-1D80-90BD1C98A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021921"/>
            <a:ext cx="7772400" cy="1816142"/>
          </a:xfrm>
          <a:prstGeom prst="rect">
            <a:avLst/>
          </a:prstGeom>
        </p:spPr>
      </p:pic>
      <p:pic>
        <p:nvPicPr>
          <p:cNvPr id="10" name="Picture 9" descr="A diagram of a algorithm&#10;&#10;Description automatically generated">
            <a:extLst>
              <a:ext uri="{FF2B5EF4-FFF2-40B4-BE49-F238E27FC236}">
                <a16:creationId xmlns:a16="http://schemas.microsoft.com/office/drawing/2014/main" id="{523DD31D-7B60-4EB5-53BE-EF3568327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799" y="3838063"/>
            <a:ext cx="5992401" cy="2724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EAA655-922A-B6C6-78E9-2A1504E6FC23}"/>
              </a:ext>
            </a:extLst>
          </p:cNvPr>
          <p:cNvSpPr txBox="1"/>
          <p:nvPr/>
        </p:nvSpPr>
        <p:spPr>
          <a:xfrm>
            <a:off x="951263" y="1546292"/>
            <a:ext cx="944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can mechanically verify that a given AST satisfies all the constraints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44462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white rectangular object with red and blue text&#10;&#10;Description automatically generated">
            <a:extLst>
              <a:ext uri="{FF2B5EF4-FFF2-40B4-BE49-F238E27FC236}">
                <a16:creationId xmlns:a16="http://schemas.microsoft.com/office/drawing/2014/main" id="{E83891BD-834C-9668-1E66-E5EDEAF5E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943066"/>
            <a:ext cx="7772400" cy="1394610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98B5A5AF-B9A1-D290-AE0C-10BE9E1A9E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1046" y="3155866"/>
            <a:ext cx="6849494" cy="33883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A2AF8C-19AD-65CA-D7A9-BE489D68365B}"/>
              </a:ext>
            </a:extLst>
          </p:cNvPr>
          <p:cNvSpPr txBox="1"/>
          <p:nvPr/>
        </p:nvSpPr>
        <p:spPr>
          <a:xfrm>
            <a:off x="951263" y="1546292"/>
            <a:ext cx="944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can mechanically verify that a given AST satisfies all the constraints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482462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 workflow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Well-formedness checks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Main 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018585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 Workflow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How does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find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𝐴𝑆𝑇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General workflow: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well-formedness </a:t>
                </a:r>
                <a:r>
                  <a:rPr lang="en-US" sz="2400" dirty="0">
                    <a:latin typeface="Source Sans Pro"/>
                    <a:ea typeface="Source Sans Pro"/>
                  </a:rPr>
                  <a:t>and other syntactic checks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Type checking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Desugar refinement types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Disambiguate constraints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Abstract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Main search algorithm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Compute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Serialize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33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Well-formedness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Context-free language emptiness (e.g.,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 is a modeling issue, stemming from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non-well-founded recursion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perform a more general check denoted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well-formedness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Until reaching a fixpoint, iteratively expand a set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of nonterminals known to be able to produce finite derivations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Check every reachable nonterminal is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close-up of a computer code&#10;&#10;Description automatically generated">
            <a:extLst>
              <a:ext uri="{FF2B5EF4-FFF2-40B4-BE49-F238E27FC236}">
                <a16:creationId xmlns:a16="http://schemas.microsoft.com/office/drawing/2014/main" id="{5BC2318A-CD71-9290-BF40-FEF1A129E3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4225751"/>
            <a:ext cx="7772400" cy="188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05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Derived Field Checks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Derived fields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must be computable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without constraint solving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cyclic dependencies </a:t>
                </a:r>
                <a:r>
                  <a:rPr lang="en-US" sz="2400" dirty="0">
                    <a:latin typeface="Source Sans Pro"/>
                    <a:ea typeface="Source Sans Pro"/>
                  </a:rPr>
                  <a:t>(e.g.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;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[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derived fields in semantic constraints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Two stages of computation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E.g.,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&gt;0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𝐷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derived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73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Abstract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remove derived fields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before the main search; compute them after constraint solving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4BEE1D04-DF94-7CA1-99C6-4A74B0DDD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324" y="3277999"/>
            <a:ext cx="77724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92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Start with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case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derivation tree </a:t>
                </a:r>
                <a:r>
                  <a:rPr lang="en-US" sz="2400" dirty="0">
                    <a:latin typeface="Source Sans Pro"/>
                    <a:ea typeface="Source Sans Pro"/>
                  </a:rPr>
                  <a:t>is an AST that may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open</a:t>
                </a:r>
                <a:r>
                  <a:rPr lang="en-US" sz="2400" dirty="0">
                    <a:latin typeface="Source Sans Pro"/>
                    <a:ea typeface="Source Sans Pro"/>
                  </a:rPr>
                  <a:t> (or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closed</a:t>
                </a:r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Build candidate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via random walk until closed (as in XML)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Then instantiate with concrete values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15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Choosing an expansion is called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Decisions are recorded in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 stack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Version control helps you undo mistakes!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4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Some decisions are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forced</a:t>
                </a:r>
                <a:r>
                  <a:rPr lang="en-US" sz="2400" dirty="0">
                    <a:latin typeface="Source Sans Pro"/>
                    <a:ea typeface="Source Sans Pro"/>
                  </a:rPr>
                  <a:t> (see solid arrows): symbolic terminals and nonterminals with exactly one production rule option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Those are called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normalization steps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are not stored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93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Termination is not guaranteed…</a:t>
            </a: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Idea: Bound search depth with IDS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9C43BBE-9ECC-82AC-2A0B-EFD805289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741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Pick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depth limit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associate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depth </a:t>
                </a:r>
                <a:r>
                  <a:rPr lang="en-US" sz="2400" dirty="0">
                    <a:latin typeface="Source Sans Pro"/>
                    <a:ea typeface="Source Sans Pro"/>
                  </a:rPr>
                  <a:t>with each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Backtrack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exceeded by popping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Record visited expansions and do not revisit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Restart</a:t>
                </a:r>
                <a:r>
                  <a:rPr lang="en-US" sz="2400" dirty="0">
                    <a:latin typeface="Source Sans Pro"/>
                    <a:ea typeface="Source Sans Pro"/>
                  </a:rPr>
                  <a:t> and increment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 backtracking and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=[]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91500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20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78787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extend the context-free algorithm to handle constraints?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Insight: use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incremental SMT </a:t>
            </a:r>
            <a:r>
              <a:rPr lang="en-US" sz="2400" dirty="0">
                <a:latin typeface="Source Sans Pro"/>
                <a:ea typeface="Source Sans Pro"/>
              </a:rPr>
              <a:t>backend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Solver interface: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(assert c)</a:t>
            </a:r>
            <a:r>
              <a:rPr lang="en-US" sz="2400" dirty="0">
                <a:latin typeface="Source Sans Pro"/>
                <a:ea typeface="Source Sans Pro"/>
              </a:rPr>
              <a:t>: assert a constraint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(push 1)</a:t>
            </a:r>
            <a:r>
              <a:rPr lang="en-US" sz="2400" dirty="0">
                <a:latin typeface="Source Sans Pro"/>
                <a:ea typeface="Source Sans Pro"/>
              </a:rPr>
              <a:t>: push an assertion level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(pop 1)</a:t>
            </a:r>
            <a:r>
              <a:rPr lang="en-US" sz="2400" dirty="0">
                <a:latin typeface="Source Sans Pro"/>
                <a:ea typeface="Source Sans Pro"/>
              </a:rPr>
              <a:t>: undo assertions in the last level (backtrack)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(check-sat)</a:t>
            </a:r>
            <a:r>
              <a:rPr lang="en-US" sz="2400" dirty="0">
                <a:latin typeface="Source Sans Pro"/>
                <a:ea typeface="Source Sans Pro"/>
              </a:rPr>
              <a:t>: check if conjunction of active assertions is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SAT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(get-model)</a:t>
            </a:r>
            <a:r>
              <a:rPr lang="en-US" sz="2400" dirty="0">
                <a:latin typeface="Source Sans Pro"/>
                <a:ea typeface="Source Sans Pro"/>
              </a:rPr>
              <a:t>: retrieve a concrete model</a:t>
            </a: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45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Principles of constraint handling</a:t>
                </a:r>
              </a:p>
              <a:p>
                <a:pPr marL="0" indent="0" algn="ctr">
                  <a:buNone/>
                </a:pPr>
                <a:r>
                  <a:rPr lang="en-US" sz="2400" b="1" dirty="0">
                    <a:latin typeface="Source Sans Pro"/>
                    <a:ea typeface="Source Sans Pro"/>
                  </a:rPr>
                  <a:t>Idea: Use incrementality of the SMT engine to repair flawed candidate solutions (fear of commitment)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Push an assertion frame at every decision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At each decision,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assert</a:t>
                </a:r>
                <a:r>
                  <a:rPr lang="en-US" sz="2400" dirty="0">
                    <a:latin typeface="Source Sans Pro"/>
                    <a:ea typeface="Source Sans Pro"/>
                  </a:rPr>
                  <a:t> all constraints associated with the expanded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node and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Backtrack and pop an assertion level if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  <a:r>
                  <a:rPr lang="en-US" sz="2400" dirty="0">
                    <a:latin typeface="Source Sans Pro"/>
                    <a:ea typeface="Source Sans Pro"/>
                  </a:rPr>
                  <a:t> yields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UNSAT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Do not commit to concrete values;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get-model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closed; then instantiate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87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But wait, there’s more…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Constraints must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disambiguated</a:t>
                </a:r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universalized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𝑝𝑎𝑐𝑘𝑒𝑡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0!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𝑝𝑎𝑦𝑙𝑜𝑎𝑑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0!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𝑏𝑦𝑡𝑒𝑠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0!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𝑜𝑝𝑡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&gt;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𝑏𝑣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0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EE6762AD-CC04-BABD-BFA6-B1078BE25C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640801"/>
            <a:ext cx="7772400" cy="1576397"/>
          </a:xfrm>
          <a:prstGeom prst="rect">
            <a:avLst/>
          </a:prstGeom>
        </p:spPr>
      </p:pic>
      <p:pic>
        <p:nvPicPr>
          <p:cNvPr id="8" name="Picture 7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FE15DC0D-DB95-02FF-A55F-7955ECDBED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582" y="4253376"/>
            <a:ext cx="3468498" cy="256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1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There are wrinkles…</a:t>
                </a: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2. This constraint is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applicable!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Can it be applicable after a future decision?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Extra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store applicable constraints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Remove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when backtracking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/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𝑝𝑎𝑐𝑘𝑒𝑡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0!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𝑝𝑎𝑦𝑙𝑜𝑎𝑑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0!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𝑏𝑦𝑡𝑒𝑠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0!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𝑜𝑝𝑡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&gt;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𝑏𝑣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0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D56AFF0E-E8D1-9BD3-A9FA-9A9598B14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059" y="3533585"/>
            <a:ext cx="4009265" cy="321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54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Well-formedness checks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Derived fields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Main 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7346470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 Guarantees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263864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 the paper (full version), we formalize the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search procedure as a calculus comprised of 11 inference rules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We prove the calculus satisfies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solution soundness</a:t>
            </a:r>
            <a:r>
              <a:rPr lang="en-US" sz="2400" dirty="0">
                <a:latin typeface="Source Sans Pro"/>
                <a:ea typeface="Source Sans Pro"/>
              </a:rPr>
              <a:t>,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refutation soundness</a:t>
            </a:r>
            <a:r>
              <a:rPr lang="en-US" sz="2400" dirty="0">
                <a:latin typeface="Source Sans Pro"/>
                <a:ea typeface="Source Sans Pro"/>
              </a:rPr>
              <a:t>, and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solution completeness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11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Well-formedness checks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Derived fields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Main 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721213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Evaluation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17859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Case study 1, 2, 3: Compare directly with prior work,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ISLa</a:t>
                </a:r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XML,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ScriptSize</a:t>
                </a:r>
                <a:r>
                  <a:rPr lang="en-US" sz="2400" dirty="0">
                    <a:latin typeface="Source Sans Pro"/>
                    <a:ea typeface="Source Sans Pro"/>
                  </a:rPr>
                  <a:t> C, and CSV input generation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Matching tags, definition before use, and column count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Measure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24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2400" dirty="0">
                    <a:latin typeface="Source Sans Pro"/>
                    <a:ea typeface="Source Sans Pro"/>
                  </a:rPr>
                  <a:t> in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2400" dirty="0">
                    <a:latin typeface="Source Sans Pro"/>
                    <a:ea typeface="Source Sans Pro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=3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Outperform prior work by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~10—100% </a:t>
                </a:r>
                <a:r>
                  <a:rPr lang="en-US" sz="2400" dirty="0">
                    <a:latin typeface="Source Sans Pro"/>
                    <a:ea typeface="Source Sans Pro"/>
                  </a:rPr>
                  <a:t>in all metrics, save for efficiency of CSV inputs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17859"/>
                <a:ext cx="10515600" cy="5070126"/>
              </a:xfrm>
              <a:blipFill>
                <a:blip r:embed="rId2"/>
                <a:stretch>
                  <a:fillRect l="-965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738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Evaluation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7859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Case study 4</a:t>
            </a:r>
          </a:p>
          <a:p>
            <a:r>
              <a:rPr lang="en-US" sz="2400" dirty="0" err="1">
                <a:latin typeface="Source Sans Pro"/>
                <a:ea typeface="Source Sans Pro"/>
              </a:rPr>
              <a:t>WiFi</a:t>
            </a:r>
            <a:r>
              <a:rPr lang="en-US" sz="2400" dirty="0">
                <a:latin typeface="Source Sans Pro"/>
                <a:ea typeface="Source Sans Pro"/>
              </a:rPr>
              <a:t> SAE packet input generation (SAECRED’s </a:t>
            </a:r>
            <a:r>
              <a:rPr lang="en-US" sz="2400" dirty="0" err="1">
                <a:latin typeface="Source Sans Pro"/>
                <a:ea typeface="Source Sans Pro"/>
              </a:rPr>
              <a:t>SyGuS</a:t>
            </a:r>
            <a:r>
              <a:rPr lang="en-US" sz="2400" dirty="0">
                <a:latin typeface="Source Sans Pro"/>
                <a:ea typeface="Source Sans Pro"/>
              </a:rPr>
              <a:t> engine)</a:t>
            </a:r>
          </a:p>
          <a:p>
            <a:r>
              <a:rPr lang="en-US" sz="2400" dirty="0">
                <a:latin typeface="Source Sans Pro"/>
                <a:ea typeface="Source Sans Pro"/>
              </a:rPr>
              <a:t>Handle bit vector SMT constraints not expressible in </a:t>
            </a:r>
            <a:r>
              <a:rPr lang="en-US" sz="2400" dirty="0" err="1">
                <a:latin typeface="Source Sans Pro"/>
                <a:ea typeface="Source Sans Pro"/>
              </a:rPr>
              <a:t>ISLa</a:t>
            </a:r>
            <a:endParaRPr lang="en-US" sz="2400" dirty="0">
              <a:latin typeface="Source Sans Pro"/>
              <a:ea typeface="Source Sans Pro"/>
            </a:endParaRPr>
          </a:p>
          <a:p>
            <a:r>
              <a:rPr lang="en-US" sz="2400" dirty="0">
                <a:latin typeface="Source Sans Pro"/>
                <a:ea typeface="Source Sans Pro"/>
              </a:rPr>
              <a:t>36x improvement in efficiency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Able to produce outputs for more than twice the number of grammars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(~24,000 / ~97,000</a:t>
            </a:r>
            <a:r>
              <a:rPr lang="en-US" sz="2400" dirty="0">
                <a:latin typeface="Source Sans Pro"/>
                <a:ea typeface="Source Sans Pro"/>
              </a:rPr>
              <a:t> up to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~49,000 / ~97,000</a:t>
            </a:r>
            <a:r>
              <a:rPr lang="en-US" sz="2400" dirty="0">
                <a:latin typeface="Source Sans Pro"/>
                <a:ea typeface="Source Sans Pro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788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Well-formedness checks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Derived fields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Main 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11902251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Discussion &amp; Future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7859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User-facing language</a:t>
            </a:r>
          </a:p>
          <a:p>
            <a:pPr lvl="1"/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Synthesized</a:t>
            </a:r>
            <a:r>
              <a:rPr lang="en-US" sz="2000" dirty="0">
                <a:latin typeface="Source Sans Pro"/>
                <a:ea typeface="Source Sans Pro"/>
              </a:rPr>
              <a:t> and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inherited attributes</a:t>
            </a:r>
          </a:p>
          <a:p>
            <a:pPr lvl="1"/>
            <a:r>
              <a:rPr lang="en-US" sz="2000" dirty="0">
                <a:latin typeface="Source Sans Pro"/>
                <a:ea typeface="Source Sans Pro"/>
              </a:rPr>
              <a:t>User-defined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recursive functions</a:t>
            </a:r>
          </a:p>
          <a:p>
            <a:pPr lvl="1"/>
            <a:r>
              <a:rPr lang="en-US" sz="2000" dirty="0">
                <a:latin typeface="Source Sans Pro"/>
                <a:ea typeface="Source Sans Pro"/>
              </a:rPr>
              <a:t>Built-ins like polymorphic </a:t>
            </a:r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length(.) </a:t>
            </a:r>
            <a:r>
              <a:rPr lang="en-US" sz="2000" dirty="0">
                <a:latin typeface="Source Sans Pro"/>
                <a:ea typeface="Source Sans Pro"/>
              </a:rPr>
              <a:t>function</a:t>
            </a:r>
          </a:p>
          <a:p>
            <a:r>
              <a:rPr lang="en-US" sz="2400" dirty="0">
                <a:latin typeface="Source Sans Pro"/>
                <a:ea typeface="Source Sans Pro"/>
              </a:rPr>
              <a:t>More powerful type system (e.g.,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polymorphism</a:t>
            </a:r>
            <a:r>
              <a:rPr lang="en-US" sz="2400" dirty="0">
                <a:latin typeface="Source Sans Pro"/>
                <a:ea typeface="Source Sans Pro"/>
              </a:rPr>
              <a:t>)</a:t>
            </a:r>
          </a:p>
          <a:p>
            <a:r>
              <a:rPr lang="en-US" sz="2400" dirty="0">
                <a:latin typeface="Source Sans Pro"/>
                <a:ea typeface="Source Sans Pro"/>
              </a:rPr>
              <a:t>More search engines</a:t>
            </a:r>
          </a:p>
          <a:p>
            <a:pPr lvl="1"/>
            <a:r>
              <a:rPr lang="en-US" sz="2000" dirty="0">
                <a:latin typeface="Source Sans Pro"/>
                <a:ea typeface="Source Sans Pro"/>
              </a:rPr>
              <a:t>AI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abstraction/refinement </a:t>
            </a:r>
            <a:r>
              <a:rPr lang="en-US" sz="2000" dirty="0">
                <a:latin typeface="Source Sans Pro"/>
                <a:ea typeface="Source Sans Pro"/>
              </a:rPr>
              <a:t>algorithms</a:t>
            </a:r>
          </a:p>
          <a:p>
            <a:pPr lvl="1"/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Divide and conquer</a:t>
            </a:r>
            <a:r>
              <a:rPr lang="en-US" sz="2000" dirty="0">
                <a:latin typeface="Source Sans Pro"/>
                <a:ea typeface="Source Sans Pro"/>
              </a:rPr>
              <a:t>/parallel approaches</a:t>
            </a:r>
          </a:p>
          <a:p>
            <a:pPr lvl="1"/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Finite model finding </a:t>
            </a:r>
            <a:r>
              <a:rPr lang="en-US" sz="2000" dirty="0">
                <a:latin typeface="Source Sans Pro"/>
                <a:ea typeface="Source Sans Pro"/>
              </a:rPr>
              <a:t>and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CLP</a:t>
            </a:r>
            <a:r>
              <a:rPr lang="en-US" sz="2000" dirty="0">
                <a:latin typeface="Source Sans Pro"/>
                <a:ea typeface="Source Sans Pro"/>
              </a:rPr>
              <a:t> engines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CDCL-style </a:t>
            </a:r>
            <a:r>
              <a:rPr lang="en-US" sz="2400" dirty="0" err="1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backjumping</a:t>
            </a:r>
            <a:endParaRPr lang="en-US" sz="24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86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Source Sans Pro"/>
                <a:ea typeface="Source Sans Pro"/>
              </a:rPr>
              <a:t>Thanks! Questions?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433</TotalTime>
  <Words>1881</Words>
  <Application>Microsoft Macintosh PowerPoint</Application>
  <PresentationFormat>Widescreen</PresentationFormat>
  <Paragraphs>360</Paragraphs>
  <Slides>54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5" baseType="lpstr">
      <vt:lpstr>Aptos</vt:lpstr>
      <vt:lpstr>Aptos Display</vt:lpstr>
      <vt:lpstr>Arial</vt:lpstr>
      <vt:lpstr>Book Antiqua</vt:lpstr>
      <vt:lpstr>Calibri</vt:lpstr>
      <vt:lpstr>Cambria Math</vt:lpstr>
      <vt:lpstr>Menlo</vt:lpstr>
      <vt:lpstr>Monaco</vt:lpstr>
      <vt:lpstr>Source Sans Pro</vt:lpstr>
      <vt:lpstr>Wingdings</vt:lpstr>
      <vt:lpstr>Office Theme</vt:lpstr>
      <vt:lpstr>Parse this! Summoning Context-Sensitive Inputs with Goblin</vt:lpstr>
      <vt:lpstr>Problem Introduction</vt:lpstr>
      <vt:lpstr>Roadmap</vt:lpstr>
      <vt:lpstr>Roadmap</vt:lpstr>
      <vt:lpstr>Prior Work</vt:lpstr>
      <vt:lpstr>Wishlist</vt:lpstr>
      <vt:lpstr>Context-Free Input Generation</vt:lpstr>
      <vt:lpstr>Context-Free Input Generation</vt:lpstr>
      <vt:lpstr>Introducing Goblin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Structure-Aware Mutations</vt:lpstr>
      <vt:lpstr>Prior Work</vt:lpstr>
      <vt:lpstr>PowerPoint Presentation</vt:lpstr>
      <vt:lpstr>Language Features: Production Rules</vt:lpstr>
      <vt:lpstr>Language Features: Type Annotations</vt:lpstr>
      <vt:lpstr>Language Features: Refinement Types</vt:lpstr>
      <vt:lpstr>Language Features: Semantic Constraints</vt:lpstr>
      <vt:lpstr>Language Features: Dot Notation</vt:lpstr>
      <vt:lpstr>Language Features: Dot Notation</vt:lpstr>
      <vt:lpstr>Language Features: Derived Fields</vt:lpstr>
      <vt:lpstr>Language Features: Derived Fields</vt:lpstr>
      <vt:lpstr>PowerPoint Presentation</vt:lpstr>
      <vt:lpstr>Semantics: Abstract Syntax Trees</vt:lpstr>
      <vt:lpstr>Semantics: Abstract Syntax Trees</vt:lpstr>
      <vt:lpstr>Semantics</vt:lpstr>
      <vt:lpstr>Semantics: Constraint Satisfaction</vt:lpstr>
      <vt:lpstr>Semantics: Constraint Satisfaction</vt:lpstr>
      <vt:lpstr>PowerPoint Presentation</vt:lpstr>
      <vt:lpstr>Goblin Workflow</vt:lpstr>
      <vt:lpstr>Context-free Well-formedness</vt:lpstr>
      <vt:lpstr>Derived Field Checks</vt:lpstr>
      <vt:lpstr>Abstract Derived Fields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PowerPoint Presentation</vt:lpstr>
      <vt:lpstr>Formal Guarantees</vt:lpstr>
      <vt:lpstr>PowerPoint Presentation</vt:lpstr>
      <vt:lpstr>Evaluation</vt:lpstr>
      <vt:lpstr>Evaluation</vt:lpstr>
      <vt:lpstr>PowerPoint Presentation</vt:lpstr>
      <vt:lpstr>Discussion &amp; Future Work</vt:lpstr>
      <vt:lpstr>PowerPoint Presentation</vt:lpstr>
      <vt:lpstr>Appendix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763</cp:revision>
  <dcterms:created xsi:type="dcterms:W3CDTF">2026-03-16T17:02:12Z</dcterms:created>
  <dcterms:modified xsi:type="dcterms:W3CDTF">2026-03-18T23:40:18Z</dcterms:modified>
</cp:coreProperties>
</file>