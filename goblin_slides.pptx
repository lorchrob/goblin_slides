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0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385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404" r:id="rId36"/>
    <p:sldId id="405" r:id="rId37"/>
    <p:sldId id="406" r:id="rId38"/>
    <p:sldId id="344" r:id="rId39"/>
    <p:sldId id="407" r:id="rId40"/>
    <p:sldId id="345" r:id="rId41"/>
    <p:sldId id="333" r:id="rId42"/>
    <p:sldId id="346" r:id="rId43"/>
    <p:sldId id="347" r:id="rId44"/>
    <p:sldId id="348" r:id="rId45"/>
    <p:sldId id="349" r:id="rId46"/>
    <p:sldId id="350" r:id="rId47"/>
    <p:sldId id="334" r:id="rId48"/>
    <p:sldId id="351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93" r:id="rId60"/>
    <p:sldId id="394" r:id="rId61"/>
    <p:sldId id="401" r:id="rId62"/>
    <p:sldId id="366" r:id="rId63"/>
    <p:sldId id="367" r:id="rId64"/>
    <p:sldId id="399" r:id="rId65"/>
    <p:sldId id="352" r:id="rId66"/>
    <p:sldId id="336" r:id="rId67"/>
    <p:sldId id="353" r:id="rId68"/>
    <p:sldId id="337" r:id="rId69"/>
    <p:sldId id="355" r:id="rId70"/>
    <p:sldId id="300" r:id="rId71"/>
    <p:sldId id="317" r:id="rId72"/>
    <p:sldId id="370" r:id="rId73"/>
    <p:sldId id="371" r:id="rId74"/>
    <p:sldId id="372" r:id="rId75"/>
    <p:sldId id="373" r:id="rId76"/>
    <p:sldId id="374" r:id="rId77"/>
    <p:sldId id="375" r:id="rId78"/>
    <p:sldId id="376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73" autoAdjust="0"/>
    <p:restoredTop sz="76623"/>
  </p:normalViewPr>
  <p:slideViewPr>
    <p:cSldViewPr snapToGrid="0">
      <p:cViewPr>
        <p:scale>
          <a:sx n="124" d="100"/>
          <a:sy n="124" d="100"/>
        </p:scale>
        <p:origin x="99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56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6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9.png"/><Relationship Id="rId7" Type="http://schemas.openxmlformats.org/officeDocument/2006/relationships/image" Target="../media/image5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3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59.png"/><Relationship Id="rId7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54.png"/><Relationship Id="rId10" Type="http://schemas.openxmlformats.org/officeDocument/2006/relationships/image" Target="../media/image48.png"/><Relationship Id="rId4" Type="http://schemas.openxmlformats.org/officeDocument/2006/relationships/image" Target="../media/image57.png"/><Relationship Id="rId9" Type="http://schemas.openxmlformats.org/officeDocument/2006/relationships/image" Target="../media/image53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61.png"/><Relationship Id="rId7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62.png"/><Relationship Id="rId10" Type="http://schemas.openxmlformats.org/officeDocument/2006/relationships/image" Target="../media/image48.png"/><Relationship Id="rId4" Type="http://schemas.openxmlformats.org/officeDocument/2006/relationships/image" Target="../media/image60.png"/><Relationship Id="rId9" Type="http://schemas.openxmlformats.org/officeDocument/2006/relationships/image" Target="../media/image5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/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8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8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1571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complex input formats</a:t>
            </a: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151036" y="2298610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859853" y="183695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897" y="3112745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12" y="316338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8037" y="4239406"/>
            <a:ext cx="935245" cy="9352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57A5238-6196-E3F3-AD26-6A3095B77936}"/>
              </a:ext>
            </a:extLst>
          </p:cNvPr>
          <p:cNvSpPr/>
          <p:nvPr/>
        </p:nvSpPr>
        <p:spPr>
          <a:xfrm>
            <a:off x="4416478" y="3515709"/>
            <a:ext cx="6515226" cy="1325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work shows context-free input generation often works in practice!</a:t>
            </a:r>
          </a:p>
        </p:txBody>
      </p:sp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AE2D54-E6B2-A25B-70C4-C0618A2C3953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21" name="Picture 20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ADD973F0-4743-0781-A8E0-98D72E19D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D0365468-C33B-084A-720C-FF33BE1D5D2E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020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  <a:blipFill>
                <a:blip r:embed="rId3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47693-DBDC-C971-FF7C-70B04F340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9DC34F-83E3-8286-F30B-63B442B221BE}"/>
              </a:ext>
            </a:extLst>
          </p:cNvPr>
          <p:cNvCxnSpPr>
            <a:cxnSpLocks/>
            <a:stCxn id="13" idx="6"/>
            <a:endCxn id="6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E3B9C7-268D-A9CF-E733-26FCC2D488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0FFFF65-FFFD-052C-EE9F-771328F10C4F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5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141FD27B-91E8-1D25-C92E-1BDB5EA3E998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9E426F-47A8-0770-5BBB-310B9139230D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08EB8ACF-C99F-17EA-1818-EC0CBF367CD3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4ED21C9-BC1B-78EC-DDC3-83100131FCA9}"/>
              </a:ext>
            </a:extLst>
          </p:cNvPr>
          <p:cNvSpPr/>
          <p:nvPr/>
        </p:nvSpPr>
        <p:spPr>
          <a:xfrm>
            <a:off x="7403417" y="4216486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2A1F9D1-CB08-7BC6-78AE-EC96FCF51271}"/>
              </a:ext>
            </a:extLst>
          </p:cNvPr>
          <p:cNvSpPr/>
          <p:nvPr/>
        </p:nvSpPr>
        <p:spPr>
          <a:xfrm>
            <a:off x="7391475" y="3043420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4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514350" indent="-514350" algn="ctr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14142" y="5047266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Constraint-aware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661132" y="2601212"/>
            <a:ext cx="2460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8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80814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0814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882742" y="4690758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49593" y="4690758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98178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967544" y="441350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67662537-72B0-964D-1869-89CF75128CD1}"/>
              </a:ext>
            </a:extLst>
          </p:cNvPr>
          <p:cNvCxnSpPr>
            <a:cxnSpLocks/>
            <a:stCxn id="31" idx="4"/>
          </p:cNvCxnSpPr>
          <p:nvPr/>
        </p:nvCxnSpPr>
        <p:spPr>
          <a:xfrm rot="5400000" flipH="1">
            <a:off x="8546215" y="3090456"/>
            <a:ext cx="14077" cy="1215860"/>
          </a:xfrm>
          <a:prstGeom prst="curvedConnector4">
            <a:avLst>
              <a:gd name="adj1" fmla="val -1623926"/>
              <a:gd name="adj2" fmla="val 9999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5CD387BC-87C3-171F-1B8D-A5EC2519BBDC}"/>
              </a:ext>
            </a:extLst>
          </p:cNvPr>
          <p:cNvCxnSpPr>
            <a:cxnSpLocks/>
            <a:stCxn id="32" idx="0"/>
          </p:cNvCxnSpPr>
          <p:nvPr/>
        </p:nvCxnSpPr>
        <p:spPr>
          <a:xfrm rot="16200000" flipH="1" flipV="1">
            <a:off x="8077369" y="4218876"/>
            <a:ext cx="27686" cy="416943"/>
          </a:xfrm>
          <a:prstGeom prst="curvedConnector4">
            <a:avLst>
              <a:gd name="adj1" fmla="val -565921"/>
              <a:gd name="adj2" fmla="val 9229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9" grpId="0"/>
      <p:bldP spid="20" grpId="0"/>
      <p:bldP spid="23" grpId="0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203C09-1E39-A6C4-1F75-85612EDE60E9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74" y="1683199"/>
            <a:ext cx="10515600" cy="44607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</a:p>
          <a:p>
            <a:pPr marL="0" indent="0" algn="ctr">
              <a:buNone/>
            </a:pP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53BBB5-1BD8-E8E4-694F-A2E668785E21}"/>
              </a:ext>
            </a:extLst>
          </p:cNvPr>
          <p:cNvSpPr/>
          <p:nvPr/>
        </p:nvSpPr>
        <p:spPr>
          <a:xfrm>
            <a:off x="2806152" y="2508832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::= &lt;Type&gt; &lt;Aux&gt; &lt;Payload&gt;;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4B7C08-04ED-1D33-F71C-6859F5EA0BC2}"/>
              </a:ext>
            </a:extLst>
          </p:cNvPr>
          <p:cNvSpPr/>
          <p:nvPr/>
        </p:nvSpPr>
        <p:spPr>
          <a:xfrm>
            <a:off x="2795671" y="3641283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 ::= &lt;Field_1&gt; &lt;Field_2&gt; &lt;Bytes&gt;;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423B08-21DF-070F-F343-7C2B7F49BF84}"/>
              </a:ext>
            </a:extLst>
          </p:cNvPr>
          <p:cNvSpPr/>
          <p:nvPr/>
        </p:nvSpPr>
        <p:spPr>
          <a:xfrm>
            <a:off x="2795670" y="477373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&lt;Bytes&gt; ::= &lt;Byte&gt; &lt;Bytes&gt; | &lt;Byte&gt;;</a:t>
            </a:r>
          </a:p>
        </p:txBody>
      </p:sp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9750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teal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  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(8);</a:t>
            </a:r>
          </a:p>
        </p:txBody>
      </p:sp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E931099-BC56-9B94-D162-AA86127D4FE0}"/>
              </a:ext>
            </a:extLst>
          </p:cNvPr>
          <p:cNvSpPr txBox="1">
            <a:spLocks/>
          </p:cNvSpPr>
          <p:nvPr/>
        </p:nvSpPr>
        <p:spPr>
          <a:xfrm>
            <a:off x="838200" y="1683928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06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16426" y="2815525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&lt;Type&gt; =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0x01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=&gt;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&lt;Payload&gt;.&lt;Bytes&gt;.&lt;Byte&gt;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bvugt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0x20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2AFD94F-152C-B660-A756-F56C8FB419D6}"/>
              </a:ext>
            </a:extLst>
          </p:cNvPr>
          <p:cNvSpPr txBox="1">
            <a:spLocks/>
          </p:cNvSpPr>
          <p:nvPr/>
        </p:nvSpPr>
        <p:spPr>
          <a:xfrm>
            <a:off x="838200" y="159073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rules;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0609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dot notation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91244-29EE-20C8-08F0-C3A7D6D48FAA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 local constraints, dot notation and SMT-LIB are enough to be as expressive as prior work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159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AD68E-49BE-08F0-1238-6ACCA014571A}"/>
              </a:ext>
            </a:extLst>
          </p:cNvPr>
          <p:cNvSpPr/>
          <p:nvPr/>
        </p:nvSpPr>
        <p:spPr>
          <a:xfrm>
            <a:off x="0" y="2837497"/>
            <a:ext cx="12198423" cy="20689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</a:rPr>
              <a:t>Reminder: Goblin is inherently minimal, as it is designed to be a compile target (not user-facing)</a:t>
            </a:r>
            <a:endParaRPr lang="en-US" dirty="0"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49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DC24104-2767-4DA8-F745-C02B24C60FE5}"/>
              </a:ext>
            </a:extLst>
          </p:cNvPr>
          <p:cNvSpPr/>
          <p:nvPr/>
        </p:nvSpPr>
        <p:spPr>
          <a:xfrm>
            <a:off x="2795878" y="2018814"/>
            <a:ext cx="6600243" cy="944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…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463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derivation tree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 an AST in progress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560768"/>
            <a:ext cx="7772400" cy="33468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/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1. Build candidate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2. Make decisions and backtrack when stuck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3. When closed, instantiate with concrete values</a:t>
                </a:r>
                <a:endParaRPr lang="en-US" sz="20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3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blipFill>
                <a:blip r:embed="rId4"/>
                <a:stretch>
                  <a:fillRect l="-1581" t="-6667" r="-395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96215" y="3321043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89400" y="3583897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50378" y="2842507"/>
            <a:ext cx="3969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2781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&lt;nt_2&gt;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&lt;a&gt;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&lt;b&gt;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086766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</p:cNvCxnSpPr>
          <p:nvPr/>
        </p:nvCxnSpPr>
        <p:spPr>
          <a:xfrm>
            <a:off x="1401345" y="4792717"/>
            <a:ext cx="131446" cy="210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56978" y="5372065"/>
            <a:ext cx="2903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47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298991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1B80DBE-AACF-26E7-1A00-E430B29EB169}"/>
              </a:ext>
            </a:extLst>
          </p:cNvPr>
          <p:cNvGrpSpPr/>
          <p:nvPr/>
        </p:nvGrpSpPr>
        <p:grpSpPr>
          <a:xfrm>
            <a:off x="10640389" y="4588163"/>
            <a:ext cx="1139803" cy="1324469"/>
            <a:chOff x="10640389" y="4588163"/>
            <a:chExt cx="1139803" cy="1324469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125AD7D-175F-EA5D-B524-750ADB5EDA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40389" y="4588163"/>
              <a:ext cx="1139803" cy="1139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86E3D9A-BACD-01EE-B9E4-8B40683F704C}"/>
                </a:ext>
              </a:extLst>
            </p:cNvPr>
            <p:cNvSpPr txBox="1"/>
            <p:nvPr/>
          </p:nvSpPr>
          <p:spPr>
            <a:xfrm>
              <a:off x="10685146" y="5543300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798975" y="264723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19F787-2E03-15EB-069B-A2267C1F633D}"/>
              </a:ext>
            </a:extLst>
          </p:cNvPr>
          <p:cNvSpPr/>
          <p:nvPr/>
        </p:nvSpPr>
        <p:spPr>
          <a:xfrm>
            <a:off x="4277700" y="3149669"/>
            <a:ext cx="3389157" cy="209505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Avenir Next Condensed" panose="020B0506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More details in the paper!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Abstraction-refinement algorithms?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10078</TotalTime>
  <Words>4043</Words>
  <Application>Microsoft Macintosh PowerPoint</Application>
  <PresentationFormat>Widescreen</PresentationFormat>
  <Paragraphs>744</Paragraphs>
  <Slides>78</Slides>
  <Notes>18</Notes>
  <HiddenSlides>28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95" baseType="lpstr">
      <vt:lpstr>American Typewriter</vt:lpstr>
      <vt:lpstr>Aptos</vt:lpstr>
      <vt:lpstr>Aptos Display</vt:lpstr>
      <vt:lpstr>Arial</vt:lpstr>
      <vt:lpstr>Avenir Next</vt:lpstr>
      <vt:lpstr>Avenir Next Condensed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980</cp:revision>
  <dcterms:created xsi:type="dcterms:W3CDTF">2026-03-16T17:02:12Z</dcterms:created>
  <dcterms:modified xsi:type="dcterms:W3CDTF">2026-04-08T15:12:54Z</dcterms:modified>
</cp:coreProperties>
</file>