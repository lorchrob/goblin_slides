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79"/>
  </p:notesMasterIdLst>
  <p:sldIdLst>
    <p:sldId id="256" r:id="rId2"/>
    <p:sldId id="379" r:id="rId3"/>
    <p:sldId id="382" r:id="rId4"/>
    <p:sldId id="403" r:id="rId5"/>
    <p:sldId id="318" r:id="rId6"/>
    <p:sldId id="383" r:id="rId7"/>
    <p:sldId id="324" r:id="rId8"/>
    <p:sldId id="384" r:id="rId9"/>
    <p:sldId id="402" r:id="rId10"/>
    <p:sldId id="385" r:id="rId11"/>
    <p:sldId id="386" r:id="rId12"/>
    <p:sldId id="395" r:id="rId13"/>
    <p:sldId id="387" r:id="rId14"/>
    <p:sldId id="398" r:id="rId15"/>
    <p:sldId id="397" r:id="rId16"/>
    <p:sldId id="332" r:id="rId17"/>
    <p:sldId id="331" r:id="rId18"/>
    <p:sldId id="389" r:id="rId19"/>
    <p:sldId id="390" r:id="rId20"/>
    <p:sldId id="388" r:id="rId21"/>
    <p:sldId id="391" r:id="rId22"/>
    <p:sldId id="322" r:id="rId23"/>
    <p:sldId id="323" r:id="rId24"/>
    <p:sldId id="325" r:id="rId25"/>
    <p:sldId id="326" r:id="rId26"/>
    <p:sldId id="327" r:id="rId27"/>
    <p:sldId id="368" r:id="rId28"/>
    <p:sldId id="369" r:id="rId29"/>
    <p:sldId id="377" r:id="rId30"/>
    <p:sldId id="328" r:id="rId31"/>
    <p:sldId id="329" r:id="rId32"/>
    <p:sldId id="321" r:id="rId33"/>
    <p:sldId id="338" r:id="rId34"/>
    <p:sldId id="339" r:id="rId35"/>
    <p:sldId id="340" r:id="rId36"/>
    <p:sldId id="341" r:id="rId37"/>
    <p:sldId id="342" r:id="rId38"/>
    <p:sldId id="344" r:id="rId39"/>
    <p:sldId id="345" r:id="rId40"/>
    <p:sldId id="333" r:id="rId41"/>
    <p:sldId id="346" r:id="rId42"/>
    <p:sldId id="347" r:id="rId43"/>
    <p:sldId id="348" r:id="rId44"/>
    <p:sldId id="349" r:id="rId45"/>
    <p:sldId id="350" r:id="rId46"/>
    <p:sldId id="334" r:id="rId47"/>
    <p:sldId id="351" r:id="rId48"/>
    <p:sldId id="356" r:id="rId49"/>
    <p:sldId id="357" r:id="rId50"/>
    <p:sldId id="358" r:id="rId51"/>
    <p:sldId id="359" r:id="rId52"/>
    <p:sldId id="360" r:id="rId53"/>
    <p:sldId id="361" r:id="rId54"/>
    <p:sldId id="362" r:id="rId55"/>
    <p:sldId id="363" r:id="rId56"/>
    <p:sldId id="364" r:id="rId57"/>
    <p:sldId id="365" r:id="rId58"/>
    <p:sldId id="393" r:id="rId59"/>
    <p:sldId id="394" r:id="rId60"/>
    <p:sldId id="401" r:id="rId61"/>
    <p:sldId id="366" r:id="rId62"/>
    <p:sldId id="367" r:id="rId63"/>
    <p:sldId id="399" r:id="rId64"/>
    <p:sldId id="352" r:id="rId65"/>
    <p:sldId id="336" r:id="rId66"/>
    <p:sldId id="353" r:id="rId67"/>
    <p:sldId id="337" r:id="rId68"/>
    <p:sldId id="355" r:id="rId69"/>
    <p:sldId id="300" r:id="rId70"/>
    <p:sldId id="317" r:id="rId71"/>
    <p:sldId id="370" r:id="rId72"/>
    <p:sldId id="371" r:id="rId73"/>
    <p:sldId id="372" r:id="rId74"/>
    <p:sldId id="373" r:id="rId75"/>
    <p:sldId id="374" r:id="rId76"/>
    <p:sldId id="375" r:id="rId77"/>
    <p:sldId id="376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FFF"/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04" autoAdjust="0"/>
    <p:restoredTop sz="76623"/>
  </p:normalViewPr>
  <p:slideViewPr>
    <p:cSldViewPr snapToGrid="0">
      <p:cViewPr>
        <p:scale>
          <a:sx n="124" d="100"/>
          <a:sy n="124" d="100"/>
        </p:scale>
        <p:origin x="99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96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228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𝑘=3</a:t>
                </a:r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966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4 – CLP, SMT datatype finite model finding, AI abstraction/refinement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56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60.png"/><Relationship Id="rId7" Type="http://schemas.openxmlformats.org/officeDocument/2006/relationships/image" Target="../media/image57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4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62.png"/><Relationship Id="rId7" Type="http://schemas.openxmlformats.org/officeDocument/2006/relationships/image" Target="../media/image5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6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12" Type="http://schemas.openxmlformats.org/officeDocument/2006/relationships/image" Target="../media/image7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Parse this! Summoning Context-Sensitive Inputs with 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Muhammad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Daniyal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Pirwani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Dar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Cesare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Tinelli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&amp; Omar Chowdhury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April 17, 2026</a:t>
            </a: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A084-8710-CC77-0DF3-3BD1E552C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5000"/>
                    <a:lumOff val="25000"/>
                  </a:schemeClr>
                </a:solidFill>
                <a:latin typeface="Avenir Next" panose="020B0503020202020204" pitchFamily="34" charset="0"/>
              </a:rPr>
              <a:t>Automated Testing and Security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974ADA-09BE-1C13-E065-C052B4CE8899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507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3C4FD3E-A5C4-D874-7D10-1E37F833DA17}"/>
              </a:ext>
            </a:extLst>
          </p:cNvPr>
          <p:cNvSpPr/>
          <p:nvPr/>
        </p:nvSpPr>
        <p:spPr>
          <a:xfrm>
            <a:off x="1549400" y="5155639"/>
            <a:ext cx="9027730" cy="10219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8032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Some software systems have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highly complex input formats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80323"/>
              </a:xfrm>
              <a:blipFill>
                <a:blip r:embed="rId2"/>
                <a:stretch>
                  <a:fillRect t="-2786" b="-3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  <a:blipFill>
                <a:blip r:embed="rId2"/>
                <a:stretch>
                  <a:fillRect t="-21951" b="-268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9038020" y="2330728"/>
            <a:ext cx="1872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9746837" y="1825624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607" y="3482616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241" y="3533257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1592" y="3573188"/>
            <a:ext cx="935245" cy="93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6166" y="3468109"/>
            <a:ext cx="661423" cy="66142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12A314-EDC7-0233-6FA3-220DFFEDE2EA}"/>
              </a:ext>
            </a:extLst>
          </p:cNvPr>
          <p:cNvGrpSpPr/>
          <p:nvPr/>
        </p:nvGrpSpPr>
        <p:grpSpPr>
          <a:xfrm>
            <a:off x="558822" y="2424632"/>
            <a:ext cx="6263576" cy="4094635"/>
            <a:chOff x="1681748" y="2377721"/>
            <a:chExt cx="6263576" cy="4094635"/>
          </a:xfrm>
        </p:grpSpPr>
        <p:pic>
          <p:nvPicPr>
            <p:cNvPr id="7" name="Picture 6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8E94A421-C755-47DC-7043-F75A9DDC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C0EF8C7A-2B0F-D041-A8EA-7A8F661152F9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1455" y="3530240"/>
            <a:ext cx="558800" cy="5588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D84DDC-3470-44A2-0430-22A0CC5A2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A9FD16-A4B7-EF2B-DA1A-79E6694E7A13}"/>
              </a:ext>
            </a:extLst>
          </p:cNvPr>
          <p:cNvGrpSpPr/>
          <p:nvPr/>
        </p:nvGrpSpPr>
        <p:grpSpPr>
          <a:xfrm>
            <a:off x="558822" y="2424632"/>
            <a:ext cx="6263576" cy="4094635"/>
            <a:chOff x="1681748" y="2377721"/>
            <a:chExt cx="6263576" cy="4094635"/>
          </a:xfrm>
        </p:grpSpPr>
        <p:pic>
          <p:nvPicPr>
            <p:cNvPr id="15" name="Picture 14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D42F930F-D300-D98D-D5F9-4B48FF3C8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16" name="Content Placeholder 2">
              <a:extLst>
                <a:ext uri="{FF2B5EF4-FFF2-40B4-BE49-F238E27FC236}">
                  <a16:creationId xmlns:a16="http://schemas.microsoft.com/office/drawing/2014/main" id="{713B1DF9-ABB6-F2EC-6BFB-AC7075231B27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E0FAAF84-A056-0989-33F3-7110D0B1F8C4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0E74E04-FDC8-55C3-909E-327AD02B6E78}"/>
              </a:ext>
            </a:extLst>
          </p:cNvPr>
          <p:cNvSpPr/>
          <p:nvPr/>
        </p:nvSpPr>
        <p:spPr>
          <a:xfrm>
            <a:off x="6745109" y="263587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/>
              <p:nvPr/>
            </p:nvSpPr>
            <p:spPr>
              <a:xfrm>
                <a:off x="1193800" y="1790700"/>
                <a:ext cx="9867900" cy="61493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3800" y="1790700"/>
                <a:ext cx="9867900" cy="614937"/>
              </a:xfrm>
              <a:prstGeom prst="rect">
                <a:avLst/>
              </a:prstGeom>
              <a:blipFill>
                <a:blip r:embed="rId3"/>
                <a:stretch>
                  <a:fillRect b="-1020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25625"/>
                <a:ext cx="12192000" cy="624555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25625"/>
                <a:ext cx="12192000" cy="624555"/>
              </a:xfrm>
              <a:blipFill>
                <a:blip r:embed="rId3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947693-DBDC-C971-FF7C-70B04F340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9DC34F-83E3-8286-F30B-63B442B221BE}"/>
              </a:ext>
            </a:extLst>
          </p:cNvPr>
          <p:cNvCxnSpPr>
            <a:cxnSpLocks/>
            <a:stCxn id="13" idx="6"/>
            <a:endCxn id="6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6E3B9C7-268D-A9CF-E733-26FCC2D488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0FFFF65-FFFD-052C-EE9F-771328F10C4F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C339CD-9526-8259-3F76-5B62D9F6F327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C339CD-9526-8259-3F76-5B62D9F6F3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5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391AC7-2107-DBEF-68E5-55798A9762F5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391AC7-2107-DBEF-68E5-55798A9762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141FD27B-91E8-1D25-C92E-1BDB5EA3E998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C9E426F-47A8-0770-5BBB-310B9139230D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EA64FA-2384-A014-5053-12AE09F4984E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EA64FA-2384-A014-5053-12AE09F498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08EB8ACF-C99F-17EA-1818-EC0CBF367CD3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993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4ED21C9-BC1B-78EC-DDC3-83100131FCA9}"/>
              </a:ext>
            </a:extLst>
          </p:cNvPr>
          <p:cNvSpPr/>
          <p:nvPr/>
        </p:nvSpPr>
        <p:spPr>
          <a:xfrm>
            <a:off x="7403417" y="4216486"/>
            <a:ext cx="2804812" cy="806816"/>
          </a:xfrm>
          <a:prstGeom prst="roundRect">
            <a:avLst/>
          </a:prstGeom>
          <a:solidFill>
            <a:srgbClr val="E0E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2A1F9D1-CB08-7BC6-78AE-EC96FCF51271}"/>
              </a:ext>
            </a:extLst>
          </p:cNvPr>
          <p:cNvSpPr/>
          <p:nvPr/>
        </p:nvSpPr>
        <p:spPr>
          <a:xfrm>
            <a:off x="7391475" y="3043420"/>
            <a:ext cx="2804812" cy="806816"/>
          </a:xfrm>
          <a:prstGeom prst="roundRect">
            <a:avLst/>
          </a:prstGeom>
          <a:solidFill>
            <a:srgbClr val="E0E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4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91476" y="3316004"/>
                <a:ext cx="2804812" cy="1593496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514350" indent="-514350" algn="ctr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sSup>
                      <m:sSup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76" y="3316004"/>
                <a:ext cx="2804812" cy="15934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15846D3-9030-1BB1-3591-D75369CC194C}"/>
              </a:ext>
            </a:extLst>
          </p:cNvPr>
          <p:cNvSpPr/>
          <p:nvPr/>
        </p:nvSpPr>
        <p:spPr>
          <a:xfrm>
            <a:off x="8064649" y="4329179"/>
            <a:ext cx="473737" cy="48532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7514142" y="5047266"/>
            <a:ext cx="2682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Constraint-aware!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661132" y="2601212"/>
            <a:ext cx="24188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Constraint-blind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8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17">
            <a:extLst>
              <a:ext uri="{FF2B5EF4-FFF2-40B4-BE49-F238E27FC236}">
                <a16:creationId xmlns:a16="http://schemas.microsoft.com/office/drawing/2014/main" id="{08C88989-A83D-DD95-B134-6A86AAE66669}"/>
              </a:ext>
            </a:extLst>
          </p:cNvPr>
          <p:cNvSpPr/>
          <p:nvPr/>
        </p:nvSpPr>
        <p:spPr>
          <a:xfrm>
            <a:off x="8922865" y="3308680"/>
            <a:ext cx="473737" cy="48532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245915-F3F7-9DB7-8B3B-27DE4A8D0059}"/>
              </a:ext>
            </a:extLst>
          </p:cNvPr>
          <p:cNvSpPr txBox="1"/>
          <p:nvPr/>
        </p:nvSpPr>
        <p:spPr>
          <a:xfrm>
            <a:off x="7845662" y="3010279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DB51C2-7C4B-CE1A-23FE-38EF7DDBD85C}"/>
              </a:ext>
            </a:extLst>
          </p:cNvPr>
          <p:cNvSpPr txBox="1"/>
          <p:nvPr/>
        </p:nvSpPr>
        <p:spPr>
          <a:xfrm>
            <a:off x="8704319" y="3017787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178D76-18C9-B5FA-AD72-CF59AFFCB1A3}"/>
              </a:ext>
            </a:extLst>
          </p:cNvPr>
          <p:cNvSpPr txBox="1"/>
          <p:nvPr/>
        </p:nvSpPr>
        <p:spPr>
          <a:xfrm>
            <a:off x="7851920" y="4723097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0CD2DC-3D6B-62FA-102B-CE69D67A5C65}"/>
              </a:ext>
            </a:extLst>
          </p:cNvPr>
          <p:cNvSpPr txBox="1"/>
          <p:nvPr/>
        </p:nvSpPr>
        <p:spPr>
          <a:xfrm>
            <a:off x="8849593" y="4720064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3" grpId="0"/>
      <p:bldP spid="18" grpId="0" animBg="1"/>
      <p:bldP spid="19" grpId="0"/>
      <p:bldP spid="20" grpId="0"/>
      <p:bldP spid="23" grpId="0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blipFill>
                <a:blip r:embed="rId3"/>
                <a:stretch>
                  <a:fillRect l="-1054" t="-10526" r="-151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/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𝑀𝑢𝑡𝑎𝑡𝑒</m:t>
                          </m:r>
                        </m:sub>
                      </m:sSub>
                      <m:sSup>
                        <m:sSup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/>
              <p:nvPr/>
            </p:nvSpPr>
            <p:spPr>
              <a:xfrm>
                <a:off x="1397000" y="3550725"/>
                <a:ext cx="3473450" cy="490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𝑆𝑎𝑚𝑝𝑙𝑒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3550725"/>
                <a:ext cx="3473450" cy="490199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7000" y="3612678"/>
            <a:ext cx="363161" cy="363161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0203C09-1E39-A6C4-1F75-85612EDE60E9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6" grpId="0"/>
      <p:bldP spid="1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AF4EB60-0F98-D35F-1F34-52003CC39B34}"/>
              </a:ext>
            </a:extLst>
          </p:cNvPr>
          <p:cNvSpPr/>
          <p:nvPr/>
        </p:nvSpPr>
        <p:spPr>
          <a:xfrm>
            <a:off x="1259930" y="5154748"/>
            <a:ext cx="9906824" cy="8763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blipFill>
                <a:blip r:embed="rId3"/>
                <a:stretch>
                  <a:fillRect l="-1054" t="-10526" r="-151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/>
              <p:nvPr/>
            </p:nvSpPr>
            <p:spPr>
              <a:xfrm>
                <a:off x="1003300" y="3032537"/>
                <a:ext cx="34734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𝑀𝑢𝑡𝑎𝑡𝑒</m:t>
                          </m:r>
                        </m:sub>
                      </m:sSub>
                      <m:sSup>
                        <m:sSup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0" y="3032537"/>
                <a:ext cx="347345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1E1D45-97D0-1EF1-88B0-602A3B491A3F}"/>
                  </a:ext>
                </a:extLst>
              </p:cNvPr>
              <p:cNvSpPr txBox="1"/>
              <p:nvPr/>
            </p:nvSpPr>
            <p:spPr>
              <a:xfrm>
                <a:off x="1003300" y="3620116"/>
                <a:ext cx="34734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𝑀𝑢𝑡𝑎𝑡𝑒</m:t>
                          </m:r>
                        </m:sub>
                      </m:sSub>
                      <m:sSup>
                        <m:sSup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1E1D45-97D0-1EF1-88B0-602A3B491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0" y="3620116"/>
                <a:ext cx="347345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/>
              <p:nvPr/>
            </p:nvSpPr>
            <p:spPr>
              <a:xfrm>
                <a:off x="1397000" y="4207695"/>
                <a:ext cx="3473450" cy="490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𝑆𝑎𝑚𝑝𝑙𝑒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4207695"/>
                <a:ext cx="3473450" cy="490199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6200" y="3663445"/>
            <a:ext cx="382237" cy="38223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31960" y="5354162"/>
            <a:ext cx="450996" cy="45099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6B6AFCD-91B2-9DB5-5715-EDCBE177347D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1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DB15AE-93E5-CA80-A2D8-6513C938FD32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7353" y="2248377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&lt;Type&gt; &lt;Length&gt;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&lt;Length&gt; &lt;Type&gt;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54D4292-968C-E798-5419-9AC6C3A64583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6" name="Table 8">
            <a:extLst>
              <a:ext uri="{FF2B5EF4-FFF2-40B4-BE49-F238E27FC236}">
                <a16:creationId xmlns:a16="http://schemas.microsoft.com/office/drawing/2014/main" id="{5FED09C4-8A83-A452-0AE5-1E1175B133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325522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500" y="2425700"/>
            <a:ext cx="22098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7726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4411718C-E5A1-FD06-1385-C76930B78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090117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monotonicity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 constraints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CD0BD16D-41B1-71D0-024B-C231CB94D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14289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has already been used to help discover novel semantic bugs in widely-used software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1F30335D-5030-38BF-6693-CA819C949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7821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01A92F-1A79-07C6-4460-3C6AF9A61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838649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production rules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 in CFGs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BCCB0CFF-07BD-0840-9185-61A50394B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39588"/>
            <a:ext cx="7772400" cy="360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symbolic terminals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(in </a:t>
            </a:r>
            <a:r>
              <a:rPr lang="en-US" sz="2400" dirty="0">
                <a:solidFill>
                  <a:srgbClr val="00808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teal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 annotations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rather than concrete terminals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6FD0D61-6BFB-84A5-A427-A958D5737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65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refinement types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51896D37-324B-212D-C5BA-AA1871A85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3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891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Semantic Constraints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 constraints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to production rules </a:t>
            </a: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SMT-LIB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analogues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A4EECF6-CE18-6089-4E85-8CA494077B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2045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 child nonterminals with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dot notation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AA5B3167-0DDC-B422-161E-C12A5EA69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39E3DF7-3783-3832-10F1-A03AC264E69E}"/>
              </a:ext>
            </a:extLst>
          </p:cNvPr>
          <p:cNvSpPr txBox="1">
            <a:spLocks/>
          </p:cNvSpPr>
          <p:nvPr/>
        </p:nvSpPr>
        <p:spPr>
          <a:xfrm>
            <a:off x="838200" y="6245604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Local constraints + SMT-LIB + dot notation = expressive!</a:t>
            </a:r>
            <a:endParaRPr lang="en-US" sz="2400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536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306845"/>
            <a:ext cx="7772400" cy="1888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 syntax trees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ADT terms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-207" y="5897265"/>
            <a:ext cx="12192000" cy="8365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ADT view allows Goblin to natively support constraints over arbitrary SMT theories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6293321-1E58-F318-93E1-CA0F6238B309}"/>
              </a:ext>
            </a:extLst>
          </p:cNvPr>
          <p:cNvSpPr/>
          <p:nvPr/>
        </p:nvSpPr>
        <p:spPr>
          <a:xfrm>
            <a:off x="-206" y="3171217"/>
            <a:ext cx="12192000" cy="107509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Britannic Bold" panose="020B0903060703020204" pitchFamily="34" charset="77"/>
              </a:rPr>
              <a:t>This also signifies that one should explicitly perform a separate serialization step to obtain a serialized string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3" grpId="0" uiExpand="1" build="p"/>
      <p:bldP spid="3" grpId="1" uiExpand="1" build="p"/>
      <p:bldP spid="8" grpId="0" animBg="1"/>
      <p:bldP spid="8" grpId="1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white rectangular object with red and blue text&#10;&#10;Description automatically generated">
            <a:extLst>
              <a:ext uri="{FF2B5EF4-FFF2-40B4-BE49-F238E27FC236}">
                <a16:creationId xmlns:a16="http://schemas.microsoft.com/office/drawing/2014/main" id="{E83891BD-834C-9668-1E66-E5EDEAF5E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943066"/>
            <a:ext cx="7772400" cy="139461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00463" y="1546292"/>
            <a:ext cx="895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can mechanically verify that a given ADT term satisfies all the constraints</a:t>
            </a:r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derivation tree </a:t>
                </a: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an AST in progress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Build candidate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via random walk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Make decisions and backtrack when stuck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When closed, instantiate with concrete values</a:t>
                </a:r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2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3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314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59699" y="3167134"/>
            <a:ext cx="262602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29" grpId="0" animBg="1"/>
      <p:bldP spid="31" grpId="0"/>
      <p:bldP spid="3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75280" y="3449743"/>
            <a:ext cx="27163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Infeasibility was due to early commitment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5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6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850378" y="2842507"/>
            <a:ext cx="3969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2781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DCAD2-445D-6A5F-178E-08EE92577A2B}"/>
              </a:ext>
            </a:extLst>
          </p:cNvPr>
          <p:cNvSpPr txBox="1"/>
          <p:nvPr/>
        </p:nvSpPr>
        <p:spPr>
          <a:xfrm>
            <a:off x="1104900" y="5003653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&lt;nt_2&gt;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D00AF-B531-52AD-28BC-9A6AF99AD70B}"/>
              </a:ext>
            </a:extLst>
          </p:cNvPr>
          <p:cNvSpPr txBox="1"/>
          <p:nvPr/>
        </p:nvSpPr>
        <p:spPr>
          <a:xfrm>
            <a:off x="684307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&lt;a&gt;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335A6-6585-FBFA-DAFE-DB2EF22CADD3}"/>
              </a:ext>
            </a:extLst>
          </p:cNvPr>
          <p:cNvSpPr txBox="1"/>
          <p:nvPr/>
        </p:nvSpPr>
        <p:spPr>
          <a:xfrm>
            <a:off x="1750335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&lt;b&gt;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048E5C-A31E-4F26-461C-4A17207869AC}"/>
              </a:ext>
            </a:extLst>
          </p:cNvPr>
          <p:cNvSpPr txBox="1"/>
          <p:nvPr/>
        </p:nvSpPr>
        <p:spPr>
          <a:xfrm>
            <a:off x="1086766" y="4364407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FF7618-BEFB-E8CB-66EE-92D17487EB45}"/>
              </a:ext>
            </a:extLst>
          </p:cNvPr>
          <p:cNvCxnSpPr>
            <a:cxnSpLocks/>
          </p:cNvCxnSpPr>
          <p:nvPr/>
        </p:nvCxnSpPr>
        <p:spPr>
          <a:xfrm>
            <a:off x="1401345" y="4792717"/>
            <a:ext cx="131446" cy="210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3DA94E7-04A8-FF62-1001-E7A1FA9CABB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956978" y="5372065"/>
            <a:ext cx="2903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2BE39B-1F14-F4FB-A20F-69725118A655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638300" y="5372065"/>
            <a:ext cx="3847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/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900E0CD-2C03-BB3B-42C2-C74A69C04A17}"/>
              </a:ext>
            </a:extLst>
          </p:cNvPr>
          <p:cNvSpPr/>
          <p:nvPr/>
        </p:nvSpPr>
        <p:spPr>
          <a:xfrm>
            <a:off x="365460" y="4222449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49164" y="3182024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5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6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54E2984-3F20-5D15-A429-2F97E6E1889E}"/>
              </a:ext>
            </a:extLst>
          </p:cNvPr>
          <p:cNvCxnSpPr>
            <a:stCxn id="28" idx="3"/>
            <a:endCxn id="27" idx="3"/>
          </p:cNvCxnSpPr>
          <p:nvPr/>
        </p:nvCxnSpPr>
        <p:spPr>
          <a:xfrm>
            <a:off x="2919653" y="2896367"/>
            <a:ext cx="12700" cy="2529558"/>
          </a:xfrm>
          <a:prstGeom prst="curvedConnector3">
            <a:avLst>
              <a:gd name="adj1" fmla="val 53586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 the paper (full version), we formalize the Goblin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refutation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7F2FE15-2CD5-75CB-0748-8CC41AB17F1A}"/>
              </a:ext>
            </a:extLst>
          </p:cNvPr>
          <p:cNvSpPr/>
          <p:nvPr/>
        </p:nvSpPr>
        <p:spPr>
          <a:xfrm>
            <a:off x="3589506" y="1254884"/>
            <a:ext cx="501298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Two major objectives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0CE37ED-F8FF-898C-CB68-5D0AFB9E8BA9}"/>
              </a:ext>
            </a:extLst>
          </p:cNvPr>
          <p:cNvSpPr/>
          <p:nvPr/>
        </p:nvSpPr>
        <p:spPr>
          <a:xfrm>
            <a:off x="129702" y="2087579"/>
            <a:ext cx="4007795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Fixed Benchmarks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507DB72-2984-47C8-0641-66BE4847AF9C}"/>
              </a:ext>
            </a:extLst>
          </p:cNvPr>
          <p:cNvSpPr/>
          <p:nvPr/>
        </p:nvSpPr>
        <p:spPr>
          <a:xfrm>
            <a:off x="7798976" y="2087579"/>
            <a:ext cx="433305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Fuzzer</a:t>
            </a:r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 integration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8D0E52-D001-DA08-52F3-F9FE9FD42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017" y="2667070"/>
            <a:ext cx="965200" cy="9652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2D4B172-C559-64D5-559C-FA9CEFB35B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1380" y="2667070"/>
            <a:ext cx="965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C07B151-F6AD-9E1C-FBD4-09E6BAD62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4743" y="2580447"/>
            <a:ext cx="1138445" cy="113844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AA4B857-5F46-FCB7-DC44-4E95CB1210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4279" y="2505560"/>
            <a:ext cx="1126710" cy="1126710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40259-D1ED-139A-A9B3-78FDD2B32DF6}"/>
              </a:ext>
            </a:extLst>
          </p:cNvPr>
          <p:cNvGrpSpPr/>
          <p:nvPr/>
        </p:nvGrpSpPr>
        <p:grpSpPr>
          <a:xfrm>
            <a:off x="195359" y="3613881"/>
            <a:ext cx="3910519" cy="1630845"/>
            <a:chOff x="51881" y="3622091"/>
            <a:chExt cx="3910519" cy="163084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D32052-C5C0-FD34-741A-EAD180A63605}"/>
                </a:ext>
              </a:extLst>
            </p:cNvPr>
            <p:cNvSpPr/>
            <p:nvPr/>
          </p:nvSpPr>
          <p:spPr>
            <a:xfrm>
              <a:off x="51881" y="3899166"/>
              <a:ext cx="3910519" cy="135377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52BE9E7-5F42-A8A8-4AC4-FDB030068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67876" y="3899166"/>
              <a:ext cx="581374" cy="581374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30D8D8C-44CE-5E1E-AEA1-90E1A42DB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9702" y="4622513"/>
              <a:ext cx="563953" cy="563953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614A037-9B2B-EA94-D1F0-CC71B368F1E5}"/>
                </a:ext>
              </a:extLst>
            </p:cNvPr>
            <p:cNvSpPr txBox="1"/>
            <p:nvPr/>
          </p:nvSpPr>
          <p:spPr>
            <a:xfrm>
              <a:off x="947608" y="4027094"/>
              <a:ext cx="2884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Efficiency (inputs/second)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/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Diversity (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-path coverage)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1293" t="-6667" r="-862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379B8FE-4B34-F7AE-9714-C564FC0CB4CF}"/>
                </a:ext>
              </a:extLst>
            </p:cNvPr>
            <p:cNvSpPr txBox="1"/>
            <p:nvPr/>
          </p:nvSpPr>
          <p:spPr>
            <a:xfrm>
              <a:off x="1557433" y="3622091"/>
              <a:ext cx="9300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83CE2D1-5DEA-D248-FB5B-6F52DC0B190A}"/>
              </a:ext>
            </a:extLst>
          </p:cNvPr>
          <p:cNvGrpSpPr/>
          <p:nvPr/>
        </p:nvGrpSpPr>
        <p:grpSpPr>
          <a:xfrm>
            <a:off x="1054099" y="5416790"/>
            <a:ext cx="2159000" cy="1138445"/>
            <a:chOff x="51881" y="5433210"/>
            <a:chExt cx="2159000" cy="1138445"/>
          </a:xfrm>
        </p:grpSpPr>
        <p:pic>
          <p:nvPicPr>
            <p:cNvPr id="37" name="Picture 36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8CBAFDFD-9BB5-C3AF-97C8-89D2B332D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81" y="5433210"/>
              <a:ext cx="2159000" cy="86360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563DB7-1665-0409-547A-34940DC0F4B4}"/>
                </a:ext>
              </a:extLst>
            </p:cNvPr>
            <p:cNvSpPr txBox="1"/>
            <p:nvPr/>
          </p:nvSpPr>
          <p:spPr>
            <a:xfrm>
              <a:off x="451092" y="6202323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D4FCE81-85EF-4CE9-C0EA-DC2375E29312}"/>
              </a:ext>
            </a:extLst>
          </p:cNvPr>
          <p:cNvSpPr txBox="1"/>
          <p:nvPr/>
        </p:nvSpPr>
        <p:spPr>
          <a:xfrm>
            <a:off x="10340502" y="2745749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Britannic Bold" panose="020B0903060703020204" pitchFamily="34" charset="77"/>
              </a:rPr>
              <a:t>Saecred</a:t>
            </a:r>
            <a:r>
              <a:rPr lang="en-US" dirty="0">
                <a:latin typeface="Britannic Bold" panose="020B0903060703020204" pitchFamily="34" charset="77"/>
              </a:rPr>
              <a:t> </a:t>
            </a:r>
            <a:br>
              <a:rPr lang="en-US" dirty="0">
                <a:latin typeface="Britannic Bold" panose="020B0903060703020204" pitchFamily="34" charset="77"/>
              </a:rPr>
            </a:br>
            <a:r>
              <a:rPr lang="en-US" dirty="0">
                <a:latin typeface="Britannic Bold" panose="020B0903060703020204" pitchFamily="34" charset="77"/>
              </a:rPr>
              <a:t>IEEE S&amp;P 2025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B16B09B-C43E-8143-A217-303B3621B53E}"/>
              </a:ext>
            </a:extLst>
          </p:cNvPr>
          <p:cNvGrpSpPr/>
          <p:nvPr/>
        </p:nvGrpSpPr>
        <p:grpSpPr>
          <a:xfrm>
            <a:off x="7798976" y="3507534"/>
            <a:ext cx="4341143" cy="1114979"/>
            <a:chOff x="7798976" y="3507534"/>
            <a:chExt cx="4341143" cy="111497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79C3C5-D409-408C-B6C8-92412B559309}"/>
                </a:ext>
              </a:extLst>
            </p:cNvPr>
            <p:cNvSpPr/>
            <p:nvPr/>
          </p:nvSpPr>
          <p:spPr>
            <a:xfrm>
              <a:off x="7798976" y="3806757"/>
              <a:ext cx="4341143" cy="81575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FE7E3A4-ED52-766A-4E34-AFF6B9586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996136" y="3899166"/>
              <a:ext cx="581375" cy="581375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584CCC4-43A9-D64C-03A3-E35C912527B5}"/>
                </a:ext>
              </a:extLst>
            </p:cNvPr>
            <p:cNvSpPr txBox="1"/>
            <p:nvPr/>
          </p:nvSpPr>
          <p:spPr>
            <a:xfrm>
              <a:off x="8788101" y="3866687"/>
              <a:ext cx="28857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Expressivity (% grammars </a:t>
              </a:r>
              <a:b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</a:br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accepted after mutations)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319DEC0-E211-6964-CFC3-6095FFD4087F}"/>
                </a:ext>
              </a:extLst>
            </p:cNvPr>
            <p:cNvSpPr txBox="1"/>
            <p:nvPr/>
          </p:nvSpPr>
          <p:spPr>
            <a:xfrm>
              <a:off x="9717053" y="3507534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8D75F5B-51EA-09FE-62BB-BE4278CDD4D6}"/>
              </a:ext>
            </a:extLst>
          </p:cNvPr>
          <p:cNvGrpSpPr/>
          <p:nvPr/>
        </p:nvGrpSpPr>
        <p:grpSpPr>
          <a:xfrm>
            <a:off x="9763964" y="4622997"/>
            <a:ext cx="1050288" cy="991061"/>
            <a:chOff x="9763964" y="4622997"/>
            <a:chExt cx="1050288" cy="991061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54F3D9B2-3369-EA70-AE8E-679EE5A272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55430" y="4622997"/>
              <a:ext cx="750494" cy="750494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9E82E69-2892-075E-C676-9E30EDEFD018}"/>
                </a:ext>
              </a:extLst>
            </p:cNvPr>
            <p:cNvSpPr txBox="1"/>
            <p:nvPr/>
          </p:nvSpPr>
          <p:spPr>
            <a:xfrm>
              <a:off x="9763964" y="5244726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1F5A5EE-F859-5CCA-23BE-ED9936AAA1A1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 rot="5400000">
            <a:off x="3944887" y="-63535"/>
            <a:ext cx="339827" cy="3962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2E2F0F51-CA3E-0B8C-821B-C2EC3274D8E0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rot="16200000" flipH="1">
            <a:off x="7860839" y="-17088"/>
            <a:ext cx="339827" cy="38695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852F8A5-7089-FA54-6075-4AD9C1CF4515}"/>
              </a:ext>
            </a:extLst>
          </p:cNvPr>
          <p:cNvSpPr/>
          <p:nvPr/>
        </p:nvSpPr>
        <p:spPr>
          <a:xfrm>
            <a:off x="129702" y="2621091"/>
            <a:ext cx="4007795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Goblin outperforms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ISLa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 by 10-100% in all metrics, save for CSV efficiency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7B9D83-58DD-21E1-2310-D2021FD7B86F}"/>
              </a:ext>
            </a:extLst>
          </p:cNvPr>
          <p:cNvSpPr/>
          <p:nvPr/>
        </p:nvSpPr>
        <p:spPr>
          <a:xfrm>
            <a:off x="7807061" y="2621091"/>
            <a:ext cx="4333058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Goblin outperforms the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</a:rPr>
              <a:t>SyGuS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-based baseline by over 100%</a:t>
            </a:r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9" grpId="0"/>
      <p:bldP spid="49" grpId="0" animBg="1"/>
      <p:bldP spid="5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User-facing language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powerful type system (e.g., polymorphism)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CDCL-style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backjumping</a:t>
            </a: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search engines!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pPr marL="0" indent="0" algn="ctr">
              <a:buNone/>
            </a:pPr>
            <a:endParaRPr lang="en-US" sz="6000" dirty="0">
              <a:latin typeface="Avenir Next" panose="020B0503020202020204" pitchFamily="34" charset="0"/>
              <a:ea typeface="Source Sans Pro"/>
            </a:endParaRPr>
          </a:p>
          <a:p>
            <a:pPr marL="0" indent="0" algn="ctr">
              <a:buNone/>
            </a:pP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https://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github.com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lorchrob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/Goblin</a:t>
            </a:r>
          </a:p>
          <a:p>
            <a:pPr marL="0" indent="0" algn="ctr">
              <a:buNone/>
            </a:pP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robert-lorch@uiowa.edu</a:t>
            </a:r>
            <a:endParaRPr lang="en-US" sz="4800" dirty="0">
              <a:latin typeface="American Typewriter" panose="02090604020004020304" pitchFamily="18" charset="77"/>
              <a:ea typeface="Source Sans Pro"/>
            </a:endParaRP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Structural Constraints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9132</TotalTime>
  <Words>3670</Words>
  <Application>Microsoft Macintosh PowerPoint</Application>
  <PresentationFormat>Widescreen</PresentationFormat>
  <Paragraphs>686</Paragraphs>
  <Slides>77</Slides>
  <Notes>17</Notes>
  <HiddenSlides>28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93" baseType="lpstr">
      <vt:lpstr>American Typewriter</vt:lpstr>
      <vt:lpstr>Aptos</vt:lpstr>
      <vt:lpstr>Aptos Display</vt:lpstr>
      <vt:lpstr>Arial</vt:lpstr>
      <vt:lpstr>Avenir Next</vt:lpstr>
      <vt:lpstr>Avenir Next Condensed Medium</vt:lpstr>
      <vt:lpstr>Book Antiqua</vt:lpstr>
      <vt:lpstr>Britannic Bold</vt:lpstr>
      <vt:lpstr>Calibri</vt:lpstr>
      <vt:lpstr>Cambria Math</vt:lpstr>
      <vt:lpstr>Menlo</vt:lpstr>
      <vt:lpstr>Monaco</vt:lpstr>
      <vt:lpstr>Roboto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Automated Testing and Security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930</cp:revision>
  <dcterms:created xsi:type="dcterms:W3CDTF">2026-03-16T17:02:12Z</dcterms:created>
  <dcterms:modified xsi:type="dcterms:W3CDTF">2026-04-07T23:27:28Z</dcterms:modified>
</cp:coreProperties>
</file>